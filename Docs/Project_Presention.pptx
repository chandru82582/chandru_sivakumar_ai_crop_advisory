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Statement" id="{99fc2fe4-a40d-5ed0-be00-628b1b2f0fc0}">
          <p14:sldIdLst>
            <p14:sldId id="256"/>
          </p14:sldIdLst>
        </p14:section>
        <p14:section name="Business Need" id="{9606d8d1-870a-57e9-8eb4-6e40c70d85aa}">
          <p14:sldIdLst>
            <p14:sldId id="257"/>
          </p14:sldIdLst>
        </p14:section>
        <p14:section name="Solution Overview" id="{2282d430-5423-2566-7db1-b94d6eee2ed6}">
          <p14:sldIdLst>
            <p14:sldId id="258"/>
          </p14:sldIdLst>
        </p14:section>
        <p14:section name="Architecture" id="{d27bd730-383f-2bfa-a6e2-ddb2f8dac2df}">
          <p14:sldIdLst>
            <p14:sldId id="259"/>
          </p14:sldIdLst>
        </p14:section>
        <p14:section name="Data Flow" id="{2aec1943-8da6-8848-1ec4-5073ad1ee315}">
          <p14:sldIdLst>
            <p14:sldId id="260"/>
          </p14:sldIdLst>
        </p14:section>
        <p14:section name="Technology Stack" id="{314b0bf2-09ec-b993-43fa-33b03f0b2068}">
          <p14:sldIdLst>
            <p14:sldId id="261"/>
          </p14:sldIdLst>
        </p14:section>
        <p14:section name="Agent Workflow" id="{2a8bac19-7f21-7017-542a-9f75a779097d}">
          <p14:sldIdLst>
            <p14:sldId id="262"/>
          </p14:sldIdLst>
        </p14:section>
        <p14:section name="Demo" id="{0523e61b-bdfc-5ec6-c6c2-006d3ef9fb31}">
          <p14:sldIdLst>
            <p14:sldId id="263"/>
          </p14:sldIdLst>
        </p14:section>
        <p14:section name="Evaluation Results" id="{233434fc-da89-37b3-8caf-822cfcfb9cc4}">
          <p14:sldIdLst>
            <p14:sldId id="264"/>
          </p14:sldIdLst>
        </p14:section>
        <p14:section name="Challenges and Learnings" id="{58bb0440-580c-3912-cb5b-579f603512ab}">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 Pause 2s.]
Picture a farmer at five in the morning in a river delta. Two acres, a loan, and one decision: how much urea to apply. Her neighbor says 250 kilograms an acre. The shopkeeper says more is better. The extension officer covers dozens of villages and will not arrive for weeks.
[Click through the four cards]
That is four failures at once. Eighty-two percent of smallholders decide on hearsay or on extension visits that arrive too late. Over-fertilization at 200 to 300 kilograms an acre causes lodging, Blast epidemics, acidified soil and wasted money. Delayed canal releases leave no drought contingency plan. And without digital records of yields, profits and rotations, there is no credit and no way to judge what actually pays.
[Pause 2s]
The farmer is not uninformed. She is under-served. The knowledge exists in ICAR manuals, weather archives and soil surveys. It just never reaches the field in a usable form.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needs this, and why now?
[Point to the left column]
Government and extension departments need to stretch expert advice beyond what officers can physically visit. Farmers need lower input costs and a records trail that qualifies them for Kisan credit. Investors and impact funds need a way to reach millions of smallholders through software instead of field visits. Researchers need a system they can reproduce and challenge, grounded in official ICAR and MANAGE sources.
[Point to the right column]
Our targets: a 22 percent average yield increase and a 35 percent reduction in unnecessary chemical fertilizer spend, with advice that clears a 100 percent agronomic safety gate.
[Pause 1s]
I want to be transparent: the yield and fertilizer figures are pilot targets that we will validate through field trials with extension partners. The safety gate result is measured on our 24-case benchmark.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did we build?
The Crop Advisory AI Platform is seven capabilities working as one decision-support system, plus an evaluation framework underneath.
[Walk across the grid]
A calibrated crop recommender, so a stated 90 percent behaves like 90 percent. Explainable AI with a What-If simulator, so farmers see why and what if. A hybrid RAG engine that answers only from official ICAR and MANAGE manuals. A cropping calendar that rebalances itself when operations are skipped. A plant doctor that reads a leaf photograph and returns organic and chemical remedies. A farm assistant that answers questions about the farmer's own history in plain language. And a print-ready PDF dossier for offline and credit use.
[Point to the dark card]
Underneath it all sits the evaluation framework: 24 golden test cases, six domain metrics, and a 100 percent agronomic safety gate. In agriculture, a wrong answer is a failed harvest, so quality is part of the product.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architecture, built in four tiers, each solving a specific failure mode.
[Point to tier 1]
Presentation is Streamlit with a Zero-JS table architecture: pure HTML and CSS tables with sticky headers and Base64 CSV downloads, so nothing crashes on a weak browser.
[Point to tier 2]
A FastAPI gateway validates and routes every request. Models and indexes load once as in-memory cached singletons, which is why inference feels instant.
[Point to tier 3]
Four AI engines: ExtraTrees with SHAP, the vision classifiers, hybrid retrieval, and the read-only SQL agent.
[Point to tier 4]
Storage and evaluation: the SQLite farm database, the ChromaDB vectorstore, model artifacts, and the DeepEval and Ragas style test suite, which sits in the architecture as a first-class tier.
Each tier can be tested, replaced and observed independently.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trace how data moves through the system, left to right.
[Point to Sources]
Three datasets feed the recommender: crop yield, state soil, and 1997 to 2020 state weather data. Four official ICAR and MANAGE manuals feed the knowledge engine. Farmer inputs and leaf photos arrive at runtime, and the farmer's own history lives in farmer_profile.db.
[Point to Processing]
Offline, we merge the three datasets into 19,689 records, train the ExtraTrees model and calibrate it. We split the manuals into 2,892 chunks, embed them, and build the BM25 index. At runtime, every generated SQL query is validated through the AST guardrail.
[Point to Serving]
The FastAPI gateway routes to cached engines, so models and indexes are never reloaded per request.
[Point to Outputs]
The farmer receives ranked crops with calibrated probabilities, explanations, cited answers, a diagnosis with treatment options, and the calendar and PDF dossier.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stack, grouped by job.
[Point to Experience]
Streamlit for the interface, with pure HTML and CSS tables and Base64 CSV downloads.
[Point to API]
FastAPI as the single gateway, with cached in-memory singletons for speed.
[Point to Machine Learning]
scikit-learn ExtraTrees with one hundred estimators, sigmoid calibration through CalibratedClassifierCV, and SHAP's TreeExplainer for attributions.
[Point to Vision]
MobileNetV2 for fast, edge-friendly inference and ResNet50 when we want more capacity, covering five leaf pathologies.
[Point to Retrieval and Agents]
ChromaDB with all-MiniLM-L6-v2 embeddings, BM25 with Reciprocal Rank Fusion, and a SQLite agent behind an AST guardrail.
[Point to Reporting and Evaluation]
ReportLab for the PDF dossier and a DeepEval and Ragas style framework with 24 golden test cases.
The choices favor proven, inspectable components that run on modest hardware.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has two agentic workflows. Let me walk through both.
[Point to the top lane]
The farm history agent. The farmer asks a question in plain language, for example which crop gave the best profit in the last three years. A language model drafts a SQL query. Then the AST validator checks it: a single SELECT statement, allow-listed tables only, nothing that writes or changes the schema. Only then does it run, read-only, against farmer_profile.db, and the answer cites the exact crop_history rows.
[Point to the bottom lane]
The knowledge agent. A question arrives and we search two ways in parallel: dense semantic search in ChromaDB and BM25 keyword search. Reciprocal Rank Fusion merges the rankings. The answer is written only from the retrieved passages, with citations, or it refuses when no official source exists.
[Point to the bottom card]
Both workflows are scored against the same quality gates: agronomic safety, faithfulness, SQL grounding and readability.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show you the product. [Switch to the live demo. Keep the recorded fallback ready.]
Step one: enter soil and weather values and get a ranked crop list with calibrated confidence.
Step two: open the SHAP explanation to see why. Then drag rainfall down thirty percent and watch the ranking shift.
Step three: in the calendar, mark the seed treatment as skipped. Watch the engine push it to the next valid window and re-sequence the tasks after it.
Step four: upload a leaf photo showing Rice Blast and show the diagnosis with the organic and chemical dossier side by side.
Step five: ask the farm assistant which crop gave the best profit in the last three years, and point out the citation to crop_history.
Step six: generate the PDF dossier and show the soil analysis, timetable and companion planting pages.
[Return to the slides.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it is safe? We measure it.
[Point to the dark card]
Our evaluation framework follows DeepEval and Ragas principles and runs 24 golden test cases. On agronomic safety, the hard gate, we pass 100 percent of cases.
[Point to the table]
Six domain metrics. Agronomic Safety blocks dangerous doses, banned chemicals and unsafe mixes, and no release ships below 100 percent. Faithfulness checks every claim against the retrieved ICAR or MANAGE passage. Relevance checks that we answered the question asked. SQL Grounding checks that quoted yields and profits match database rows. Farmer Readability enforces answers of 100 to 180 words. Context Precision checks that retrieval surfaces and ranks the right passages.
[Pause 1s]
To be candid: this is a rigorous floor on a defined benchmark, and we will keep expanding it as we cover more regions, crops and edge cases.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close with what building this taught us.
[Point to each row]
Tree ensembles can be over or under confident, so we calibrated with a sigmoid layer. The lesson: trust starts with honest probabilities.
Language models can invent agronomic facts, so we grounded answers in four official manuals with citations and a refusal path. The lesson: constrain the source of truth.
Letting a model write SQL is a security risk, so we validate the abstract syntax tree, not keywords. The lesson: validate structure.
Client-side JavaScript tables crashed on weak browsers, so we moved to pure HTML and CSS. The lesson: remove fragile dependencies from the field path.
And rigid plans fail the moment a task is skipped, so the calendar rebalances itself. The lesson: design for how farmers actually work.
[Point to the next-steps card]
Next: validate our yield and fertilizer targets in field trials, add IoT soil sensors, a multi-lingual voice interface, and offline edge deployment. We are looking for pilot partners, funding and research collaborators.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8FAF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28232"/>
            <a:ext cx="4572000" cy="274320"/>
          </a:xfrm>
          <a:prstGeom prst="rect">
            <a:avLst/>
          </a:prstGeom>
          <a:noFill/>
          <a:ln/>
        </p:spPr>
        <p:txBody>
          <a:bodyPr wrap="square" lIns="0" tIns="0" rIns="0" bIns="0" rtlCol="0" anchor="ctr"/>
          <a:lstStyle/>
          <a:p>
            <a:pPr indent="0" marL="0">
              <a:buNone/>
            </a:pPr>
            <a:r>
              <a:rPr lang="en-US" sz="1000" dirty="0">
                <a:solidFill>
                  <a:srgbClr val="64748B"/>
                </a:solidFill>
              </a:rPr>
              <a:t>Crop Advisory AI Platform</a:t>
            </a:r>
            <a:endParaRPr lang="en-US" sz="10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4D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6949440" cy="28346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731520" y="3794760"/>
            <a:ext cx="6949440" cy="914400"/>
          </a:xfrm>
          <a:prstGeom prst="rect">
            <a:avLst/>
          </a:prstGeom>
          <a:noFill/>
          <a:ln/>
        </p:spPr>
        <p:txBody>
          <a:bodyPr wrap="square" rtlCol="0"/>
          <a:lstStyle>
            <a:lvl1pPr algn="l" indent="0" marL="0">
              <a:buNone/>
              <a:defRPr lang="en-US" sz="1800" dirty="0">
                <a:solidFill>
                  <a:schemeClr val="accent3"/>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B4D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548640" y="6428232"/>
            <a:ext cx="4572000" cy="274320"/>
          </a:xfrm>
          <a:prstGeom prst="rect">
            <a:avLst/>
          </a:prstGeom>
          <a:noFill/>
          <a:ln/>
        </p:spPr>
        <p:txBody>
          <a:bodyPr wrap="square" lIns="0" tIns="0" rIns="0" bIns="0" rtlCol="0" anchor="ctr"/>
          <a:lstStyle/>
          <a:p>
            <a:pPr indent="0" marL="0">
              <a:buNone/>
            </a:pPr>
            <a:r>
              <a:rPr lang="en-US" sz="1000" dirty="0">
                <a:solidFill>
                  <a:srgbClr val="B7E4C7"/>
                </a:solidFill>
              </a:rPr>
              <a:t>Crop Advisory AI Platform</a:t>
            </a:r>
            <a:endParaRPr lang="en-US" sz="10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E4C7"/>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Problem Statement</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Smallholder farmers decide on hearsay while input costs, water stress and climate risk keep rising</a:t>
            </a:r>
            <a:endParaRPr lang="en-US" sz="1600" dirty="0"/>
          </a:p>
        </p:txBody>
      </p:sp>
      <p:sp>
        <p:nvSpPr>
          <p:cNvPr id="5" name="problem-card-1"/>
          <p:cNvSpPr/>
          <p:nvPr/>
        </p:nvSpPr>
        <p:spPr>
          <a:xfrm>
            <a:off x="548640" y="1508760"/>
            <a:ext cx="4846320" cy="1965960"/>
          </a:xfrm>
          <a:prstGeom prst="roundRect">
            <a:avLst>
              <a:gd name="adj" fmla="val 5581"/>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6" name="icon-bg-FaBook"/>
          <p:cNvSpPr/>
          <p:nvPr/>
        </p:nvSpPr>
        <p:spPr>
          <a:xfrm>
            <a:off x="822960" y="1828800"/>
            <a:ext cx="640080" cy="640080"/>
          </a:xfrm>
          <a:prstGeom prst="ellipse">
            <a:avLst/>
          </a:prstGeom>
          <a:solidFill>
            <a:schemeClr val="accent1"/>
          </a:solidFill>
          <a:ln/>
        </p:spPr>
      </p:sp>
      <p:pic>
        <p:nvPicPr>
          <p:cNvPr id="7" name="Image 0" descr="Book icon">    </p:cNvPr>
          <p:cNvPicPr>
            <a:picLocks noChangeAspect="1"/>
          </p:cNvPicPr>
          <p:nvPr/>
        </p:nvPicPr>
        <p:blipFill>
          <a:blip r:embed="rId1"/>
          <a:stretch>
            <a:fillRect/>
          </a:stretch>
        </p:blipFill>
        <p:spPr>
          <a:xfrm>
            <a:off x="982980" y="1988820"/>
            <a:ext cx="320040" cy="320040"/>
          </a:xfrm>
          <a:prstGeom prst="rect">
            <a:avLst/>
          </a:prstGeom>
        </p:spPr>
      </p:pic>
      <p:sp>
        <p:nvSpPr>
          <p:cNvPr id="8" name="Text 4"/>
          <p:cNvSpPr txBox="1"/>
          <p:nvPr/>
        </p:nvSpPr>
        <p:spPr>
          <a:xfrm>
            <a:off x="1691640" y="1783080"/>
            <a:ext cx="3474720" cy="365760"/>
          </a:xfrm>
          <a:prstGeom prst="rect">
            <a:avLst/>
          </a:prstGeom>
          <a:noFill/>
          <a:ln/>
        </p:spPr>
        <p:txBody>
          <a:bodyPr wrap="square" lIns="0" tIns="0" rIns="0" bIns="0" rtlCol="0" anchor="t"/>
          <a:lstStyle/>
          <a:p>
            <a:pPr indent="0" marL="0">
              <a:buNone/>
            </a:pPr>
            <a:r>
              <a:rPr lang="en-US" sz="2000" b="1" dirty="0">
                <a:solidFill>
                  <a:schemeClr val="tx2"/>
                </a:solidFill>
              </a:rPr>
              <a:t>Decision Gap</a:t>
            </a:r>
            <a:endParaRPr lang="en-US" sz="2000" dirty="0"/>
          </a:p>
        </p:txBody>
      </p:sp>
      <p:sp>
        <p:nvSpPr>
          <p:cNvPr id="9" name="Text 5"/>
          <p:cNvSpPr txBox="1"/>
          <p:nvPr/>
        </p:nvSpPr>
        <p:spPr>
          <a:xfrm>
            <a:off x="1691640" y="2240280"/>
            <a:ext cx="3474720" cy="1097280"/>
          </a:xfrm>
          <a:prstGeom prst="rect">
            <a:avLst/>
          </a:prstGeom>
          <a:noFill/>
          <a:ln/>
        </p:spPr>
        <p:txBody>
          <a:bodyPr wrap="square" lIns="0" tIns="0" rIns="0" bIns="0" rtlCol="0" anchor="t"/>
          <a:lstStyle/>
          <a:p>
            <a:pPr indent="0" marL="0">
              <a:buNone/>
            </a:pPr>
            <a:r>
              <a:rPr lang="en-US" sz="1600" dirty="0">
                <a:solidFill>
                  <a:schemeClr val="tx1"/>
                </a:solidFill>
              </a:rPr>
              <a:t>82% of smallholders rely on hearsay or extension visits that arrive too late.</a:t>
            </a:r>
            <a:endParaRPr lang="en-US" sz="1600" dirty="0"/>
          </a:p>
        </p:txBody>
      </p:sp>
      <p:sp>
        <p:nvSpPr>
          <p:cNvPr id="10" name="problem-card-2"/>
          <p:cNvSpPr/>
          <p:nvPr/>
        </p:nvSpPr>
        <p:spPr>
          <a:xfrm>
            <a:off x="6793992" y="1508760"/>
            <a:ext cx="4846320" cy="1965960"/>
          </a:xfrm>
          <a:prstGeom prst="roundRect">
            <a:avLst>
              <a:gd name="adj" fmla="val 5581"/>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11" name="icon-bg-FaFlask"/>
          <p:cNvSpPr/>
          <p:nvPr/>
        </p:nvSpPr>
        <p:spPr>
          <a:xfrm>
            <a:off x="7068312" y="1828800"/>
            <a:ext cx="640080" cy="640080"/>
          </a:xfrm>
          <a:prstGeom prst="ellipse">
            <a:avLst/>
          </a:prstGeom>
          <a:solidFill>
            <a:schemeClr val="accent1"/>
          </a:solidFill>
          <a:ln/>
        </p:spPr>
      </p:sp>
      <p:pic>
        <p:nvPicPr>
          <p:cNvPr id="12" name="Image 1" descr="Flask icon">    </p:cNvPr>
          <p:cNvPicPr>
            <a:picLocks noChangeAspect="1"/>
          </p:cNvPicPr>
          <p:nvPr/>
        </p:nvPicPr>
        <p:blipFill>
          <a:blip r:embed="rId2"/>
          <a:stretch>
            <a:fillRect/>
          </a:stretch>
        </p:blipFill>
        <p:spPr>
          <a:xfrm>
            <a:off x="7228332" y="1988820"/>
            <a:ext cx="320040" cy="320040"/>
          </a:xfrm>
          <a:prstGeom prst="rect">
            <a:avLst/>
          </a:prstGeom>
        </p:spPr>
      </p:pic>
      <p:sp>
        <p:nvSpPr>
          <p:cNvPr id="13" name="Text 8"/>
          <p:cNvSpPr txBox="1"/>
          <p:nvPr/>
        </p:nvSpPr>
        <p:spPr>
          <a:xfrm>
            <a:off x="7936992" y="1783080"/>
            <a:ext cx="3474720" cy="365760"/>
          </a:xfrm>
          <a:prstGeom prst="rect">
            <a:avLst/>
          </a:prstGeom>
          <a:noFill/>
          <a:ln/>
        </p:spPr>
        <p:txBody>
          <a:bodyPr wrap="square" lIns="0" tIns="0" rIns="0" bIns="0" rtlCol="0" anchor="t"/>
          <a:lstStyle/>
          <a:p>
            <a:pPr indent="0" marL="0">
              <a:buNone/>
            </a:pPr>
            <a:r>
              <a:rPr lang="en-US" sz="2000" b="1" dirty="0">
                <a:solidFill>
                  <a:schemeClr val="tx2"/>
                </a:solidFill>
              </a:rPr>
              <a:t>Over-Fertilization</a:t>
            </a:r>
            <a:endParaRPr lang="en-US" sz="2000" dirty="0"/>
          </a:p>
        </p:txBody>
      </p:sp>
      <p:sp>
        <p:nvSpPr>
          <p:cNvPr id="14" name="Text 9"/>
          <p:cNvSpPr txBox="1"/>
          <p:nvPr/>
        </p:nvSpPr>
        <p:spPr>
          <a:xfrm>
            <a:off x="7936992" y="2240280"/>
            <a:ext cx="3474720" cy="1097280"/>
          </a:xfrm>
          <a:prstGeom prst="rect">
            <a:avLst/>
          </a:prstGeom>
          <a:noFill/>
          <a:ln/>
        </p:spPr>
        <p:txBody>
          <a:bodyPr wrap="square" lIns="0" tIns="0" rIns="0" bIns="0" rtlCol="0" anchor="t"/>
          <a:lstStyle/>
          <a:p>
            <a:pPr indent="0" marL="0">
              <a:buNone/>
            </a:pPr>
            <a:r>
              <a:rPr lang="en-US" sz="1600" dirty="0">
                <a:solidFill>
                  <a:schemeClr val="tx1"/>
                </a:solidFill>
              </a:rPr>
              <a:t>200–300 kg/acre of urea brings lodging, Blast epidemics, acidified soil and high costs.</a:t>
            </a:r>
            <a:endParaRPr lang="en-US" sz="1600" dirty="0"/>
          </a:p>
        </p:txBody>
      </p:sp>
      <p:sp>
        <p:nvSpPr>
          <p:cNvPr id="15" name="problem-card-3"/>
          <p:cNvSpPr/>
          <p:nvPr/>
        </p:nvSpPr>
        <p:spPr>
          <a:xfrm>
            <a:off x="548640" y="3840480"/>
            <a:ext cx="4846320" cy="1965960"/>
          </a:xfrm>
          <a:prstGeom prst="roundRect">
            <a:avLst>
              <a:gd name="adj" fmla="val 5581"/>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16" name="icon-bg-FaTint"/>
          <p:cNvSpPr/>
          <p:nvPr/>
        </p:nvSpPr>
        <p:spPr>
          <a:xfrm>
            <a:off x="822960" y="4160520"/>
            <a:ext cx="640080" cy="640080"/>
          </a:xfrm>
          <a:prstGeom prst="ellipse">
            <a:avLst/>
          </a:prstGeom>
          <a:solidFill>
            <a:schemeClr val="accent1"/>
          </a:solidFill>
          <a:ln/>
        </p:spPr>
      </p:sp>
      <p:pic>
        <p:nvPicPr>
          <p:cNvPr id="17" name="Image 2" descr="Tint icon">    </p:cNvPr>
          <p:cNvPicPr>
            <a:picLocks noChangeAspect="1"/>
          </p:cNvPicPr>
          <p:nvPr/>
        </p:nvPicPr>
        <p:blipFill>
          <a:blip r:embed="rId3"/>
          <a:stretch>
            <a:fillRect/>
          </a:stretch>
        </p:blipFill>
        <p:spPr>
          <a:xfrm>
            <a:off x="982980" y="4320540"/>
            <a:ext cx="320040" cy="320040"/>
          </a:xfrm>
          <a:prstGeom prst="rect">
            <a:avLst/>
          </a:prstGeom>
        </p:spPr>
      </p:pic>
      <p:sp>
        <p:nvSpPr>
          <p:cNvPr id="18" name="Text 12"/>
          <p:cNvSpPr txBox="1"/>
          <p:nvPr/>
        </p:nvSpPr>
        <p:spPr>
          <a:xfrm>
            <a:off x="1691640" y="4114800"/>
            <a:ext cx="3474720" cy="365760"/>
          </a:xfrm>
          <a:prstGeom prst="rect">
            <a:avLst/>
          </a:prstGeom>
          <a:noFill/>
          <a:ln/>
        </p:spPr>
        <p:txBody>
          <a:bodyPr wrap="square" lIns="0" tIns="0" rIns="0" bIns="0" rtlCol="0" anchor="t"/>
          <a:lstStyle/>
          <a:p>
            <a:pPr indent="0" marL="0">
              <a:buNone/>
            </a:pPr>
            <a:r>
              <a:rPr lang="en-US" sz="2000" b="1" dirty="0">
                <a:solidFill>
                  <a:schemeClr val="tx2"/>
                </a:solidFill>
              </a:rPr>
              <a:t>Water Stress</a:t>
            </a:r>
            <a:endParaRPr lang="en-US" sz="2000" dirty="0"/>
          </a:p>
        </p:txBody>
      </p:sp>
      <p:sp>
        <p:nvSpPr>
          <p:cNvPr id="19" name="Text 13"/>
          <p:cNvSpPr txBox="1"/>
          <p:nvPr/>
        </p:nvSpPr>
        <p:spPr>
          <a:xfrm>
            <a:off x="1691640" y="4572000"/>
            <a:ext cx="3474720" cy="1097280"/>
          </a:xfrm>
          <a:prstGeom prst="rect">
            <a:avLst/>
          </a:prstGeom>
          <a:noFill/>
          <a:ln/>
        </p:spPr>
        <p:txBody>
          <a:bodyPr wrap="square" lIns="0" tIns="0" rIns="0" bIns="0" rtlCol="0" anchor="t"/>
          <a:lstStyle/>
          <a:p>
            <a:pPr indent="0" marL="0">
              <a:buNone/>
            </a:pPr>
            <a:r>
              <a:rPr lang="en-US" sz="1600" dirty="0">
                <a:solidFill>
                  <a:schemeClr val="tx1"/>
                </a:solidFill>
              </a:rPr>
              <a:t>Delayed canal releases leave farmers with no drought contingency plan.</a:t>
            </a:r>
            <a:endParaRPr lang="en-US" sz="1600" dirty="0"/>
          </a:p>
        </p:txBody>
      </p:sp>
      <p:sp>
        <p:nvSpPr>
          <p:cNvPr id="20" name="problem-card-4"/>
          <p:cNvSpPr/>
          <p:nvPr/>
        </p:nvSpPr>
        <p:spPr>
          <a:xfrm>
            <a:off x="6793992" y="3840480"/>
            <a:ext cx="4846320" cy="1965960"/>
          </a:xfrm>
          <a:prstGeom prst="roundRect">
            <a:avLst>
              <a:gd name="adj" fmla="val 5581"/>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21" name="icon-bg-FaClipboardList"/>
          <p:cNvSpPr/>
          <p:nvPr/>
        </p:nvSpPr>
        <p:spPr>
          <a:xfrm>
            <a:off x="7068312" y="4160520"/>
            <a:ext cx="640080" cy="640080"/>
          </a:xfrm>
          <a:prstGeom prst="ellipse">
            <a:avLst/>
          </a:prstGeom>
          <a:solidFill>
            <a:schemeClr val="accent1"/>
          </a:solidFill>
          <a:ln/>
        </p:spPr>
      </p:sp>
      <p:pic>
        <p:nvPicPr>
          <p:cNvPr id="22" name="Image 3" descr="ClipboardList icon">    </p:cNvPr>
          <p:cNvPicPr>
            <a:picLocks noChangeAspect="1"/>
          </p:cNvPicPr>
          <p:nvPr/>
        </p:nvPicPr>
        <p:blipFill>
          <a:blip r:embed="rId4"/>
          <a:stretch>
            <a:fillRect/>
          </a:stretch>
        </p:blipFill>
        <p:spPr>
          <a:xfrm>
            <a:off x="7228332" y="4320540"/>
            <a:ext cx="320040" cy="320040"/>
          </a:xfrm>
          <a:prstGeom prst="rect">
            <a:avLst/>
          </a:prstGeom>
        </p:spPr>
      </p:pic>
      <p:sp>
        <p:nvSpPr>
          <p:cNvPr id="23" name="Text 16"/>
          <p:cNvSpPr txBox="1"/>
          <p:nvPr/>
        </p:nvSpPr>
        <p:spPr>
          <a:xfrm>
            <a:off x="7936992" y="4114800"/>
            <a:ext cx="3474720" cy="365760"/>
          </a:xfrm>
          <a:prstGeom prst="rect">
            <a:avLst/>
          </a:prstGeom>
          <a:noFill/>
          <a:ln/>
        </p:spPr>
        <p:txBody>
          <a:bodyPr wrap="square" lIns="0" tIns="0" rIns="0" bIns="0" rtlCol="0" anchor="t"/>
          <a:lstStyle/>
          <a:p>
            <a:pPr indent="0" marL="0">
              <a:buNone/>
            </a:pPr>
            <a:r>
              <a:rPr lang="en-US" sz="2000" b="1" dirty="0">
                <a:solidFill>
                  <a:schemeClr val="tx2"/>
                </a:solidFill>
              </a:rPr>
              <a:t>Zero Farm Memory</a:t>
            </a:r>
            <a:endParaRPr lang="en-US" sz="2000" dirty="0"/>
          </a:p>
        </p:txBody>
      </p:sp>
      <p:sp>
        <p:nvSpPr>
          <p:cNvPr id="24" name="Text 17"/>
          <p:cNvSpPr txBox="1"/>
          <p:nvPr/>
        </p:nvSpPr>
        <p:spPr>
          <a:xfrm>
            <a:off x="7936992" y="4572000"/>
            <a:ext cx="3474720" cy="1097280"/>
          </a:xfrm>
          <a:prstGeom prst="rect">
            <a:avLst/>
          </a:prstGeom>
          <a:noFill/>
          <a:ln/>
        </p:spPr>
        <p:txBody>
          <a:bodyPr wrap="square" lIns="0" tIns="0" rIns="0" bIns="0" rtlCol="0" anchor="t"/>
          <a:lstStyle/>
          <a:p>
            <a:pPr indent="0" marL="0">
              <a:buNone/>
            </a:pPr>
            <a:r>
              <a:rPr lang="en-US" sz="1600" dirty="0">
                <a:solidFill>
                  <a:schemeClr val="tx1"/>
                </a:solidFill>
              </a:rPr>
              <a:t>No digital yield or profit records means no bank credit and no rotation insight.</a:t>
            </a:r>
            <a:endParaRPr lang="en-US" sz="1600" dirty="0"/>
          </a:p>
        </p:txBody>
      </p:sp>
      <p:sp>
        <p:nvSpPr>
          <p:cNvPr id="25" name="stat-82-circle"/>
          <p:cNvSpPr/>
          <p:nvPr/>
        </p:nvSpPr>
        <p:spPr>
          <a:xfrm>
            <a:off x="5408676" y="2971800"/>
            <a:ext cx="1371600" cy="1371600"/>
          </a:xfrm>
          <a:prstGeom prst="ellipse">
            <a:avLst/>
          </a:prstGeom>
          <a:solidFill>
            <a:schemeClr val="tx2"/>
          </a:solidFill>
          <a:ln/>
        </p:spPr>
      </p:sp>
      <p:sp>
        <p:nvSpPr>
          <p:cNvPr id="26" name="Text 19"/>
          <p:cNvSpPr txBox="1"/>
          <p:nvPr/>
        </p:nvSpPr>
        <p:spPr>
          <a:xfrm>
            <a:off x="5408676" y="3200400"/>
            <a:ext cx="1371600" cy="548640"/>
          </a:xfrm>
          <a:prstGeom prst="rect">
            <a:avLst/>
          </a:prstGeom>
          <a:noFill/>
          <a:ln/>
        </p:spPr>
        <p:txBody>
          <a:bodyPr wrap="square" lIns="0" tIns="0" rIns="0" bIns="0" rtlCol="0" anchor="t"/>
          <a:lstStyle/>
          <a:p>
            <a:pPr algn="ctr" indent="0" marL="0">
              <a:buNone/>
            </a:pPr>
            <a:r>
              <a:rPr lang="en-US" sz="3200" b="1" dirty="0">
                <a:solidFill>
                  <a:schemeClr val="bg1"/>
                </a:solidFill>
              </a:rPr>
              <a:t>82%</a:t>
            </a:r>
            <a:endParaRPr lang="en-US" sz="3200" dirty="0"/>
          </a:p>
        </p:txBody>
      </p:sp>
      <p:sp>
        <p:nvSpPr>
          <p:cNvPr id="27" name="Text 20"/>
          <p:cNvSpPr txBox="1"/>
          <p:nvPr/>
        </p:nvSpPr>
        <p:spPr>
          <a:xfrm>
            <a:off x="5408676" y="3749040"/>
            <a:ext cx="1371600" cy="274320"/>
          </a:xfrm>
          <a:prstGeom prst="rect">
            <a:avLst/>
          </a:prstGeom>
          <a:noFill/>
          <a:ln/>
        </p:spPr>
        <p:txBody>
          <a:bodyPr wrap="square" lIns="0" tIns="0" rIns="0" bIns="0" rtlCol="0" anchor="t"/>
          <a:lstStyle/>
          <a:p>
            <a:pPr algn="ctr" indent="0" marL="0">
              <a:buNone/>
            </a:pPr>
            <a:r>
              <a:rPr lang="en-US" sz="1100" dirty="0">
                <a:solidFill>
                  <a:schemeClr val="accent3"/>
                </a:solidFill>
              </a:rPr>
              <a:t>hearsay-driven</a:t>
            </a:r>
            <a:endParaRPr lang="en-US" sz="1100" dirty="0"/>
          </a:p>
        </p:txBody>
      </p:sp>
      <p:sp>
        <p:nvSpPr>
          <p:cNvPr id="28" name="Text 21"/>
          <p:cNvSpPr txBox="1"/>
          <p:nvPr/>
        </p:nvSpPr>
        <p:spPr>
          <a:xfrm>
            <a:off x="548640" y="5943600"/>
            <a:ext cx="11091672" cy="274320"/>
          </a:xfrm>
          <a:prstGeom prst="rect">
            <a:avLst/>
          </a:prstGeom>
          <a:noFill/>
          <a:ln/>
        </p:spPr>
        <p:txBody>
          <a:bodyPr wrap="square" lIns="0" tIns="0" rIns="0" bIns="0" rtlCol="0" anchor="t"/>
          <a:lstStyle/>
          <a:p>
            <a:pPr indent="0" marL="0">
              <a:buNone/>
            </a:pPr>
            <a:r>
              <a:rPr lang="en-US" sz="1300" i="1" dirty="0">
                <a:solidFill>
                  <a:schemeClr val="accent6"/>
                </a:solidFill>
              </a:rPr>
              <a:t>Focus: smallholder agrarian belts, river deltas and semi-arid drylands</a:t>
            </a:r>
            <a:endParaRPr lang="en-US" sz="13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Business Need</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Four stakeholders need expert-grade agronomy delivered at software scale</a:t>
            </a:r>
            <a:endParaRPr lang="en-US" sz="1600" dirty="0"/>
          </a:p>
        </p:txBody>
      </p:sp>
      <p:sp>
        <p:nvSpPr>
          <p:cNvPr id="5" name="need-card-1"/>
          <p:cNvSpPr/>
          <p:nvPr/>
        </p:nvSpPr>
        <p:spPr>
          <a:xfrm>
            <a:off x="548640" y="1508760"/>
            <a:ext cx="6858000" cy="1005840"/>
          </a:xfrm>
          <a:prstGeom prst="roundRect">
            <a:avLst>
              <a:gd name="adj" fmla="val 10909"/>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6" name="icon-bg-FaLandmark"/>
          <p:cNvSpPr/>
          <p:nvPr/>
        </p:nvSpPr>
        <p:spPr>
          <a:xfrm>
            <a:off x="777240" y="1737360"/>
            <a:ext cx="548640" cy="548640"/>
          </a:xfrm>
          <a:prstGeom prst="ellipse">
            <a:avLst/>
          </a:prstGeom>
          <a:solidFill>
            <a:schemeClr val="accent1"/>
          </a:solidFill>
          <a:ln/>
        </p:spPr>
      </p:sp>
      <p:pic>
        <p:nvPicPr>
          <p:cNvPr id="7" name="Image 0" descr="Landmark icon">    </p:cNvPr>
          <p:cNvPicPr>
            <a:picLocks noChangeAspect="1"/>
          </p:cNvPicPr>
          <p:nvPr/>
        </p:nvPicPr>
        <p:blipFill>
          <a:blip r:embed="rId1"/>
          <a:stretch>
            <a:fillRect/>
          </a:stretch>
        </p:blipFill>
        <p:spPr>
          <a:xfrm>
            <a:off x="914400" y="1874520"/>
            <a:ext cx="274320" cy="274320"/>
          </a:xfrm>
          <a:prstGeom prst="rect">
            <a:avLst/>
          </a:prstGeom>
        </p:spPr>
      </p:pic>
      <p:sp>
        <p:nvSpPr>
          <p:cNvPr id="8" name="Text 4"/>
          <p:cNvSpPr txBox="1"/>
          <p:nvPr/>
        </p:nvSpPr>
        <p:spPr>
          <a:xfrm>
            <a:off x="1554480" y="1508760"/>
            <a:ext cx="5669280" cy="1005840"/>
          </a:xfrm>
          <a:prstGeom prst="rect">
            <a:avLst/>
          </a:prstGeom>
          <a:noFill/>
          <a:ln/>
        </p:spPr>
        <p:txBody>
          <a:bodyPr wrap="square" lIns="0" tIns="0" rIns="0" bIns="0" rtlCol="0" anchor="ctr"/>
          <a:lstStyle/>
          <a:p>
            <a:pPr indent="0" marL="0">
              <a:buNone/>
            </a:pPr>
            <a:r>
              <a:rPr lang="en-US" sz="1700" b="1" dirty="0">
                <a:solidFill>
                  <a:schemeClr val="tx2"/>
                </a:solidFill>
              </a:rPr>
              <a:t>Government &amp; extension officers</a:t>
            </a:r>
            <a:endParaRPr lang="en-US" sz="1400" dirty="0"/>
          </a:p>
          <a:p>
            <a:pPr indent="0" marL="0">
              <a:buNone/>
            </a:pPr>
            <a:r>
              <a:rPr lang="en-US" sz="1400" dirty="0">
                <a:solidFill>
                  <a:schemeClr val="tx1"/>
                </a:solidFill>
              </a:rPr>
              <a:t>Stretch expert advice beyond what officers can physically visit.</a:t>
            </a:r>
            <a:endParaRPr lang="en-US" sz="1400" dirty="0"/>
          </a:p>
        </p:txBody>
      </p:sp>
      <p:sp>
        <p:nvSpPr>
          <p:cNvPr id="9" name="need-card-2"/>
          <p:cNvSpPr/>
          <p:nvPr/>
        </p:nvSpPr>
        <p:spPr>
          <a:xfrm>
            <a:off x="548640" y="2651760"/>
            <a:ext cx="6858000" cy="1005840"/>
          </a:xfrm>
          <a:prstGeom prst="roundRect">
            <a:avLst>
              <a:gd name="adj" fmla="val 10909"/>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10" name="icon-bg-FaSeedling"/>
          <p:cNvSpPr/>
          <p:nvPr/>
        </p:nvSpPr>
        <p:spPr>
          <a:xfrm>
            <a:off x="777240" y="2880360"/>
            <a:ext cx="548640" cy="548640"/>
          </a:xfrm>
          <a:prstGeom prst="ellipse">
            <a:avLst/>
          </a:prstGeom>
          <a:solidFill>
            <a:schemeClr val="accent1"/>
          </a:solidFill>
          <a:ln/>
        </p:spPr>
      </p:sp>
      <p:pic>
        <p:nvPicPr>
          <p:cNvPr id="11" name="Image 1" descr="Seedling icon">    </p:cNvPr>
          <p:cNvPicPr>
            <a:picLocks noChangeAspect="1"/>
          </p:cNvPicPr>
          <p:nvPr/>
        </p:nvPicPr>
        <p:blipFill>
          <a:blip r:embed="rId2"/>
          <a:stretch>
            <a:fillRect/>
          </a:stretch>
        </p:blipFill>
        <p:spPr>
          <a:xfrm>
            <a:off x="914400" y="3017520"/>
            <a:ext cx="274320" cy="274320"/>
          </a:xfrm>
          <a:prstGeom prst="rect">
            <a:avLst/>
          </a:prstGeom>
        </p:spPr>
      </p:pic>
      <p:sp>
        <p:nvSpPr>
          <p:cNvPr id="12" name="Text 7"/>
          <p:cNvSpPr txBox="1"/>
          <p:nvPr/>
        </p:nvSpPr>
        <p:spPr>
          <a:xfrm>
            <a:off x="1554480" y="2651760"/>
            <a:ext cx="5669280" cy="1005840"/>
          </a:xfrm>
          <a:prstGeom prst="rect">
            <a:avLst/>
          </a:prstGeom>
          <a:noFill/>
          <a:ln/>
        </p:spPr>
        <p:txBody>
          <a:bodyPr wrap="square" lIns="0" tIns="0" rIns="0" bIns="0" rtlCol="0" anchor="ctr"/>
          <a:lstStyle/>
          <a:p>
            <a:pPr indent="0" marL="0">
              <a:buNone/>
            </a:pPr>
            <a:r>
              <a:rPr lang="en-US" sz="1700" b="1" dirty="0">
                <a:solidFill>
                  <a:schemeClr val="tx2"/>
                </a:solidFill>
              </a:rPr>
              <a:t>Farmers</a:t>
            </a:r>
            <a:endParaRPr lang="en-US" sz="1400" dirty="0"/>
          </a:p>
          <a:p>
            <a:pPr indent="0" marL="0">
              <a:buNone/>
            </a:pPr>
            <a:r>
              <a:rPr lang="en-US" sz="1400" dirty="0">
                <a:solidFill>
                  <a:schemeClr val="tx1"/>
                </a:solidFill>
              </a:rPr>
              <a:t>Lower input costs and a records trail that qualifies for Kisan credit.</a:t>
            </a:r>
            <a:endParaRPr lang="en-US" sz="1400" dirty="0"/>
          </a:p>
        </p:txBody>
      </p:sp>
      <p:sp>
        <p:nvSpPr>
          <p:cNvPr id="13" name="need-card-3"/>
          <p:cNvSpPr/>
          <p:nvPr/>
        </p:nvSpPr>
        <p:spPr>
          <a:xfrm>
            <a:off x="548640" y="3794760"/>
            <a:ext cx="6858000" cy="1005840"/>
          </a:xfrm>
          <a:prstGeom prst="roundRect">
            <a:avLst>
              <a:gd name="adj" fmla="val 10909"/>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14" name="icon-bg-FaChartLine"/>
          <p:cNvSpPr/>
          <p:nvPr/>
        </p:nvSpPr>
        <p:spPr>
          <a:xfrm>
            <a:off x="777240" y="4023360"/>
            <a:ext cx="548640" cy="548640"/>
          </a:xfrm>
          <a:prstGeom prst="ellipse">
            <a:avLst/>
          </a:prstGeom>
          <a:solidFill>
            <a:schemeClr val="accent1"/>
          </a:solidFill>
          <a:ln/>
        </p:spPr>
      </p:sp>
      <p:pic>
        <p:nvPicPr>
          <p:cNvPr id="15" name="Image 2" descr="ChartLine icon">    </p:cNvPr>
          <p:cNvPicPr>
            <a:picLocks noChangeAspect="1"/>
          </p:cNvPicPr>
          <p:nvPr/>
        </p:nvPicPr>
        <p:blipFill>
          <a:blip r:embed="rId3"/>
          <a:stretch>
            <a:fillRect/>
          </a:stretch>
        </p:blipFill>
        <p:spPr>
          <a:xfrm>
            <a:off x="914400" y="4160520"/>
            <a:ext cx="274320" cy="274320"/>
          </a:xfrm>
          <a:prstGeom prst="rect">
            <a:avLst/>
          </a:prstGeom>
        </p:spPr>
      </p:pic>
      <p:sp>
        <p:nvSpPr>
          <p:cNvPr id="16" name="Text 10"/>
          <p:cNvSpPr txBox="1"/>
          <p:nvPr/>
        </p:nvSpPr>
        <p:spPr>
          <a:xfrm>
            <a:off x="1554480" y="3794760"/>
            <a:ext cx="5669280" cy="1005840"/>
          </a:xfrm>
          <a:prstGeom prst="rect">
            <a:avLst/>
          </a:prstGeom>
          <a:noFill/>
          <a:ln/>
        </p:spPr>
        <p:txBody>
          <a:bodyPr wrap="square" lIns="0" tIns="0" rIns="0" bIns="0" rtlCol="0" anchor="ctr"/>
          <a:lstStyle/>
          <a:p>
            <a:pPr indent="0" marL="0">
              <a:buNone/>
            </a:pPr>
            <a:r>
              <a:rPr lang="en-US" sz="1700" b="1" dirty="0">
                <a:solidFill>
                  <a:schemeClr val="tx2"/>
                </a:solidFill>
              </a:rPr>
              <a:t>Investors &amp; impact funds</a:t>
            </a:r>
            <a:endParaRPr lang="en-US" sz="1400" dirty="0"/>
          </a:p>
          <a:p>
            <a:pPr indent="0" marL="0">
              <a:buNone/>
            </a:pPr>
            <a:r>
              <a:rPr lang="en-US" sz="1400" dirty="0">
                <a:solidFill>
                  <a:schemeClr val="tx1"/>
                </a:solidFill>
              </a:rPr>
              <a:t>Reach millions of smallholders through software, not field visits.</a:t>
            </a:r>
            <a:endParaRPr lang="en-US" sz="1400" dirty="0"/>
          </a:p>
        </p:txBody>
      </p:sp>
      <p:sp>
        <p:nvSpPr>
          <p:cNvPr id="17" name="need-card-4"/>
          <p:cNvSpPr/>
          <p:nvPr/>
        </p:nvSpPr>
        <p:spPr>
          <a:xfrm>
            <a:off x="548640" y="4937760"/>
            <a:ext cx="6858000" cy="1005840"/>
          </a:xfrm>
          <a:prstGeom prst="roundRect">
            <a:avLst>
              <a:gd name="adj" fmla="val 10909"/>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18" name="icon-bg-FaUniversity"/>
          <p:cNvSpPr/>
          <p:nvPr/>
        </p:nvSpPr>
        <p:spPr>
          <a:xfrm>
            <a:off x="777240" y="5166360"/>
            <a:ext cx="548640" cy="548640"/>
          </a:xfrm>
          <a:prstGeom prst="ellipse">
            <a:avLst/>
          </a:prstGeom>
          <a:solidFill>
            <a:schemeClr val="accent1"/>
          </a:solidFill>
          <a:ln/>
        </p:spPr>
      </p:sp>
      <p:pic>
        <p:nvPicPr>
          <p:cNvPr id="19" name="Image 3" descr="University icon">    </p:cNvPr>
          <p:cNvPicPr>
            <a:picLocks noChangeAspect="1"/>
          </p:cNvPicPr>
          <p:nvPr/>
        </p:nvPicPr>
        <p:blipFill>
          <a:blip r:embed="rId4"/>
          <a:stretch>
            <a:fillRect/>
          </a:stretch>
        </p:blipFill>
        <p:spPr>
          <a:xfrm>
            <a:off x="914400" y="5303520"/>
            <a:ext cx="274320" cy="274320"/>
          </a:xfrm>
          <a:prstGeom prst="rect">
            <a:avLst/>
          </a:prstGeom>
        </p:spPr>
      </p:pic>
      <p:sp>
        <p:nvSpPr>
          <p:cNvPr id="20" name="Text 13"/>
          <p:cNvSpPr txBox="1"/>
          <p:nvPr/>
        </p:nvSpPr>
        <p:spPr>
          <a:xfrm>
            <a:off x="1554480" y="4937760"/>
            <a:ext cx="5669280" cy="1005840"/>
          </a:xfrm>
          <a:prstGeom prst="rect">
            <a:avLst/>
          </a:prstGeom>
          <a:noFill/>
          <a:ln/>
        </p:spPr>
        <p:txBody>
          <a:bodyPr wrap="square" lIns="0" tIns="0" rIns="0" bIns="0" rtlCol="0" anchor="ctr"/>
          <a:lstStyle/>
          <a:p>
            <a:pPr indent="0" marL="0">
              <a:buNone/>
            </a:pPr>
            <a:r>
              <a:rPr lang="en-US" sz="1700" b="1" dirty="0">
                <a:solidFill>
                  <a:schemeClr val="tx2"/>
                </a:solidFill>
              </a:rPr>
              <a:t>Researchers &amp; universities</a:t>
            </a:r>
            <a:endParaRPr lang="en-US" sz="1400" dirty="0"/>
          </a:p>
          <a:p>
            <a:pPr indent="0" marL="0">
              <a:buNone/>
            </a:pPr>
            <a:r>
              <a:rPr lang="en-US" sz="1400" dirty="0">
                <a:solidFill>
                  <a:schemeClr val="tx1"/>
                </a:solidFill>
              </a:rPr>
              <a:t>A reproducible, evaluated system built on official ICAR and MANAGE sources.</a:t>
            </a:r>
            <a:endParaRPr lang="en-US" sz="1400" dirty="0"/>
          </a:p>
        </p:txBody>
      </p:sp>
      <p:sp>
        <p:nvSpPr>
          <p:cNvPr id="21" name="stat-tile-1"/>
          <p:cNvSpPr/>
          <p:nvPr/>
        </p:nvSpPr>
        <p:spPr>
          <a:xfrm>
            <a:off x="7772400" y="1508760"/>
            <a:ext cx="3867912" cy="1371600"/>
          </a:xfrm>
          <a:prstGeom prst="roundRect">
            <a:avLst>
              <a:gd name="adj" fmla="val 8000"/>
            </a:avLst>
          </a:prstGeom>
          <a:solidFill>
            <a:schemeClr val="tx2"/>
          </a:solidFill>
          <a:ln/>
        </p:spPr>
      </p:sp>
      <p:sp>
        <p:nvSpPr>
          <p:cNvPr id="22" name="Text 15"/>
          <p:cNvSpPr txBox="1"/>
          <p:nvPr/>
        </p:nvSpPr>
        <p:spPr>
          <a:xfrm>
            <a:off x="7772400" y="1600200"/>
            <a:ext cx="3867912" cy="777240"/>
          </a:xfrm>
          <a:prstGeom prst="rect">
            <a:avLst/>
          </a:prstGeom>
          <a:noFill/>
          <a:ln/>
        </p:spPr>
        <p:txBody>
          <a:bodyPr wrap="square" lIns="0" tIns="0" rIns="0" bIns="0" rtlCol="0" anchor="ctr"/>
          <a:lstStyle/>
          <a:p>
            <a:pPr algn="ctr" indent="0" marL="0">
              <a:buNone/>
            </a:pPr>
            <a:r>
              <a:rPr lang="en-US" sz="4800" b="1" dirty="0">
                <a:solidFill>
                  <a:schemeClr val="bg1"/>
                </a:solidFill>
              </a:rPr>
              <a:t>+22%</a:t>
            </a:r>
            <a:endParaRPr lang="en-US" sz="4800" dirty="0"/>
          </a:p>
        </p:txBody>
      </p:sp>
      <p:sp>
        <p:nvSpPr>
          <p:cNvPr id="23" name="Text 16"/>
          <p:cNvSpPr txBox="1"/>
          <p:nvPr/>
        </p:nvSpPr>
        <p:spPr>
          <a:xfrm>
            <a:off x="7955280" y="2404872"/>
            <a:ext cx="3502152" cy="365760"/>
          </a:xfrm>
          <a:prstGeom prst="rect">
            <a:avLst/>
          </a:prstGeom>
          <a:noFill/>
          <a:ln/>
        </p:spPr>
        <p:txBody>
          <a:bodyPr wrap="square" lIns="0" tIns="0" rIns="0" bIns="0" rtlCol="0" anchor="t"/>
          <a:lstStyle/>
          <a:p>
            <a:pPr algn="ctr" indent="0" marL="0">
              <a:buNone/>
            </a:pPr>
            <a:r>
              <a:rPr lang="en-US" sz="1400" dirty="0">
                <a:solidFill>
                  <a:schemeClr val="accent3"/>
                </a:solidFill>
              </a:rPr>
              <a:t>average yield increase target</a:t>
            </a:r>
            <a:endParaRPr lang="en-US" sz="1400" dirty="0"/>
          </a:p>
        </p:txBody>
      </p:sp>
      <p:sp>
        <p:nvSpPr>
          <p:cNvPr id="24" name="stat-tile-2"/>
          <p:cNvSpPr/>
          <p:nvPr/>
        </p:nvSpPr>
        <p:spPr>
          <a:xfrm>
            <a:off x="7772400" y="3044952"/>
            <a:ext cx="3867912" cy="1371600"/>
          </a:xfrm>
          <a:prstGeom prst="roundRect">
            <a:avLst>
              <a:gd name="adj" fmla="val 8000"/>
            </a:avLst>
          </a:prstGeom>
          <a:solidFill>
            <a:schemeClr val="accent1"/>
          </a:solidFill>
          <a:ln/>
        </p:spPr>
      </p:sp>
      <p:sp>
        <p:nvSpPr>
          <p:cNvPr id="25" name="Text 18"/>
          <p:cNvSpPr txBox="1"/>
          <p:nvPr/>
        </p:nvSpPr>
        <p:spPr>
          <a:xfrm>
            <a:off x="7772400" y="3136392"/>
            <a:ext cx="3867912" cy="777240"/>
          </a:xfrm>
          <a:prstGeom prst="rect">
            <a:avLst/>
          </a:prstGeom>
          <a:noFill/>
          <a:ln/>
        </p:spPr>
        <p:txBody>
          <a:bodyPr wrap="square" lIns="0" tIns="0" rIns="0" bIns="0" rtlCol="0" anchor="ctr"/>
          <a:lstStyle/>
          <a:p>
            <a:pPr algn="ctr" indent="0" marL="0">
              <a:buNone/>
            </a:pPr>
            <a:r>
              <a:rPr lang="en-US" sz="4800" b="1" dirty="0">
                <a:solidFill>
                  <a:schemeClr val="bg1"/>
                </a:solidFill>
              </a:rPr>
              <a:t>−35%</a:t>
            </a:r>
            <a:endParaRPr lang="en-US" sz="4800" dirty="0"/>
          </a:p>
        </p:txBody>
      </p:sp>
      <p:sp>
        <p:nvSpPr>
          <p:cNvPr id="26" name="Text 19"/>
          <p:cNvSpPr txBox="1"/>
          <p:nvPr/>
        </p:nvSpPr>
        <p:spPr>
          <a:xfrm>
            <a:off x="7955280" y="3941064"/>
            <a:ext cx="3502152" cy="365760"/>
          </a:xfrm>
          <a:prstGeom prst="rect">
            <a:avLst/>
          </a:prstGeom>
          <a:noFill/>
          <a:ln/>
        </p:spPr>
        <p:txBody>
          <a:bodyPr wrap="square" lIns="0" tIns="0" rIns="0" bIns="0" rtlCol="0" anchor="t"/>
          <a:lstStyle/>
          <a:p>
            <a:pPr algn="ctr" indent="0" marL="0">
              <a:buNone/>
            </a:pPr>
            <a:r>
              <a:rPr lang="en-US" sz="1400" dirty="0">
                <a:solidFill>
                  <a:schemeClr val="accent3"/>
                </a:solidFill>
              </a:rPr>
              <a:t>unnecessary chemical fertilizer spend</a:t>
            </a:r>
            <a:endParaRPr lang="en-US" sz="1400" dirty="0"/>
          </a:p>
        </p:txBody>
      </p:sp>
      <p:sp>
        <p:nvSpPr>
          <p:cNvPr id="27" name="stat-tile-3"/>
          <p:cNvSpPr/>
          <p:nvPr/>
        </p:nvSpPr>
        <p:spPr>
          <a:xfrm>
            <a:off x="7772400" y="4581144"/>
            <a:ext cx="3867912" cy="1371600"/>
          </a:xfrm>
          <a:prstGeom prst="roundRect">
            <a:avLst>
              <a:gd name="adj" fmla="val 8000"/>
            </a:avLst>
          </a:prstGeom>
          <a:solidFill>
            <a:schemeClr val="accent2"/>
          </a:solidFill>
          <a:ln/>
        </p:spPr>
      </p:sp>
      <p:sp>
        <p:nvSpPr>
          <p:cNvPr id="28" name="Text 21"/>
          <p:cNvSpPr txBox="1"/>
          <p:nvPr/>
        </p:nvSpPr>
        <p:spPr>
          <a:xfrm>
            <a:off x="7772400" y="4672584"/>
            <a:ext cx="3867912" cy="777240"/>
          </a:xfrm>
          <a:prstGeom prst="rect">
            <a:avLst/>
          </a:prstGeom>
          <a:noFill/>
          <a:ln/>
        </p:spPr>
        <p:txBody>
          <a:bodyPr wrap="square" lIns="0" tIns="0" rIns="0" bIns="0" rtlCol="0" anchor="ctr"/>
          <a:lstStyle/>
          <a:p>
            <a:pPr algn="ctr" indent="0" marL="0">
              <a:buNone/>
            </a:pPr>
            <a:r>
              <a:rPr lang="en-US" sz="4800" b="1" dirty="0">
                <a:solidFill>
                  <a:schemeClr val="tx1"/>
                </a:solidFill>
              </a:rPr>
              <a:t>100%</a:t>
            </a:r>
            <a:endParaRPr lang="en-US" sz="4800" dirty="0"/>
          </a:p>
        </p:txBody>
      </p:sp>
      <p:sp>
        <p:nvSpPr>
          <p:cNvPr id="29" name="Text 22"/>
          <p:cNvSpPr txBox="1"/>
          <p:nvPr/>
        </p:nvSpPr>
        <p:spPr>
          <a:xfrm>
            <a:off x="7955280" y="5477256"/>
            <a:ext cx="3502152" cy="365760"/>
          </a:xfrm>
          <a:prstGeom prst="rect">
            <a:avLst/>
          </a:prstGeom>
          <a:noFill/>
          <a:ln/>
        </p:spPr>
        <p:txBody>
          <a:bodyPr wrap="square" lIns="0" tIns="0" rIns="0" bIns="0" rtlCol="0" anchor="t"/>
          <a:lstStyle/>
          <a:p>
            <a:pPr algn="ctr" indent="0" marL="0">
              <a:buNone/>
            </a:pPr>
            <a:r>
              <a:rPr lang="en-US" sz="1400" dirty="0">
                <a:solidFill>
                  <a:schemeClr val="tx1"/>
                </a:solidFill>
              </a:rPr>
              <a:t>agronomic safety gate pass rate</a:t>
            </a:r>
            <a:endParaRPr lang="en-US" sz="1400" dirty="0"/>
          </a:p>
        </p:txBody>
      </p:sp>
      <p:sp>
        <p:nvSpPr>
          <p:cNvPr id="30" name="Text 23"/>
          <p:cNvSpPr txBox="1"/>
          <p:nvPr/>
        </p:nvSpPr>
        <p:spPr>
          <a:xfrm>
            <a:off x="548640" y="6053328"/>
            <a:ext cx="11091672" cy="274320"/>
          </a:xfrm>
          <a:prstGeom prst="rect">
            <a:avLst/>
          </a:prstGeom>
          <a:noFill/>
          <a:ln/>
        </p:spPr>
        <p:txBody>
          <a:bodyPr wrap="square" lIns="0" tIns="0" rIns="0" bIns="0" rtlCol="0" anchor="t"/>
          <a:lstStyle/>
          <a:p>
            <a:pPr indent="0" marL="0">
              <a:buNone/>
            </a:pPr>
            <a:r>
              <a:rPr lang="en-US" sz="1200" i="1" dirty="0">
                <a:solidFill>
                  <a:schemeClr val="accent6"/>
                </a:solidFill>
              </a:rPr>
              <a:t>Yield and fertilizer figures are pilot targets, to be validated through field trials.</a:t>
            </a:r>
            <a:endParaRPr lang="en-US" sz="12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Solution Overview</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Seven integrated capabilities on one evaluated, explainable decision-support platform</a:t>
            </a:r>
            <a:endParaRPr lang="en-US" sz="1600" dirty="0"/>
          </a:p>
        </p:txBody>
      </p:sp>
      <p:sp>
        <p:nvSpPr>
          <p:cNvPr id="5" name="pillar-card-1"/>
          <p:cNvSpPr/>
          <p:nvPr/>
        </p:nvSpPr>
        <p:spPr>
          <a:xfrm>
            <a:off x="548640" y="1508760"/>
            <a:ext cx="2651760" cy="2240280"/>
          </a:xfrm>
          <a:prstGeom prst="roundRect">
            <a:avLst>
              <a:gd name="adj" fmla="val 489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6" name="icon-bg-FaBrain"/>
          <p:cNvSpPr/>
          <p:nvPr/>
        </p:nvSpPr>
        <p:spPr>
          <a:xfrm>
            <a:off x="777240" y="1737360"/>
            <a:ext cx="548640" cy="548640"/>
          </a:xfrm>
          <a:prstGeom prst="ellipse">
            <a:avLst/>
          </a:prstGeom>
          <a:solidFill>
            <a:schemeClr val="accent1"/>
          </a:solidFill>
          <a:ln/>
        </p:spPr>
      </p:sp>
      <p:pic>
        <p:nvPicPr>
          <p:cNvPr id="7" name="Image 0" descr="Brain icon">    </p:cNvPr>
          <p:cNvPicPr>
            <a:picLocks noChangeAspect="1"/>
          </p:cNvPicPr>
          <p:nvPr/>
        </p:nvPicPr>
        <p:blipFill>
          <a:blip r:embed="rId1"/>
          <a:stretch>
            <a:fillRect/>
          </a:stretch>
        </p:blipFill>
        <p:spPr>
          <a:xfrm>
            <a:off x="914400" y="1874520"/>
            <a:ext cx="274320" cy="274320"/>
          </a:xfrm>
          <a:prstGeom prst="rect">
            <a:avLst/>
          </a:prstGeom>
        </p:spPr>
      </p:pic>
      <p:sp>
        <p:nvSpPr>
          <p:cNvPr id="8" name="Text 4"/>
          <p:cNvSpPr txBox="1"/>
          <p:nvPr/>
        </p:nvSpPr>
        <p:spPr>
          <a:xfrm>
            <a:off x="777240" y="2423160"/>
            <a:ext cx="2240280" cy="502920"/>
          </a:xfrm>
          <a:prstGeom prst="rect">
            <a:avLst/>
          </a:prstGeom>
          <a:noFill/>
          <a:ln/>
        </p:spPr>
        <p:txBody>
          <a:bodyPr wrap="square" lIns="0" tIns="0" rIns="0" bIns="0" rtlCol="0" anchor="t"/>
          <a:lstStyle/>
          <a:p>
            <a:pPr indent="0" marL="0">
              <a:buNone/>
            </a:pPr>
            <a:r>
              <a:rPr lang="en-US" sz="1500" b="1" dirty="0">
                <a:solidFill>
                  <a:schemeClr val="tx2"/>
                </a:solidFill>
              </a:rPr>
              <a:t>Calibrated Crop Recommender</a:t>
            </a:r>
            <a:endParaRPr lang="en-US" sz="1500" dirty="0"/>
          </a:p>
        </p:txBody>
      </p:sp>
      <p:sp>
        <p:nvSpPr>
          <p:cNvPr id="9" name="Text 5"/>
          <p:cNvSpPr txBox="1"/>
          <p:nvPr/>
        </p:nvSpPr>
        <p:spPr>
          <a:xfrm>
            <a:off x="777240" y="2953512"/>
            <a:ext cx="2240280" cy="731520"/>
          </a:xfrm>
          <a:prstGeom prst="rect">
            <a:avLst/>
          </a:prstGeom>
          <a:noFill/>
          <a:ln/>
        </p:spPr>
        <p:txBody>
          <a:bodyPr wrap="square" lIns="0" tIns="0" rIns="0" bIns="0" rtlCol="0" anchor="t"/>
          <a:lstStyle/>
          <a:p>
            <a:pPr indent="0" marL="0">
              <a:buNone/>
            </a:pPr>
            <a:r>
              <a:rPr lang="en-US" sz="1300" dirty="0">
                <a:solidFill>
                  <a:schemeClr val="tx1"/>
                </a:solidFill>
              </a:rPr>
              <a:t>ExtraTrees, 25 crops, sigmoid-calibrated probabilities</a:t>
            </a:r>
            <a:endParaRPr lang="en-US" sz="1300" dirty="0"/>
          </a:p>
        </p:txBody>
      </p:sp>
      <p:sp>
        <p:nvSpPr>
          <p:cNvPr id="10" name="pillar-card-2"/>
          <p:cNvSpPr/>
          <p:nvPr/>
        </p:nvSpPr>
        <p:spPr>
          <a:xfrm>
            <a:off x="3355848" y="1508760"/>
            <a:ext cx="2651760" cy="2240280"/>
          </a:xfrm>
          <a:prstGeom prst="roundRect">
            <a:avLst>
              <a:gd name="adj" fmla="val 489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11" name="icon-bg-FaSearch"/>
          <p:cNvSpPr/>
          <p:nvPr/>
        </p:nvSpPr>
        <p:spPr>
          <a:xfrm>
            <a:off x="3584448" y="1737360"/>
            <a:ext cx="548640" cy="548640"/>
          </a:xfrm>
          <a:prstGeom prst="ellipse">
            <a:avLst/>
          </a:prstGeom>
          <a:solidFill>
            <a:schemeClr val="accent1"/>
          </a:solidFill>
          <a:ln/>
        </p:spPr>
      </p:sp>
      <p:pic>
        <p:nvPicPr>
          <p:cNvPr id="12" name="Image 1" descr="Search icon">    </p:cNvPr>
          <p:cNvPicPr>
            <a:picLocks noChangeAspect="1"/>
          </p:cNvPicPr>
          <p:nvPr/>
        </p:nvPicPr>
        <p:blipFill>
          <a:blip r:embed="rId2"/>
          <a:stretch>
            <a:fillRect/>
          </a:stretch>
        </p:blipFill>
        <p:spPr>
          <a:xfrm>
            <a:off x="3721608" y="1874520"/>
            <a:ext cx="274320" cy="274320"/>
          </a:xfrm>
          <a:prstGeom prst="rect">
            <a:avLst/>
          </a:prstGeom>
        </p:spPr>
      </p:pic>
      <p:sp>
        <p:nvSpPr>
          <p:cNvPr id="13" name="Text 8"/>
          <p:cNvSpPr txBox="1"/>
          <p:nvPr/>
        </p:nvSpPr>
        <p:spPr>
          <a:xfrm>
            <a:off x="3584448" y="2423160"/>
            <a:ext cx="2240280" cy="502920"/>
          </a:xfrm>
          <a:prstGeom prst="rect">
            <a:avLst/>
          </a:prstGeom>
          <a:noFill/>
          <a:ln/>
        </p:spPr>
        <p:txBody>
          <a:bodyPr wrap="square" lIns="0" tIns="0" rIns="0" bIns="0" rtlCol="0" anchor="t"/>
          <a:lstStyle/>
          <a:p>
            <a:pPr indent="0" marL="0">
              <a:buNone/>
            </a:pPr>
            <a:r>
              <a:rPr lang="en-US" sz="1500" b="1" dirty="0">
                <a:solidFill>
                  <a:schemeClr val="tx2"/>
                </a:solidFill>
              </a:rPr>
              <a:t>Explainable AI &amp; What-If</a:t>
            </a:r>
            <a:endParaRPr lang="en-US" sz="1500" dirty="0"/>
          </a:p>
        </p:txBody>
      </p:sp>
      <p:sp>
        <p:nvSpPr>
          <p:cNvPr id="14" name="Text 9"/>
          <p:cNvSpPr txBox="1"/>
          <p:nvPr/>
        </p:nvSpPr>
        <p:spPr>
          <a:xfrm>
            <a:off x="3584448" y="2953512"/>
            <a:ext cx="2240280" cy="731520"/>
          </a:xfrm>
          <a:prstGeom prst="rect">
            <a:avLst/>
          </a:prstGeom>
          <a:noFill/>
          <a:ln/>
        </p:spPr>
        <p:txBody>
          <a:bodyPr wrap="square" lIns="0" tIns="0" rIns="0" bIns="0" rtlCol="0" anchor="t"/>
          <a:lstStyle/>
          <a:p>
            <a:pPr indent="0" marL="0">
              <a:buNone/>
            </a:pPr>
            <a:r>
              <a:rPr lang="en-US" sz="1300" dirty="0">
                <a:solidFill>
                  <a:schemeClr val="tx1"/>
                </a:solidFill>
              </a:rPr>
              <a:t>SHAP attributions and a climate stress simulator</a:t>
            </a:r>
            <a:endParaRPr lang="en-US" sz="1300" dirty="0"/>
          </a:p>
        </p:txBody>
      </p:sp>
      <p:sp>
        <p:nvSpPr>
          <p:cNvPr id="15" name="pillar-card-3"/>
          <p:cNvSpPr/>
          <p:nvPr/>
        </p:nvSpPr>
        <p:spPr>
          <a:xfrm>
            <a:off x="6163056" y="1508760"/>
            <a:ext cx="2651760" cy="2240280"/>
          </a:xfrm>
          <a:prstGeom prst="roundRect">
            <a:avLst>
              <a:gd name="adj" fmla="val 489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16" name="icon-bg-FaBook"/>
          <p:cNvSpPr/>
          <p:nvPr/>
        </p:nvSpPr>
        <p:spPr>
          <a:xfrm>
            <a:off x="6391656" y="1737360"/>
            <a:ext cx="548640" cy="548640"/>
          </a:xfrm>
          <a:prstGeom prst="ellipse">
            <a:avLst/>
          </a:prstGeom>
          <a:solidFill>
            <a:schemeClr val="accent1"/>
          </a:solidFill>
          <a:ln/>
        </p:spPr>
      </p:sp>
      <p:pic>
        <p:nvPicPr>
          <p:cNvPr id="17" name="Image 2" descr="Book icon">    </p:cNvPr>
          <p:cNvPicPr>
            <a:picLocks noChangeAspect="1"/>
          </p:cNvPicPr>
          <p:nvPr/>
        </p:nvPicPr>
        <p:blipFill>
          <a:blip r:embed="rId3"/>
          <a:stretch>
            <a:fillRect/>
          </a:stretch>
        </p:blipFill>
        <p:spPr>
          <a:xfrm>
            <a:off x="6528816" y="1874520"/>
            <a:ext cx="274320" cy="274320"/>
          </a:xfrm>
          <a:prstGeom prst="rect">
            <a:avLst/>
          </a:prstGeom>
        </p:spPr>
      </p:pic>
      <p:sp>
        <p:nvSpPr>
          <p:cNvPr id="18" name="Text 12"/>
          <p:cNvSpPr txBox="1"/>
          <p:nvPr/>
        </p:nvSpPr>
        <p:spPr>
          <a:xfrm>
            <a:off x="6391656" y="2423160"/>
            <a:ext cx="2240280" cy="502920"/>
          </a:xfrm>
          <a:prstGeom prst="rect">
            <a:avLst/>
          </a:prstGeom>
          <a:noFill/>
          <a:ln/>
        </p:spPr>
        <p:txBody>
          <a:bodyPr wrap="square" lIns="0" tIns="0" rIns="0" bIns="0" rtlCol="0" anchor="t"/>
          <a:lstStyle/>
          <a:p>
            <a:pPr indent="0" marL="0">
              <a:buNone/>
            </a:pPr>
            <a:r>
              <a:rPr lang="en-US" sz="1500" b="1" dirty="0">
                <a:solidFill>
                  <a:schemeClr val="tx2"/>
                </a:solidFill>
              </a:rPr>
              <a:t>Hybrid RAG Engine</a:t>
            </a:r>
            <a:endParaRPr lang="en-US" sz="1500" dirty="0"/>
          </a:p>
        </p:txBody>
      </p:sp>
      <p:sp>
        <p:nvSpPr>
          <p:cNvPr id="19" name="Text 13"/>
          <p:cNvSpPr txBox="1"/>
          <p:nvPr/>
        </p:nvSpPr>
        <p:spPr>
          <a:xfrm>
            <a:off x="6391656" y="2953512"/>
            <a:ext cx="2240280" cy="731520"/>
          </a:xfrm>
          <a:prstGeom prst="rect">
            <a:avLst/>
          </a:prstGeom>
          <a:noFill/>
          <a:ln/>
        </p:spPr>
        <p:txBody>
          <a:bodyPr wrap="square" lIns="0" tIns="0" rIns="0" bIns="0" rtlCol="0" anchor="t"/>
          <a:lstStyle/>
          <a:p>
            <a:pPr indent="0" marL="0">
              <a:buNone/>
            </a:pPr>
            <a:r>
              <a:rPr lang="en-US" sz="1300" dirty="0">
                <a:solidFill>
                  <a:schemeClr val="tx1"/>
                </a:solidFill>
              </a:rPr>
              <a:t>ChromaDB + BM25 + RRF over ICAR and MANAGE manuals</a:t>
            </a:r>
            <a:endParaRPr lang="en-US" sz="1300" dirty="0"/>
          </a:p>
        </p:txBody>
      </p:sp>
      <p:sp>
        <p:nvSpPr>
          <p:cNvPr id="20" name="pillar-card-4"/>
          <p:cNvSpPr/>
          <p:nvPr/>
        </p:nvSpPr>
        <p:spPr>
          <a:xfrm>
            <a:off x="8970264" y="1508760"/>
            <a:ext cx="2651760" cy="2240280"/>
          </a:xfrm>
          <a:prstGeom prst="roundRect">
            <a:avLst>
              <a:gd name="adj" fmla="val 489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21" name="icon-bg-FaCalendarAlt"/>
          <p:cNvSpPr/>
          <p:nvPr/>
        </p:nvSpPr>
        <p:spPr>
          <a:xfrm>
            <a:off x="9198864" y="1737360"/>
            <a:ext cx="548640" cy="548640"/>
          </a:xfrm>
          <a:prstGeom prst="ellipse">
            <a:avLst/>
          </a:prstGeom>
          <a:solidFill>
            <a:schemeClr val="accent1"/>
          </a:solidFill>
          <a:ln/>
        </p:spPr>
      </p:sp>
      <p:pic>
        <p:nvPicPr>
          <p:cNvPr id="22" name="Image 3" descr="CalendarAlt icon">    </p:cNvPr>
          <p:cNvPicPr>
            <a:picLocks noChangeAspect="1"/>
          </p:cNvPicPr>
          <p:nvPr/>
        </p:nvPicPr>
        <p:blipFill>
          <a:blip r:embed="rId4"/>
          <a:stretch>
            <a:fillRect/>
          </a:stretch>
        </p:blipFill>
        <p:spPr>
          <a:xfrm>
            <a:off x="9336024" y="1874520"/>
            <a:ext cx="274320" cy="274320"/>
          </a:xfrm>
          <a:prstGeom prst="rect">
            <a:avLst/>
          </a:prstGeom>
        </p:spPr>
      </p:pic>
      <p:sp>
        <p:nvSpPr>
          <p:cNvPr id="23" name="Text 16"/>
          <p:cNvSpPr txBox="1"/>
          <p:nvPr/>
        </p:nvSpPr>
        <p:spPr>
          <a:xfrm>
            <a:off x="9198864" y="2423160"/>
            <a:ext cx="2240280" cy="502920"/>
          </a:xfrm>
          <a:prstGeom prst="rect">
            <a:avLst/>
          </a:prstGeom>
          <a:noFill/>
          <a:ln/>
        </p:spPr>
        <p:txBody>
          <a:bodyPr wrap="square" lIns="0" tIns="0" rIns="0" bIns="0" rtlCol="0" anchor="t"/>
          <a:lstStyle/>
          <a:p>
            <a:pPr indent="0" marL="0">
              <a:buNone/>
            </a:pPr>
            <a:r>
              <a:rPr lang="en-US" sz="1500" b="1" dirty="0">
                <a:solidFill>
                  <a:schemeClr val="tx2"/>
                </a:solidFill>
              </a:rPr>
              <a:t>Cropping Calendar</a:t>
            </a:r>
            <a:endParaRPr lang="en-US" sz="1500" dirty="0"/>
          </a:p>
        </p:txBody>
      </p:sp>
      <p:sp>
        <p:nvSpPr>
          <p:cNvPr id="24" name="Text 17"/>
          <p:cNvSpPr txBox="1"/>
          <p:nvPr/>
        </p:nvSpPr>
        <p:spPr>
          <a:xfrm>
            <a:off x="9198864" y="2953512"/>
            <a:ext cx="2240280" cy="731520"/>
          </a:xfrm>
          <a:prstGeom prst="rect">
            <a:avLst/>
          </a:prstGeom>
          <a:noFill/>
          <a:ln/>
        </p:spPr>
        <p:txBody>
          <a:bodyPr wrap="square" lIns="0" tIns="0" rIns="0" bIns="0" rtlCol="0" anchor="t"/>
          <a:lstStyle/>
          <a:p>
            <a:pPr indent="0" marL="0">
              <a:buNone/>
            </a:pPr>
            <a:r>
              <a:rPr lang="en-US" sz="1300" dirty="0">
                <a:solidFill>
                  <a:schemeClr val="tx1"/>
                </a:solidFill>
              </a:rPr>
              <a:t>Monthly, weekly and daily views that auto-rebalance</a:t>
            </a:r>
            <a:endParaRPr lang="en-US" sz="1300" dirty="0"/>
          </a:p>
        </p:txBody>
      </p:sp>
      <p:sp>
        <p:nvSpPr>
          <p:cNvPr id="25" name="pillar-card-5"/>
          <p:cNvSpPr/>
          <p:nvPr/>
        </p:nvSpPr>
        <p:spPr>
          <a:xfrm>
            <a:off x="548640" y="3931920"/>
            <a:ext cx="2651760" cy="2240280"/>
          </a:xfrm>
          <a:prstGeom prst="roundRect">
            <a:avLst>
              <a:gd name="adj" fmla="val 489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26" name="icon-bg-FaLeaf"/>
          <p:cNvSpPr/>
          <p:nvPr/>
        </p:nvSpPr>
        <p:spPr>
          <a:xfrm>
            <a:off x="777240" y="4160520"/>
            <a:ext cx="548640" cy="548640"/>
          </a:xfrm>
          <a:prstGeom prst="ellipse">
            <a:avLst/>
          </a:prstGeom>
          <a:solidFill>
            <a:schemeClr val="accent1"/>
          </a:solidFill>
          <a:ln/>
        </p:spPr>
      </p:sp>
      <p:pic>
        <p:nvPicPr>
          <p:cNvPr id="27" name="Image 4" descr="Leaf icon">    </p:cNvPr>
          <p:cNvPicPr>
            <a:picLocks noChangeAspect="1"/>
          </p:cNvPicPr>
          <p:nvPr/>
        </p:nvPicPr>
        <p:blipFill>
          <a:blip r:embed="rId5"/>
          <a:stretch>
            <a:fillRect/>
          </a:stretch>
        </p:blipFill>
        <p:spPr>
          <a:xfrm>
            <a:off x="914400" y="4297680"/>
            <a:ext cx="274320" cy="274320"/>
          </a:xfrm>
          <a:prstGeom prst="rect">
            <a:avLst/>
          </a:prstGeom>
        </p:spPr>
      </p:pic>
      <p:sp>
        <p:nvSpPr>
          <p:cNvPr id="28" name="Text 20"/>
          <p:cNvSpPr txBox="1"/>
          <p:nvPr/>
        </p:nvSpPr>
        <p:spPr>
          <a:xfrm>
            <a:off x="777240" y="4846320"/>
            <a:ext cx="2240280" cy="502920"/>
          </a:xfrm>
          <a:prstGeom prst="rect">
            <a:avLst/>
          </a:prstGeom>
          <a:noFill/>
          <a:ln/>
        </p:spPr>
        <p:txBody>
          <a:bodyPr wrap="square" lIns="0" tIns="0" rIns="0" bIns="0" rtlCol="0" anchor="t"/>
          <a:lstStyle/>
          <a:p>
            <a:pPr indent="0" marL="0">
              <a:buNone/>
            </a:pPr>
            <a:r>
              <a:rPr lang="en-US" sz="1500" b="1" dirty="0">
                <a:solidFill>
                  <a:schemeClr val="tx2"/>
                </a:solidFill>
              </a:rPr>
              <a:t>Plant Doctor</a:t>
            </a:r>
            <a:endParaRPr lang="en-US" sz="1500" dirty="0"/>
          </a:p>
        </p:txBody>
      </p:sp>
      <p:sp>
        <p:nvSpPr>
          <p:cNvPr id="29" name="Text 21"/>
          <p:cNvSpPr txBox="1"/>
          <p:nvPr/>
        </p:nvSpPr>
        <p:spPr>
          <a:xfrm>
            <a:off x="777240" y="5376672"/>
            <a:ext cx="2240280" cy="731520"/>
          </a:xfrm>
          <a:prstGeom prst="rect">
            <a:avLst/>
          </a:prstGeom>
          <a:noFill/>
          <a:ln/>
        </p:spPr>
        <p:txBody>
          <a:bodyPr wrap="square" lIns="0" tIns="0" rIns="0" bIns="0" rtlCol="0" anchor="t"/>
          <a:lstStyle/>
          <a:p>
            <a:pPr indent="0" marL="0">
              <a:buNone/>
            </a:pPr>
            <a:r>
              <a:rPr lang="en-US" sz="1300" dirty="0">
                <a:solidFill>
                  <a:schemeClr val="tx1"/>
                </a:solidFill>
              </a:rPr>
              <a:t>Leaf diagnosis with organic and chemical remedies</a:t>
            </a:r>
            <a:endParaRPr lang="en-US" sz="1300" dirty="0"/>
          </a:p>
        </p:txBody>
      </p:sp>
      <p:sp>
        <p:nvSpPr>
          <p:cNvPr id="30" name="pillar-card-6"/>
          <p:cNvSpPr/>
          <p:nvPr/>
        </p:nvSpPr>
        <p:spPr>
          <a:xfrm>
            <a:off x="3355848" y="3931920"/>
            <a:ext cx="2651760" cy="2240280"/>
          </a:xfrm>
          <a:prstGeom prst="roundRect">
            <a:avLst>
              <a:gd name="adj" fmla="val 489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31" name="icon-bg-FaDatabase"/>
          <p:cNvSpPr/>
          <p:nvPr/>
        </p:nvSpPr>
        <p:spPr>
          <a:xfrm>
            <a:off x="3584448" y="4160520"/>
            <a:ext cx="548640" cy="548640"/>
          </a:xfrm>
          <a:prstGeom prst="ellipse">
            <a:avLst/>
          </a:prstGeom>
          <a:solidFill>
            <a:schemeClr val="accent1"/>
          </a:solidFill>
          <a:ln/>
        </p:spPr>
      </p:sp>
      <p:pic>
        <p:nvPicPr>
          <p:cNvPr id="32" name="Image 5" descr="Database icon">    </p:cNvPr>
          <p:cNvPicPr>
            <a:picLocks noChangeAspect="1"/>
          </p:cNvPicPr>
          <p:nvPr/>
        </p:nvPicPr>
        <p:blipFill>
          <a:blip r:embed="rId6"/>
          <a:stretch>
            <a:fillRect/>
          </a:stretch>
        </p:blipFill>
        <p:spPr>
          <a:xfrm>
            <a:off x="3721608" y="4297680"/>
            <a:ext cx="274320" cy="274320"/>
          </a:xfrm>
          <a:prstGeom prst="rect">
            <a:avLst/>
          </a:prstGeom>
        </p:spPr>
      </p:pic>
      <p:sp>
        <p:nvSpPr>
          <p:cNvPr id="33" name="Text 24"/>
          <p:cNvSpPr txBox="1"/>
          <p:nvPr/>
        </p:nvSpPr>
        <p:spPr>
          <a:xfrm>
            <a:off x="3584448" y="4846320"/>
            <a:ext cx="2240280" cy="502920"/>
          </a:xfrm>
          <a:prstGeom prst="rect">
            <a:avLst/>
          </a:prstGeom>
          <a:noFill/>
          <a:ln/>
        </p:spPr>
        <p:txBody>
          <a:bodyPr wrap="square" lIns="0" tIns="0" rIns="0" bIns="0" rtlCol="0" anchor="t"/>
          <a:lstStyle/>
          <a:p>
            <a:pPr indent="0" marL="0">
              <a:buNone/>
            </a:pPr>
            <a:r>
              <a:rPr lang="en-US" sz="1500" b="1" dirty="0">
                <a:solidFill>
                  <a:schemeClr val="tx2"/>
                </a:solidFill>
              </a:rPr>
              <a:t>Farm Assistant</a:t>
            </a:r>
            <a:endParaRPr lang="en-US" sz="1500" dirty="0"/>
          </a:p>
        </p:txBody>
      </p:sp>
      <p:sp>
        <p:nvSpPr>
          <p:cNvPr id="34" name="Text 25"/>
          <p:cNvSpPr txBox="1"/>
          <p:nvPr/>
        </p:nvSpPr>
        <p:spPr>
          <a:xfrm>
            <a:off x="3584448" y="5376672"/>
            <a:ext cx="2240280" cy="731520"/>
          </a:xfrm>
          <a:prstGeom prst="rect">
            <a:avLst/>
          </a:prstGeom>
          <a:noFill/>
          <a:ln/>
        </p:spPr>
        <p:txBody>
          <a:bodyPr wrap="square" lIns="0" tIns="0" rIns="0" bIns="0" rtlCol="0" anchor="t"/>
          <a:lstStyle/>
          <a:p>
            <a:pPr indent="0" marL="0">
              <a:buNone/>
            </a:pPr>
            <a:r>
              <a:rPr lang="en-US" sz="1300" dirty="0">
                <a:solidFill>
                  <a:schemeClr val="tx1"/>
                </a:solidFill>
              </a:rPr>
              <a:t>Plain-language, read-only SQL over farm history</a:t>
            </a:r>
            <a:endParaRPr lang="en-US" sz="1300" dirty="0"/>
          </a:p>
        </p:txBody>
      </p:sp>
      <p:sp>
        <p:nvSpPr>
          <p:cNvPr id="35" name="pillar-card-7"/>
          <p:cNvSpPr/>
          <p:nvPr/>
        </p:nvSpPr>
        <p:spPr>
          <a:xfrm>
            <a:off x="6163056" y="3931920"/>
            <a:ext cx="2651760" cy="2240280"/>
          </a:xfrm>
          <a:prstGeom prst="roundRect">
            <a:avLst>
              <a:gd name="adj" fmla="val 489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36" name="icon-bg-FaFilePdf"/>
          <p:cNvSpPr/>
          <p:nvPr/>
        </p:nvSpPr>
        <p:spPr>
          <a:xfrm>
            <a:off x="6391656" y="4160520"/>
            <a:ext cx="548640" cy="548640"/>
          </a:xfrm>
          <a:prstGeom prst="ellipse">
            <a:avLst/>
          </a:prstGeom>
          <a:solidFill>
            <a:schemeClr val="accent1"/>
          </a:solidFill>
          <a:ln/>
        </p:spPr>
      </p:sp>
      <p:pic>
        <p:nvPicPr>
          <p:cNvPr id="37" name="Image 6" descr="FilePdf icon">    </p:cNvPr>
          <p:cNvPicPr>
            <a:picLocks noChangeAspect="1"/>
          </p:cNvPicPr>
          <p:nvPr/>
        </p:nvPicPr>
        <p:blipFill>
          <a:blip r:embed="rId7"/>
          <a:stretch>
            <a:fillRect/>
          </a:stretch>
        </p:blipFill>
        <p:spPr>
          <a:xfrm>
            <a:off x="6528816" y="4297680"/>
            <a:ext cx="274320" cy="274320"/>
          </a:xfrm>
          <a:prstGeom prst="rect">
            <a:avLst/>
          </a:prstGeom>
        </p:spPr>
      </p:pic>
      <p:sp>
        <p:nvSpPr>
          <p:cNvPr id="38" name="Text 28"/>
          <p:cNvSpPr txBox="1"/>
          <p:nvPr/>
        </p:nvSpPr>
        <p:spPr>
          <a:xfrm>
            <a:off x="6391656" y="4846320"/>
            <a:ext cx="2240280" cy="502920"/>
          </a:xfrm>
          <a:prstGeom prst="rect">
            <a:avLst/>
          </a:prstGeom>
          <a:noFill/>
          <a:ln/>
        </p:spPr>
        <p:txBody>
          <a:bodyPr wrap="square" lIns="0" tIns="0" rIns="0" bIns="0" rtlCol="0" anchor="t"/>
          <a:lstStyle/>
          <a:p>
            <a:pPr indent="0" marL="0">
              <a:buNone/>
            </a:pPr>
            <a:r>
              <a:rPr lang="en-US" sz="1500" b="1" dirty="0">
                <a:solidFill>
                  <a:schemeClr val="tx2"/>
                </a:solidFill>
              </a:rPr>
              <a:t>PDF Dossier</a:t>
            </a:r>
            <a:endParaRPr lang="en-US" sz="1500" dirty="0"/>
          </a:p>
        </p:txBody>
      </p:sp>
      <p:sp>
        <p:nvSpPr>
          <p:cNvPr id="39" name="Text 29"/>
          <p:cNvSpPr txBox="1"/>
          <p:nvPr/>
        </p:nvSpPr>
        <p:spPr>
          <a:xfrm>
            <a:off x="6391656" y="5376672"/>
            <a:ext cx="2240280" cy="731520"/>
          </a:xfrm>
          <a:prstGeom prst="rect">
            <a:avLst/>
          </a:prstGeom>
          <a:noFill/>
          <a:ln/>
        </p:spPr>
        <p:txBody>
          <a:bodyPr wrap="square" lIns="0" tIns="0" rIns="0" bIns="0" rtlCol="0" anchor="t"/>
          <a:lstStyle/>
          <a:p>
            <a:pPr indent="0" marL="0">
              <a:buNone/>
            </a:pPr>
            <a:r>
              <a:rPr lang="en-US" sz="1300" dirty="0">
                <a:solidFill>
                  <a:schemeClr val="tx1"/>
                </a:solidFill>
              </a:rPr>
              <a:t>Offline, print-ready report for field and credit use</a:t>
            </a:r>
            <a:endParaRPr lang="en-US" sz="1300" dirty="0"/>
          </a:p>
        </p:txBody>
      </p:sp>
      <p:sp>
        <p:nvSpPr>
          <p:cNvPr id="40" name="pillar-card-8"/>
          <p:cNvSpPr/>
          <p:nvPr/>
        </p:nvSpPr>
        <p:spPr>
          <a:xfrm>
            <a:off x="8970264" y="3931920"/>
            <a:ext cx="2651760" cy="2240280"/>
          </a:xfrm>
          <a:prstGeom prst="roundRect">
            <a:avLst>
              <a:gd name="adj" fmla="val 4898"/>
            </a:avLst>
          </a:prstGeom>
          <a:solidFill>
            <a:schemeClr val="tx2"/>
          </a:solidFill>
          <a:ln/>
        </p:spPr>
      </p:sp>
      <p:sp>
        <p:nvSpPr>
          <p:cNvPr id="41" name="icon-bg-FaShieldAlt"/>
          <p:cNvSpPr/>
          <p:nvPr/>
        </p:nvSpPr>
        <p:spPr>
          <a:xfrm>
            <a:off x="9198864" y="4160520"/>
            <a:ext cx="548640" cy="548640"/>
          </a:xfrm>
          <a:prstGeom prst="ellipse">
            <a:avLst/>
          </a:prstGeom>
          <a:solidFill>
            <a:schemeClr val="accent2"/>
          </a:solidFill>
          <a:ln/>
        </p:spPr>
      </p:sp>
      <p:pic>
        <p:nvPicPr>
          <p:cNvPr id="42" name="Image 7" descr="ShieldAlt icon">    </p:cNvPr>
          <p:cNvPicPr>
            <a:picLocks noChangeAspect="1"/>
          </p:cNvPicPr>
          <p:nvPr/>
        </p:nvPicPr>
        <p:blipFill>
          <a:blip r:embed="rId8"/>
          <a:stretch>
            <a:fillRect/>
          </a:stretch>
        </p:blipFill>
        <p:spPr>
          <a:xfrm>
            <a:off x="9336024" y="4297680"/>
            <a:ext cx="274320" cy="274320"/>
          </a:xfrm>
          <a:prstGeom prst="rect">
            <a:avLst/>
          </a:prstGeom>
        </p:spPr>
      </p:pic>
      <p:sp>
        <p:nvSpPr>
          <p:cNvPr id="43" name="Text 32"/>
          <p:cNvSpPr txBox="1"/>
          <p:nvPr/>
        </p:nvSpPr>
        <p:spPr>
          <a:xfrm>
            <a:off x="9198864" y="4846320"/>
            <a:ext cx="2240280" cy="502920"/>
          </a:xfrm>
          <a:prstGeom prst="rect">
            <a:avLst/>
          </a:prstGeom>
          <a:noFill/>
          <a:ln/>
        </p:spPr>
        <p:txBody>
          <a:bodyPr wrap="square" lIns="0" tIns="0" rIns="0" bIns="0" rtlCol="0" anchor="t"/>
          <a:lstStyle/>
          <a:p>
            <a:pPr indent="0" marL="0">
              <a:buNone/>
            </a:pPr>
            <a:r>
              <a:rPr lang="en-US" sz="1500" b="1" dirty="0">
                <a:solidFill>
                  <a:schemeClr val="bg1"/>
                </a:solidFill>
              </a:rPr>
              <a:t>Evaluation Framework</a:t>
            </a:r>
            <a:endParaRPr lang="en-US" sz="1500" dirty="0"/>
          </a:p>
        </p:txBody>
      </p:sp>
      <p:sp>
        <p:nvSpPr>
          <p:cNvPr id="44" name="Text 33"/>
          <p:cNvSpPr txBox="1"/>
          <p:nvPr/>
        </p:nvSpPr>
        <p:spPr>
          <a:xfrm>
            <a:off x="9198864" y="5376672"/>
            <a:ext cx="2240280" cy="731520"/>
          </a:xfrm>
          <a:prstGeom prst="rect">
            <a:avLst/>
          </a:prstGeom>
          <a:noFill/>
          <a:ln/>
        </p:spPr>
        <p:txBody>
          <a:bodyPr wrap="square" lIns="0" tIns="0" rIns="0" bIns="0" rtlCol="0" anchor="t"/>
          <a:lstStyle/>
          <a:p>
            <a:pPr indent="0" marL="0">
              <a:buNone/>
            </a:pPr>
            <a:r>
              <a:rPr lang="en-US" sz="1300" dirty="0">
                <a:solidFill>
                  <a:schemeClr val="accent3"/>
                </a:solidFill>
              </a:rPr>
              <a:t>24 golden cases, 6 metrics, 100% safety gate</a:t>
            </a:r>
            <a:endParaRPr lang="en-US" sz="13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Architecture</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Four tiers, each solving a specific failure mode, designed for sub-second answers</a:t>
            </a:r>
            <a:endParaRPr lang="en-US" sz="1600" dirty="0"/>
          </a:p>
        </p:txBody>
      </p:sp>
      <p:sp>
        <p:nvSpPr>
          <p:cNvPr id="5" name="tier-band-1"/>
          <p:cNvSpPr/>
          <p:nvPr/>
        </p:nvSpPr>
        <p:spPr>
          <a:xfrm>
            <a:off x="548640" y="1508760"/>
            <a:ext cx="11091672" cy="1005840"/>
          </a:xfrm>
          <a:prstGeom prst="roundRect">
            <a:avLst>
              <a:gd name="adj" fmla="val 9091"/>
            </a:avLst>
          </a:prstGeom>
          <a:solidFill>
            <a:schemeClr val="tx2"/>
          </a:solidFill>
          <a:ln/>
        </p:spPr>
      </p:sp>
      <p:sp>
        <p:nvSpPr>
          <p:cNvPr id="6" name="Text 3"/>
          <p:cNvSpPr txBox="1"/>
          <p:nvPr/>
        </p:nvSpPr>
        <p:spPr>
          <a:xfrm>
            <a:off x="777240" y="1709928"/>
            <a:ext cx="2286000" cy="640080"/>
          </a:xfrm>
          <a:prstGeom prst="rect">
            <a:avLst/>
          </a:prstGeom>
          <a:noFill/>
          <a:ln/>
        </p:spPr>
        <p:txBody>
          <a:bodyPr wrap="square" lIns="0" tIns="0" rIns="0" bIns="0" rtlCol="0" anchor="ctr"/>
          <a:lstStyle/>
          <a:p>
            <a:pPr indent="0" marL="0">
              <a:buNone/>
            </a:pPr>
            <a:r>
              <a:rPr lang="en-US" sz="1700" b="1" dirty="0">
                <a:solidFill>
                  <a:schemeClr val="bg1"/>
                </a:solidFill>
              </a:rPr>
              <a:t>1  Presentation</a:t>
            </a:r>
            <a:endParaRPr lang="en-US" sz="1400" dirty="0"/>
          </a:p>
          <a:p>
            <a:pPr indent="0" marL="0">
              <a:buNone/>
            </a:pPr>
            <a:r>
              <a:rPr lang="en-US" sz="1200" dirty="0">
                <a:solidFill>
                  <a:schemeClr val="bg1"/>
                </a:solidFill>
              </a:rPr>
              <a:t>Streamlit · Zero-JS tables</a:t>
            </a:r>
            <a:endParaRPr lang="en-US" sz="1400" dirty="0"/>
          </a:p>
        </p:txBody>
      </p:sp>
      <p:sp>
        <p:nvSpPr>
          <p:cNvPr id="7" name="tile-1-1"/>
          <p:cNvSpPr/>
          <p:nvPr/>
        </p:nvSpPr>
        <p:spPr>
          <a:xfrm>
            <a:off x="3108960" y="1691640"/>
            <a:ext cx="1295400" cy="640080"/>
          </a:xfrm>
          <a:prstGeom prst="roundRect">
            <a:avLst>
              <a:gd name="adj" fmla="val 11429"/>
            </a:avLst>
          </a:prstGeom>
          <a:solidFill>
            <a:schemeClr val="bg1">
              <a:alpha val="15000"/>
            </a:schemeClr>
          </a:solidFill>
          <a:ln/>
        </p:spPr>
      </p:sp>
      <p:sp>
        <p:nvSpPr>
          <p:cNvPr id="8" name="Text 5"/>
          <p:cNvSpPr txBox="1"/>
          <p:nvPr/>
        </p:nvSpPr>
        <p:spPr>
          <a:xfrm>
            <a:off x="3182112" y="1691640"/>
            <a:ext cx="1149096" cy="640080"/>
          </a:xfrm>
          <a:prstGeom prst="rect">
            <a:avLst/>
          </a:prstGeom>
          <a:noFill/>
          <a:ln/>
        </p:spPr>
        <p:txBody>
          <a:bodyPr wrap="square" lIns="0" tIns="0" rIns="0" bIns="0" rtlCol="0" anchor="ctr"/>
          <a:lstStyle/>
          <a:p>
            <a:pPr algn="ctr" indent="0" marL="0">
              <a:buNone/>
            </a:pPr>
            <a:r>
              <a:rPr lang="en-US" sz="1300" b="1" dirty="0">
                <a:solidFill>
                  <a:schemeClr val="bg1"/>
                </a:solidFill>
              </a:rPr>
              <a:t>Crop Recommender</a:t>
            </a:r>
            <a:endParaRPr lang="en-US" sz="1300" dirty="0"/>
          </a:p>
        </p:txBody>
      </p:sp>
      <p:sp>
        <p:nvSpPr>
          <p:cNvPr id="9" name="tile-1-2"/>
          <p:cNvSpPr/>
          <p:nvPr/>
        </p:nvSpPr>
        <p:spPr>
          <a:xfrm>
            <a:off x="4514088" y="1691640"/>
            <a:ext cx="1295400" cy="640080"/>
          </a:xfrm>
          <a:prstGeom prst="roundRect">
            <a:avLst>
              <a:gd name="adj" fmla="val 11429"/>
            </a:avLst>
          </a:prstGeom>
          <a:solidFill>
            <a:schemeClr val="bg1">
              <a:alpha val="15000"/>
            </a:schemeClr>
          </a:solidFill>
          <a:ln/>
        </p:spPr>
      </p:sp>
      <p:sp>
        <p:nvSpPr>
          <p:cNvPr id="10" name="Text 7"/>
          <p:cNvSpPr txBox="1"/>
          <p:nvPr/>
        </p:nvSpPr>
        <p:spPr>
          <a:xfrm>
            <a:off x="4587240" y="1691640"/>
            <a:ext cx="1149096" cy="640080"/>
          </a:xfrm>
          <a:prstGeom prst="rect">
            <a:avLst/>
          </a:prstGeom>
          <a:noFill/>
          <a:ln/>
        </p:spPr>
        <p:txBody>
          <a:bodyPr wrap="square" lIns="0" tIns="0" rIns="0" bIns="0" rtlCol="0" anchor="ctr"/>
          <a:lstStyle/>
          <a:p>
            <a:pPr algn="ctr" indent="0" marL="0">
              <a:buNone/>
            </a:pPr>
            <a:r>
              <a:rPr lang="en-US" sz="1300" b="1" dirty="0">
                <a:solidFill>
                  <a:schemeClr val="bg1"/>
                </a:solidFill>
              </a:rPr>
              <a:t>Cropping Calendar</a:t>
            </a:r>
            <a:endParaRPr lang="en-US" sz="1300" dirty="0"/>
          </a:p>
        </p:txBody>
      </p:sp>
      <p:sp>
        <p:nvSpPr>
          <p:cNvPr id="11" name="tile-1-3"/>
          <p:cNvSpPr/>
          <p:nvPr/>
        </p:nvSpPr>
        <p:spPr>
          <a:xfrm>
            <a:off x="5919216" y="1691640"/>
            <a:ext cx="1295400" cy="640080"/>
          </a:xfrm>
          <a:prstGeom prst="roundRect">
            <a:avLst>
              <a:gd name="adj" fmla="val 11429"/>
            </a:avLst>
          </a:prstGeom>
          <a:solidFill>
            <a:schemeClr val="bg1">
              <a:alpha val="15000"/>
            </a:schemeClr>
          </a:solidFill>
          <a:ln/>
        </p:spPr>
      </p:sp>
      <p:sp>
        <p:nvSpPr>
          <p:cNvPr id="12" name="Text 9"/>
          <p:cNvSpPr txBox="1"/>
          <p:nvPr/>
        </p:nvSpPr>
        <p:spPr>
          <a:xfrm>
            <a:off x="5992368" y="1691640"/>
            <a:ext cx="1149096" cy="640080"/>
          </a:xfrm>
          <a:prstGeom prst="rect">
            <a:avLst/>
          </a:prstGeom>
          <a:noFill/>
          <a:ln/>
        </p:spPr>
        <p:txBody>
          <a:bodyPr wrap="square" lIns="0" tIns="0" rIns="0" bIns="0" rtlCol="0" anchor="ctr"/>
          <a:lstStyle/>
          <a:p>
            <a:pPr algn="ctr" indent="0" marL="0">
              <a:buNone/>
            </a:pPr>
            <a:r>
              <a:rPr lang="en-US" sz="1300" b="1" dirty="0">
                <a:solidFill>
                  <a:schemeClr val="bg1"/>
                </a:solidFill>
              </a:rPr>
              <a:t>Plant Doctor</a:t>
            </a:r>
            <a:endParaRPr lang="en-US" sz="1300" dirty="0"/>
          </a:p>
        </p:txBody>
      </p:sp>
      <p:sp>
        <p:nvSpPr>
          <p:cNvPr id="13" name="tile-1-4"/>
          <p:cNvSpPr/>
          <p:nvPr/>
        </p:nvSpPr>
        <p:spPr>
          <a:xfrm>
            <a:off x="7324344" y="1691640"/>
            <a:ext cx="1295400" cy="640080"/>
          </a:xfrm>
          <a:prstGeom prst="roundRect">
            <a:avLst>
              <a:gd name="adj" fmla="val 11429"/>
            </a:avLst>
          </a:prstGeom>
          <a:solidFill>
            <a:schemeClr val="bg1">
              <a:alpha val="15000"/>
            </a:schemeClr>
          </a:solidFill>
          <a:ln/>
        </p:spPr>
      </p:sp>
      <p:sp>
        <p:nvSpPr>
          <p:cNvPr id="14" name="Text 11"/>
          <p:cNvSpPr txBox="1"/>
          <p:nvPr/>
        </p:nvSpPr>
        <p:spPr>
          <a:xfrm>
            <a:off x="7397496" y="1691640"/>
            <a:ext cx="1149096" cy="640080"/>
          </a:xfrm>
          <a:prstGeom prst="rect">
            <a:avLst/>
          </a:prstGeom>
          <a:noFill/>
          <a:ln/>
        </p:spPr>
        <p:txBody>
          <a:bodyPr wrap="square" lIns="0" tIns="0" rIns="0" bIns="0" rtlCol="0" anchor="ctr"/>
          <a:lstStyle/>
          <a:p>
            <a:pPr algn="ctr" indent="0" marL="0">
              <a:buNone/>
            </a:pPr>
            <a:r>
              <a:rPr lang="en-US" sz="1300" b="1" dirty="0">
                <a:solidFill>
                  <a:schemeClr val="bg1"/>
                </a:solidFill>
              </a:rPr>
              <a:t>Farm Assistant</a:t>
            </a:r>
            <a:endParaRPr lang="en-US" sz="1300" dirty="0"/>
          </a:p>
        </p:txBody>
      </p:sp>
      <p:sp>
        <p:nvSpPr>
          <p:cNvPr id="15" name="tile-1-5"/>
          <p:cNvSpPr/>
          <p:nvPr/>
        </p:nvSpPr>
        <p:spPr>
          <a:xfrm>
            <a:off x="8729472" y="1691640"/>
            <a:ext cx="1295400" cy="640080"/>
          </a:xfrm>
          <a:prstGeom prst="roundRect">
            <a:avLst>
              <a:gd name="adj" fmla="val 11429"/>
            </a:avLst>
          </a:prstGeom>
          <a:solidFill>
            <a:schemeClr val="bg1">
              <a:alpha val="15000"/>
            </a:schemeClr>
          </a:solidFill>
          <a:ln/>
        </p:spPr>
      </p:sp>
      <p:sp>
        <p:nvSpPr>
          <p:cNvPr id="16" name="Text 13"/>
          <p:cNvSpPr txBox="1"/>
          <p:nvPr/>
        </p:nvSpPr>
        <p:spPr>
          <a:xfrm>
            <a:off x="8802624" y="1691640"/>
            <a:ext cx="1149096" cy="640080"/>
          </a:xfrm>
          <a:prstGeom prst="rect">
            <a:avLst/>
          </a:prstGeom>
          <a:noFill/>
          <a:ln/>
        </p:spPr>
        <p:txBody>
          <a:bodyPr wrap="square" lIns="0" tIns="0" rIns="0" bIns="0" rtlCol="0" anchor="ctr"/>
          <a:lstStyle/>
          <a:p>
            <a:pPr algn="ctr" indent="0" marL="0">
              <a:buNone/>
            </a:pPr>
            <a:r>
              <a:rPr lang="en-US" sz="1300" b="1" dirty="0">
                <a:solidFill>
                  <a:schemeClr val="bg1"/>
                </a:solidFill>
              </a:rPr>
              <a:t>PDF Dossier</a:t>
            </a:r>
            <a:endParaRPr lang="en-US" sz="1300" dirty="0"/>
          </a:p>
        </p:txBody>
      </p:sp>
      <p:sp>
        <p:nvSpPr>
          <p:cNvPr id="17" name="tile-1-6"/>
          <p:cNvSpPr/>
          <p:nvPr/>
        </p:nvSpPr>
        <p:spPr>
          <a:xfrm>
            <a:off x="10134600" y="1691640"/>
            <a:ext cx="1295400" cy="640080"/>
          </a:xfrm>
          <a:prstGeom prst="roundRect">
            <a:avLst>
              <a:gd name="adj" fmla="val 11429"/>
            </a:avLst>
          </a:prstGeom>
          <a:solidFill>
            <a:schemeClr val="bg1">
              <a:alpha val="15000"/>
            </a:schemeClr>
          </a:solidFill>
          <a:ln/>
        </p:spPr>
      </p:sp>
      <p:sp>
        <p:nvSpPr>
          <p:cNvPr id="18" name="Text 15"/>
          <p:cNvSpPr txBox="1"/>
          <p:nvPr/>
        </p:nvSpPr>
        <p:spPr>
          <a:xfrm>
            <a:off x="10207752" y="1691640"/>
            <a:ext cx="1149096" cy="640080"/>
          </a:xfrm>
          <a:prstGeom prst="rect">
            <a:avLst/>
          </a:prstGeom>
          <a:noFill/>
          <a:ln/>
        </p:spPr>
        <p:txBody>
          <a:bodyPr wrap="square" lIns="0" tIns="0" rIns="0" bIns="0" rtlCol="0" anchor="ctr"/>
          <a:lstStyle/>
          <a:p>
            <a:pPr algn="ctr" indent="0" marL="0">
              <a:buNone/>
            </a:pPr>
            <a:r>
              <a:rPr lang="en-US" sz="1300" b="1" dirty="0">
                <a:solidFill>
                  <a:schemeClr val="bg1"/>
                </a:solidFill>
              </a:rPr>
              <a:t>Observability Hub</a:t>
            </a:r>
            <a:endParaRPr lang="en-US" sz="1300" dirty="0"/>
          </a:p>
        </p:txBody>
      </p:sp>
      <p:sp>
        <p:nvSpPr>
          <p:cNvPr id="19" name="tier-band-2"/>
          <p:cNvSpPr/>
          <p:nvPr/>
        </p:nvSpPr>
        <p:spPr>
          <a:xfrm>
            <a:off x="548640" y="2697480"/>
            <a:ext cx="11091672" cy="1005840"/>
          </a:xfrm>
          <a:prstGeom prst="roundRect">
            <a:avLst>
              <a:gd name="adj" fmla="val 9091"/>
            </a:avLst>
          </a:prstGeom>
          <a:solidFill>
            <a:schemeClr val="accent1"/>
          </a:solidFill>
          <a:ln/>
        </p:spPr>
      </p:sp>
      <p:sp>
        <p:nvSpPr>
          <p:cNvPr id="20" name="Text 17"/>
          <p:cNvSpPr txBox="1"/>
          <p:nvPr/>
        </p:nvSpPr>
        <p:spPr>
          <a:xfrm>
            <a:off x="777240" y="2898648"/>
            <a:ext cx="2286000" cy="640080"/>
          </a:xfrm>
          <a:prstGeom prst="rect">
            <a:avLst/>
          </a:prstGeom>
          <a:noFill/>
          <a:ln/>
        </p:spPr>
        <p:txBody>
          <a:bodyPr wrap="square" lIns="0" tIns="0" rIns="0" bIns="0" rtlCol="0" anchor="ctr"/>
          <a:lstStyle/>
          <a:p>
            <a:pPr indent="0" marL="0">
              <a:buNone/>
            </a:pPr>
            <a:r>
              <a:rPr lang="en-US" sz="1700" b="1" dirty="0">
                <a:solidFill>
                  <a:schemeClr val="bg1"/>
                </a:solidFill>
              </a:rPr>
              <a:t>2  API Gateway</a:t>
            </a:r>
            <a:endParaRPr lang="en-US" sz="1400" dirty="0"/>
          </a:p>
          <a:p>
            <a:pPr indent="0" marL="0">
              <a:buNone/>
            </a:pPr>
            <a:r>
              <a:rPr lang="en-US" sz="1200" dirty="0">
                <a:solidFill>
                  <a:schemeClr val="bg1"/>
                </a:solidFill>
              </a:rPr>
              <a:t>FastAPI · cached singletons</a:t>
            </a:r>
            <a:endParaRPr lang="en-US" sz="1400" dirty="0"/>
          </a:p>
        </p:txBody>
      </p:sp>
      <p:sp>
        <p:nvSpPr>
          <p:cNvPr id="21" name="tile-2-1"/>
          <p:cNvSpPr/>
          <p:nvPr/>
        </p:nvSpPr>
        <p:spPr>
          <a:xfrm>
            <a:off x="3108960" y="2880360"/>
            <a:ext cx="2700528" cy="640080"/>
          </a:xfrm>
          <a:prstGeom prst="roundRect">
            <a:avLst>
              <a:gd name="adj" fmla="val 11429"/>
            </a:avLst>
          </a:prstGeom>
          <a:solidFill>
            <a:schemeClr val="bg1">
              <a:alpha val="15000"/>
            </a:schemeClr>
          </a:solidFill>
          <a:ln/>
        </p:spPr>
      </p:sp>
      <p:sp>
        <p:nvSpPr>
          <p:cNvPr id="22" name="Text 19"/>
          <p:cNvSpPr txBox="1"/>
          <p:nvPr/>
        </p:nvSpPr>
        <p:spPr>
          <a:xfrm>
            <a:off x="3182112" y="2880360"/>
            <a:ext cx="2554224" cy="640080"/>
          </a:xfrm>
          <a:prstGeom prst="rect">
            <a:avLst/>
          </a:prstGeom>
          <a:noFill/>
          <a:ln/>
        </p:spPr>
        <p:txBody>
          <a:bodyPr wrap="square" lIns="0" tIns="0" rIns="0" bIns="0" rtlCol="0" anchor="ctr"/>
          <a:lstStyle/>
          <a:p>
            <a:pPr algn="ctr" indent="0" marL="0">
              <a:buNone/>
            </a:pPr>
            <a:r>
              <a:rPr lang="en-US" sz="1300" b="1" dirty="0">
                <a:solidFill>
                  <a:schemeClr val="bg1"/>
                </a:solidFill>
              </a:rPr>
              <a:t>Request validation and routing</a:t>
            </a:r>
            <a:endParaRPr lang="en-US" sz="1300" dirty="0"/>
          </a:p>
        </p:txBody>
      </p:sp>
      <p:sp>
        <p:nvSpPr>
          <p:cNvPr id="23" name="tile-2-2"/>
          <p:cNvSpPr/>
          <p:nvPr/>
        </p:nvSpPr>
        <p:spPr>
          <a:xfrm>
            <a:off x="5919216" y="2880360"/>
            <a:ext cx="2700528" cy="640080"/>
          </a:xfrm>
          <a:prstGeom prst="roundRect">
            <a:avLst>
              <a:gd name="adj" fmla="val 11429"/>
            </a:avLst>
          </a:prstGeom>
          <a:solidFill>
            <a:schemeClr val="bg1">
              <a:alpha val="15000"/>
            </a:schemeClr>
          </a:solidFill>
          <a:ln/>
        </p:spPr>
      </p:sp>
      <p:sp>
        <p:nvSpPr>
          <p:cNvPr id="24" name="Text 21"/>
          <p:cNvSpPr txBox="1"/>
          <p:nvPr/>
        </p:nvSpPr>
        <p:spPr>
          <a:xfrm>
            <a:off x="5992368" y="2880360"/>
            <a:ext cx="2554224" cy="640080"/>
          </a:xfrm>
          <a:prstGeom prst="rect">
            <a:avLst/>
          </a:prstGeom>
          <a:noFill/>
          <a:ln/>
        </p:spPr>
        <p:txBody>
          <a:bodyPr wrap="square" lIns="0" tIns="0" rIns="0" bIns="0" rtlCol="0" anchor="ctr"/>
          <a:lstStyle/>
          <a:p>
            <a:pPr algn="ctr" indent="0" marL="0">
              <a:buNone/>
            </a:pPr>
            <a:r>
              <a:rPr lang="en-US" sz="1300" b="1" dirty="0">
                <a:solidFill>
                  <a:schemeClr val="bg1"/>
                </a:solidFill>
              </a:rPr>
              <a:t>Models and indexes loaded once in memory</a:t>
            </a:r>
            <a:endParaRPr lang="en-US" sz="1300" dirty="0"/>
          </a:p>
        </p:txBody>
      </p:sp>
      <p:sp>
        <p:nvSpPr>
          <p:cNvPr id="25" name="tile-2-3"/>
          <p:cNvSpPr/>
          <p:nvPr/>
        </p:nvSpPr>
        <p:spPr>
          <a:xfrm>
            <a:off x="8729472" y="2880360"/>
            <a:ext cx="2700528" cy="640080"/>
          </a:xfrm>
          <a:prstGeom prst="roundRect">
            <a:avLst>
              <a:gd name="adj" fmla="val 11429"/>
            </a:avLst>
          </a:prstGeom>
          <a:solidFill>
            <a:schemeClr val="bg1">
              <a:alpha val="15000"/>
            </a:schemeClr>
          </a:solidFill>
          <a:ln/>
        </p:spPr>
      </p:sp>
      <p:sp>
        <p:nvSpPr>
          <p:cNvPr id="26" name="Text 23"/>
          <p:cNvSpPr txBox="1"/>
          <p:nvPr/>
        </p:nvSpPr>
        <p:spPr>
          <a:xfrm>
            <a:off x="8802624" y="2880360"/>
            <a:ext cx="2554224" cy="640080"/>
          </a:xfrm>
          <a:prstGeom prst="rect">
            <a:avLst/>
          </a:prstGeom>
          <a:noFill/>
          <a:ln/>
        </p:spPr>
        <p:txBody>
          <a:bodyPr wrap="square" lIns="0" tIns="0" rIns="0" bIns="0" rtlCol="0" anchor="ctr"/>
          <a:lstStyle/>
          <a:p>
            <a:pPr algn="ctr" indent="0" marL="0">
              <a:buNone/>
            </a:pPr>
            <a:r>
              <a:rPr lang="en-US" sz="1300" b="1" dirty="0">
                <a:solidFill>
                  <a:schemeClr val="bg1"/>
                </a:solidFill>
              </a:rPr>
              <a:t>Sub-second inference</a:t>
            </a:r>
            <a:endParaRPr lang="en-US" sz="1300" dirty="0"/>
          </a:p>
        </p:txBody>
      </p:sp>
      <p:sp>
        <p:nvSpPr>
          <p:cNvPr id="27" name="tier-band-3"/>
          <p:cNvSpPr/>
          <p:nvPr/>
        </p:nvSpPr>
        <p:spPr>
          <a:xfrm>
            <a:off x="548640" y="3886200"/>
            <a:ext cx="11091672" cy="1005840"/>
          </a:xfrm>
          <a:prstGeom prst="roundRect">
            <a:avLst>
              <a:gd name="adj" fmla="val 9091"/>
            </a:avLst>
          </a:prstGeom>
          <a:solidFill>
            <a:schemeClr val="accent3"/>
          </a:solidFill>
          <a:ln/>
        </p:spPr>
      </p:sp>
      <p:sp>
        <p:nvSpPr>
          <p:cNvPr id="28" name="Text 25"/>
          <p:cNvSpPr txBox="1"/>
          <p:nvPr/>
        </p:nvSpPr>
        <p:spPr>
          <a:xfrm>
            <a:off x="777240" y="4087368"/>
            <a:ext cx="2286000" cy="640080"/>
          </a:xfrm>
          <a:prstGeom prst="rect">
            <a:avLst/>
          </a:prstGeom>
          <a:noFill/>
          <a:ln/>
        </p:spPr>
        <p:txBody>
          <a:bodyPr wrap="square" lIns="0" tIns="0" rIns="0" bIns="0" rtlCol="0" anchor="ctr"/>
          <a:lstStyle/>
          <a:p>
            <a:pPr indent="0" marL="0">
              <a:buNone/>
            </a:pPr>
            <a:r>
              <a:rPr lang="en-US" sz="1700" b="1" dirty="0">
                <a:solidFill>
                  <a:schemeClr val="tx2"/>
                </a:solidFill>
              </a:rPr>
              <a:t>3  Core AI Engines</a:t>
            </a:r>
            <a:endParaRPr lang="en-US" sz="1400" dirty="0"/>
          </a:p>
          <a:p>
            <a:pPr indent="0" marL="0">
              <a:buNone/>
            </a:pPr>
            <a:r>
              <a:rPr lang="en-US" sz="1200" dirty="0">
                <a:solidFill>
                  <a:schemeClr val="tx2"/>
                </a:solidFill>
              </a:rPr>
              <a:t>ML · Vision · RAG · SQL</a:t>
            </a:r>
            <a:endParaRPr lang="en-US" sz="1400" dirty="0"/>
          </a:p>
        </p:txBody>
      </p:sp>
      <p:sp>
        <p:nvSpPr>
          <p:cNvPr id="29" name="tile-3-1"/>
          <p:cNvSpPr/>
          <p:nvPr/>
        </p:nvSpPr>
        <p:spPr>
          <a:xfrm>
            <a:off x="3108960" y="4069080"/>
            <a:ext cx="1997964" cy="640080"/>
          </a:xfrm>
          <a:prstGeom prst="roundRect">
            <a:avLst>
              <a:gd name="adj" fmla="val 11429"/>
            </a:avLst>
          </a:prstGeom>
          <a:solidFill>
            <a:schemeClr val="bg1"/>
          </a:solidFill>
          <a:ln/>
        </p:spPr>
      </p:sp>
      <p:sp>
        <p:nvSpPr>
          <p:cNvPr id="30" name="Text 27"/>
          <p:cNvSpPr txBox="1"/>
          <p:nvPr/>
        </p:nvSpPr>
        <p:spPr>
          <a:xfrm>
            <a:off x="3182112" y="4069080"/>
            <a:ext cx="1851660" cy="640080"/>
          </a:xfrm>
          <a:prstGeom prst="rect">
            <a:avLst/>
          </a:prstGeom>
          <a:noFill/>
          <a:ln/>
        </p:spPr>
        <p:txBody>
          <a:bodyPr wrap="square" lIns="0" tIns="0" rIns="0" bIns="0" rtlCol="0" anchor="ctr"/>
          <a:lstStyle/>
          <a:p>
            <a:pPr algn="ctr" indent="0" marL="0">
              <a:buNone/>
            </a:pPr>
            <a:r>
              <a:rPr lang="en-US" sz="1300" b="1" dirty="0">
                <a:solidFill>
                  <a:schemeClr val="tx2"/>
                </a:solidFill>
              </a:rPr>
              <a:t>ExtraTrees + SHAP</a:t>
            </a:r>
            <a:endParaRPr lang="en-US" sz="1300" dirty="0"/>
          </a:p>
        </p:txBody>
      </p:sp>
      <p:sp>
        <p:nvSpPr>
          <p:cNvPr id="31" name="tile-3-2"/>
          <p:cNvSpPr/>
          <p:nvPr/>
        </p:nvSpPr>
        <p:spPr>
          <a:xfrm>
            <a:off x="5216652" y="4069080"/>
            <a:ext cx="1997964" cy="640080"/>
          </a:xfrm>
          <a:prstGeom prst="roundRect">
            <a:avLst>
              <a:gd name="adj" fmla="val 11429"/>
            </a:avLst>
          </a:prstGeom>
          <a:solidFill>
            <a:schemeClr val="bg1"/>
          </a:solidFill>
          <a:ln/>
        </p:spPr>
      </p:sp>
      <p:sp>
        <p:nvSpPr>
          <p:cNvPr id="32" name="Text 29"/>
          <p:cNvSpPr txBox="1"/>
          <p:nvPr/>
        </p:nvSpPr>
        <p:spPr>
          <a:xfrm>
            <a:off x="5289804" y="4069080"/>
            <a:ext cx="1851660" cy="640080"/>
          </a:xfrm>
          <a:prstGeom prst="rect">
            <a:avLst/>
          </a:prstGeom>
          <a:noFill/>
          <a:ln/>
        </p:spPr>
        <p:txBody>
          <a:bodyPr wrap="square" lIns="0" tIns="0" rIns="0" bIns="0" rtlCol="0" anchor="ctr"/>
          <a:lstStyle/>
          <a:p>
            <a:pPr algn="ctr" indent="0" marL="0">
              <a:buNone/>
            </a:pPr>
            <a:r>
              <a:rPr lang="en-US" sz="1300" b="1" dirty="0">
                <a:solidFill>
                  <a:schemeClr val="tx2"/>
                </a:solidFill>
              </a:rPr>
              <a:t>MobileNetV2 / ResNet50</a:t>
            </a:r>
            <a:endParaRPr lang="en-US" sz="1300" dirty="0"/>
          </a:p>
        </p:txBody>
      </p:sp>
      <p:sp>
        <p:nvSpPr>
          <p:cNvPr id="33" name="tile-3-3"/>
          <p:cNvSpPr/>
          <p:nvPr/>
        </p:nvSpPr>
        <p:spPr>
          <a:xfrm>
            <a:off x="7324344" y="4069080"/>
            <a:ext cx="1997964" cy="640080"/>
          </a:xfrm>
          <a:prstGeom prst="roundRect">
            <a:avLst>
              <a:gd name="adj" fmla="val 11429"/>
            </a:avLst>
          </a:prstGeom>
          <a:solidFill>
            <a:schemeClr val="bg1"/>
          </a:solidFill>
          <a:ln/>
        </p:spPr>
      </p:sp>
      <p:sp>
        <p:nvSpPr>
          <p:cNvPr id="34" name="Text 31"/>
          <p:cNvSpPr txBox="1"/>
          <p:nvPr/>
        </p:nvSpPr>
        <p:spPr>
          <a:xfrm>
            <a:off x="7397496" y="4069080"/>
            <a:ext cx="1851660" cy="640080"/>
          </a:xfrm>
          <a:prstGeom prst="rect">
            <a:avLst/>
          </a:prstGeom>
          <a:noFill/>
          <a:ln/>
        </p:spPr>
        <p:txBody>
          <a:bodyPr wrap="square" lIns="0" tIns="0" rIns="0" bIns="0" rtlCol="0" anchor="ctr"/>
          <a:lstStyle/>
          <a:p>
            <a:pPr algn="ctr" indent="0" marL="0">
              <a:buNone/>
            </a:pPr>
            <a:r>
              <a:rPr lang="en-US" sz="1300" b="1" dirty="0">
                <a:solidFill>
                  <a:schemeClr val="tx2"/>
                </a:solidFill>
              </a:rPr>
              <a:t>ChromaDB + BM25 + RRF</a:t>
            </a:r>
            <a:endParaRPr lang="en-US" sz="1300" dirty="0"/>
          </a:p>
        </p:txBody>
      </p:sp>
      <p:sp>
        <p:nvSpPr>
          <p:cNvPr id="35" name="tile-3-4"/>
          <p:cNvSpPr/>
          <p:nvPr/>
        </p:nvSpPr>
        <p:spPr>
          <a:xfrm>
            <a:off x="9432036" y="4069080"/>
            <a:ext cx="1997964" cy="640080"/>
          </a:xfrm>
          <a:prstGeom prst="roundRect">
            <a:avLst>
              <a:gd name="adj" fmla="val 11429"/>
            </a:avLst>
          </a:prstGeom>
          <a:solidFill>
            <a:schemeClr val="bg1"/>
          </a:solidFill>
          <a:ln/>
        </p:spPr>
      </p:sp>
      <p:sp>
        <p:nvSpPr>
          <p:cNvPr id="36" name="Text 33"/>
          <p:cNvSpPr txBox="1"/>
          <p:nvPr/>
        </p:nvSpPr>
        <p:spPr>
          <a:xfrm>
            <a:off x="9505188" y="4069080"/>
            <a:ext cx="1851660" cy="640080"/>
          </a:xfrm>
          <a:prstGeom prst="rect">
            <a:avLst/>
          </a:prstGeom>
          <a:noFill/>
          <a:ln/>
        </p:spPr>
        <p:txBody>
          <a:bodyPr wrap="square" lIns="0" tIns="0" rIns="0" bIns="0" rtlCol="0" anchor="ctr"/>
          <a:lstStyle/>
          <a:p>
            <a:pPr algn="ctr" indent="0" marL="0">
              <a:buNone/>
            </a:pPr>
            <a:r>
              <a:rPr lang="en-US" sz="1300" b="1" dirty="0">
                <a:solidFill>
                  <a:schemeClr val="tx2"/>
                </a:solidFill>
              </a:rPr>
              <a:t>AST-guarded SQL agent</a:t>
            </a:r>
            <a:endParaRPr lang="en-US" sz="1300" dirty="0"/>
          </a:p>
        </p:txBody>
      </p:sp>
      <p:sp>
        <p:nvSpPr>
          <p:cNvPr id="37" name="tier-band-4"/>
          <p:cNvSpPr/>
          <p:nvPr/>
        </p:nvSpPr>
        <p:spPr>
          <a:xfrm>
            <a:off x="548640" y="5074920"/>
            <a:ext cx="11091672" cy="1005840"/>
          </a:xfrm>
          <a:prstGeom prst="roundRect">
            <a:avLst>
              <a:gd name="adj" fmla="val 9091"/>
            </a:avLst>
          </a:prstGeom>
          <a:solidFill>
            <a:schemeClr val="tx1"/>
          </a:solidFill>
          <a:ln/>
        </p:spPr>
      </p:sp>
      <p:sp>
        <p:nvSpPr>
          <p:cNvPr id="38" name="Text 35"/>
          <p:cNvSpPr txBox="1"/>
          <p:nvPr/>
        </p:nvSpPr>
        <p:spPr>
          <a:xfrm>
            <a:off x="777240" y="5276088"/>
            <a:ext cx="2286000" cy="640080"/>
          </a:xfrm>
          <a:prstGeom prst="rect">
            <a:avLst/>
          </a:prstGeom>
          <a:noFill/>
          <a:ln/>
        </p:spPr>
        <p:txBody>
          <a:bodyPr wrap="square" lIns="0" tIns="0" rIns="0" bIns="0" rtlCol="0" anchor="ctr"/>
          <a:lstStyle/>
          <a:p>
            <a:pPr indent="0" marL="0">
              <a:buNone/>
            </a:pPr>
            <a:r>
              <a:rPr lang="en-US" sz="1700" b="1" dirty="0">
                <a:solidFill>
                  <a:schemeClr val="bg1"/>
                </a:solidFill>
              </a:rPr>
              <a:t>4  Storage &amp; Evaluation</a:t>
            </a:r>
            <a:endParaRPr lang="en-US" sz="1400" dirty="0"/>
          </a:p>
          <a:p>
            <a:pPr indent="0" marL="0">
              <a:buNone/>
            </a:pPr>
            <a:r>
              <a:rPr lang="en-US" sz="1200" dirty="0">
                <a:solidFill>
                  <a:schemeClr val="bg1"/>
                </a:solidFill>
              </a:rPr>
              <a:t>Data, vectors, quality gates</a:t>
            </a:r>
            <a:endParaRPr lang="en-US" sz="1400" dirty="0"/>
          </a:p>
        </p:txBody>
      </p:sp>
      <p:sp>
        <p:nvSpPr>
          <p:cNvPr id="39" name="tile-4-1"/>
          <p:cNvSpPr/>
          <p:nvPr/>
        </p:nvSpPr>
        <p:spPr>
          <a:xfrm>
            <a:off x="3108960" y="5257800"/>
            <a:ext cx="1997964" cy="640080"/>
          </a:xfrm>
          <a:prstGeom prst="roundRect">
            <a:avLst>
              <a:gd name="adj" fmla="val 11429"/>
            </a:avLst>
          </a:prstGeom>
          <a:solidFill>
            <a:schemeClr val="bg1">
              <a:alpha val="15000"/>
            </a:schemeClr>
          </a:solidFill>
          <a:ln/>
        </p:spPr>
      </p:sp>
      <p:sp>
        <p:nvSpPr>
          <p:cNvPr id="40" name="Text 37"/>
          <p:cNvSpPr txBox="1"/>
          <p:nvPr/>
        </p:nvSpPr>
        <p:spPr>
          <a:xfrm>
            <a:off x="3182112" y="5257800"/>
            <a:ext cx="1851660" cy="640080"/>
          </a:xfrm>
          <a:prstGeom prst="rect">
            <a:avLst/>
          </a:prstGeom>
          <a:noFill/>
          <a:ln/>
        </p:spPr>
        <p:txBody>
          <a:bodyPr wrap="square" lIns="0" tIns="0" rIns="0" bIns="0" rtlCol="0" anchor="ctr"/>
          <a:lstStyle/>
          <a:p>
            <a:pPr algn="ctr" indent="0" marL="0">
              <a:buNone/>
            </a:pPr>
            <a:r>
              <a:rPr lang="en-US" sz="1300" b="1" dirty="0">
                <a:solidFill>
                  <a:schemeClr val="bg1"/>
                </a:solidFill>
              </a:rPr>
              <a:t>farmer_profile.db</a:t>
            </a:r>
            <a:endParaRPr lang="en-US" sz="1300" dirty="0"/>
          </a:p>
        </p:txBody>
      </p:sp>
      <p:sp>
        <p:nvSpPr>
          <p:cNvPr id="41" name="tile-4-2"/>
          <p:cNvSpPr/>
          <p:nvPr/>
        </p:nvSpPr>
        <p:spPr>
          <a:xfrm>
            <a:off x="5216652" y="5257800"/>
            <a:ext cx="1997964" cy="640080"/>
          </a:xfrm>
          <a:prstGeom prst="roundRect">
            <a:avLst>
              <a:gd name="adj" fmla="val 11429"/>
            </a:avLst>
          </a:prstGeom>
          <a:solidFill>
            <a:schemeClr val="bg1">
              <a:alpha val="15000"/>
            </a:schemeClr>
          </a:solidFill>
          <a:ln/>
        </p:spPr>
      </p:sp>
      <p:sp>
        <p:nvSpPr>
          <p:cNvPr id="42" name="Text 39"/>
          <p:cNvSpPr txBox="1"/>
          <p:nvPr/>
        </p:nvSpPr>
        <p:spPr>
          <a:xfrm>
            <a:off x="5289804" y="5257800"/>
            <a:ext cx="1851660" cy="640080"/>
          </a:xfrm>
          <a:prstGeom prst="rect">
            <a:avLst/>
          </a:prstGeom>
          <a:noFill/>
          <a:ln/>
        </p:spPr>
        <p:txBody>
          <a:bodyPr wrap="square" lIns="0" tIns="0" rIns="0" bIns="0" rtlCol="0" anchor="ctr"/>
          <a:lstStyle/>
          <a:p>
            <a:pPr algn="ctr" indent="0" marL="0">
              <a:buNone/>
            </a:pPr>
            <a:r>
              <a:rPr lang="en-US" sz="1300" b="1" dirty="0">
                <a:solidFill>
                  <a:schemeClr val="bg1"/>
                </a:solidFill>
              </a:rPr>
              <a:t>ChromaDB vectorstore</a:t>
            </a:r>
            <a:endParaRPr lang="en-US" sz="1300" dirty="0"/>
          </a:p>
        </p:txBody>
      </p:sp>
      <p:sp>
        <p:nvSpPr>
          <p:cNvPr id="43" name="tile-4-3"/>
          <p:cNvSpPr/>
          <p:nvPr/>
        </p:nvSpPr>
        <p:spPr>
          <a:xfrm>
            <a:off x="7324344" y="5257800"/>
            <a:ext cx="1997964" cy="640080"/>
          </a:xfrm>
          <a:prstGeom prst="roundRect">
            <a:avLst>
              <a:gd name="adj" fmla="val 11429"/>
            </a:avLst>
          </a:prstGeom>
          <a:solidFill>
            <a:schemeClr val="bg1">
              <a:alpha val="15000"/>
            </a:schemeClr>
          </a:solidFill>
          <a:ln/>
        </p:spPr>
      </p:sp>
      <p:sp>
        <p:nvSpPr>
          <p:cNvPr id="44" name="Text 41"/>
          <p:cNvSpPr txBox="1"/>
          <p:nvPr/>
        </p:nvSpPr>
        <p:spPr>
          <a:xfrm>
            <a:off x="7397496" y="5257800"/>
            <a:ext cx="1851660" cy="640080"/>
          </a:xfrm>
          <a:prstGeom prst="rect">
            <a:avLst/>
          </a:prstGeom>
          <a:noFill/>
          <a:ln/>
        </p:spPr>
        <p:txBody>
          <a:bodyPr wrap="square" lIns="0" tIns="0" rIns="0" bIns="0" rtlCol="0" anchor="ctr"/>
          <a:lstStyle/>
          <a:p>
            <a:pPr algn="ctr" indent="0" marL="0">
              <a:buNone/>
            </a:pPr>
            <a:r>
              <a:rPr lang="en-US" sz="1300" b="1" dirty="0">
                <a:solidFill>
                  <a:schemeClr val="bg1"/>
                </a:solidFill>
              </a:rPr>
              <a:t>Model artifacts</a:t>
            </a:r>
            <a:endParaRPr lang="en-US" sz="1300" dirty="0"/>
          </a:p>
        </p:txBody>
      </p:sp>
      <p:sp>
        <p:nvSpPr>
          <p:cNvPr id="45" name="tile-4-4"/>
          <p:cNvSpPr/>
          <p:nvPr/>
        </p:nvSpPr>
        <p:spPr>
          <a:xfrm>
            <a:off x="9432036" y="5257800"/>
            <a:ext cx="1997964" cy="640080"/>
          </a:xfrm>
          <a:prstGeom prst="roundRect">
            <a:avLst>
              <a:gd name="adj" fmla="val 11429"/>
            </a:avLst>
          </a:prstGeom>
          <a:solidFill>
            <a:schemeClr val="bg1">
              <a:alpha val="15000"/>
            </a:schemeClr>
          </a:solidFill>
          <a:ln/>
        </p:spPr>
      </p:sp>
      <p:sp>
        <p:nvSpPr>
          <p:cNvPr id="46" name="Text 43"/>
          <p:cNvSpPr txBox="1"/>
          <p:nvPr/>
        </p:nvSpPr>
        <p:spPr>
          <a:xfrm>
            <a:off x="9505188" y="5257800"/>
            <a:ext cx="1851660" cy="640080"/>
          </a:xfrm>
          <a:prstGeom prst="rect">
            <a:avLst/>
          </a:prstGeom>
          <a:noFill/>
          <a:ln/>
        </p:spPr>
        <p:txBody>
          <a:bodyPr wrap="square" lIns="0" tIns="0" rIns="0" bIns="0" rtlCol="0" anchor="ctr"/>
          <a:lstStyle/>
          <a:p>
            <a:pPr algn="ctr" indent="0" marL="0">
              <a:buNone/>
            </a:pPr>
            <a:r>
              <a:rPr lang="en-US" sz="1300" b="1" dirty="0">
                <a:solidFill>
                  <a:schemeClr val="bg1"/>
                </a:solidFill>
              </a:rPr>
              <a:t>DeepEval / Ragas suite</a:t>
            </a:r>
            <a:endParaRPr lang="en-US" sz="13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Data Flow</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From raw datasets and manuals to calibrated, cited, explainable outputs</a:t>
            </a:r>
            <a:endParaRPr lang="en-US" sz="1600" dirty="0"/>
          </a:p>
        </p:txBody>
      </p:sp>
      <p:sp>
        <p:nvSpPr>
          <p:cNvPr id="5" name="col-head-1"/>
          <p:cNvSpPr/>
          <p:nvPr/>
        </p:nvSpPr>
        <p:spPr>
          <a:xfrm>
            <a:off x="548640" y="1508760"/>
            <a:ext cx="2468880" cy="457200"/>
          </a:xfrm>
          <a:prstGeom prst="roundRect">
            <a:avLst>
              <a:gd name="adj" fmla="val 20000"/>
            </a:avLst>
          </a:prstGeom>
          <a:solidFill>
            <a:schemeClr val="tx1"/>
          </a:solidFill>
          <a:ln/>
        </p:spPr>
      </p:sp>
      <p:sp>
        <p:nvSpPr>
          <p:cNvPr id="6" name="Text 3"/>
          <p:cNvSpPr txBox="1"/>
          <p:nvPr/>
        </p:nvSpPr>
        <p:spPr>
          <a:xfrm>
            <a:off x="548640" y="1508760"/>
            <a:ext cx="2468880" cy="457200"/>
          </a:xfrm>
          <a:prstGeom prst="rect">
            <a:avLst/>
          </a:prstGeom>
          <a:noFill/>
          <a:ln/>
        </p:spPr>
        <p:txBody>
          <a:bodyPr wrap="square" lIns="0" tIns="0" rIns="0" bIns="0" rtlCol="0" anchor="ctr"/>
          <a:lstStyle/>
          <a:p>
            <a:pPr algn="ctr" indent="0" marL="0">
              <a:buNone/>
            </a:pPr>
            <a:r>
              <a:rPr lang="en-US" sz="1600" b="1" dirty="0">
                <a:solidFill>
                  <a:schemeClr val="bg1"/>
                </a:solidFill>
              </a:rPr>
              <a:t>1  Sources</a:t>
            </a:r>
            <a:endParaRPr lang="en-US" sz="1600" dirty="0"/>
          </a:p>
        </p:txBody>
      </p:sp>
      <p:sp>
        <p:nvSpPr>
          <p:cNvPr id="7" name="Shape 4"/>
          <p:cNvSpPr/>
          <p:nvPr/>
        </p:nvSpPr>
        <p:spPr>
          <a:xfrm>
            <a:off x="3072384" y="1581912"/>
            <a:ext cx="292608" cy="310896"/>
          </a:xfrm>
          <a:prstGeom prst="rightArrow">
            <a:avLst/>
          </a:prstGeom>
          <a:solidFill>
            <a:schemeClr val="accent1"/>
          </a:solidFill>
          <a:ln/>
        </p:spPr>
      </p:sp>
      <p:sp>
        <p:nvSpPr>
          <p:cNvPr id="8" name="flow-tile-1-1"/>
          <p:cNvSpPr/>
          <p:nvPr/>
        </p:nvSpPr>
        <p:spPr>
          <a:xfrm>
            <a:off x="548640" y="2148840"/>
            <a:ext cx="2468880" cy="566928"/>
          </a:xfrm>
          <a:prstGeom prst="roundRect">
            <a:avLst>
              <a:gd name="adj" fmla="val 12903"/>
            </a:avLst>
          </a:prstGeom>
          <a:solidFill>
            <a:schemeClr val="accent3">
              <a:alpha val="65000"/>
            </a:schemeClr>
          </a:solidFill>
          <a:ln/>
        </p:spPr>
      </p:sp>
      <p:sp>
        <p:nvSpPr>
          <p:cNvPr id="9" name="Text 6"/>
          <p:cNvSpPr txBox="1"/>
          <p:nvPr/>
        </p:nvSpPr>
        <p:spPr>
          <a:xfrm>
            <a:off x="640080" y="2148840"/>
            <a:ext cx="2286000" cy="566928"/>
          </a:xfrm>
          <a:prstGeom prst="rect">
            <a:avLst/>
          </a:prstGeom>
          <a:noFill/>
          <a:ln/>
        </p:spPr>
        <p:txBody>
          <a:bodyPr wrap="square" lIns="0" tIns="0" rIns="0" bIns="0" rtlCol="0" anchor="ctr"/>
          <a:lstStyle/>
          <a:p>
            <a:pPr algn="ctr" indent="0" marL="0">
              <a:buNone/>
            </a:pPr>
            <a:r>
              <a:rPr lang="en-US" sz="1300" b="1" dirty="0">
                <a:solidFill>
                  <a:schemeClr val="tx2"/>
                </a:solidFill>
              </a:rPr>
              <a:t>crop_yield.csv</a:t>
            </a:r>
            <a:endParaRPr lang="en-US" sz="1300" dirty="0"/>
          </a:p>
        </p:txBody>
      </p:sp>
      <p:sp>
        <p:nvSpPr>
          <p:cNvPr id="10" name="flow-tile-1-2"/>
          <p:cNvSpPr/>
          <p:nvPr/>
        </p:nvSpPr>
        <p:spPr>
          <a:xfrm>
            <a:off x="548640" y="2807208"/>
            <a:ext cx="2468880" cy="566928"/>
          </a:xfrm>
          <a:prstGeom prst="roundRect">
            <a:avLst>
              <a:gd name="adj" fmla="val 12903"/>
            </a:avLst>
          </a:prstGeom>
          <a:solidFill>
            <a:schemeClr val="accent3">
              <a:alpha val="65000"/>
            </a:schemeClr>
          </a:solidFill>
          <a:ln/>
        </p:spPr>
      </p:sp>
      <p:sp>
        <p:nvSpPr>
          <p:cNvPr id="11" name="Text 8"/>
          <p:cNvSpPr txBox="1"/>
          <p:nvPr/>
        </p:nvSpPr>
        <p:spPr>
          <a:xfrm>
            <a:off x="640080" y="2807208"/>
            <a:ext cx="2286000" cy="566928"/>
          </a:xfrm>
          <a:prstGeom prst="rect">
            <a:avLst/>
          </a:prstGeom>
          <a:noFill/>
          <a:ln/>
        </p:spPr>
        <p:txBody>
          <a:bodyPr wrap="square" lIns="0" tIns="0" rIns="0" bIns="0" rtlCol="0" anchor="ctr"/>
          <a:lstStyle/>
          <a:p>
            <a:pPr algn="ctr" indent="0" marL="0">
              <a:buNone/>
            </a:pPr>
            <a:r>
              <a:rPr lang="en-US" sz="1300" b="1" dirty="0">
                <a:solidFill>
                  <a:schemeClr val="tx2"/>
                </a:solidFill>
              </a:rPr>
              <a:t>state_soil_data.csv</a:t>
            </a:r>
            <a:endParaRPr lang="en-US" sz="1300" dirty="0"/>
          </a:p>
        </p:txBody>
      </p:sp>
      <p:sp>
        <p:nvSpPr>
          <p:cNvPr id="12" name="flow-tile-1-3"/>
          <p:cNvSpPr/>
          <p:nvPr/>
        </p:nvSpPr>
        <p:spPr>
          <a:xfrm>
            <a:off x="548640" y="3465576"/>
            <a:ext cx="2468880" cy="566928"/>
          </a:xfrm>
          <a:prstGeom prst="roundRect">
            <a:avLst>
              <a:gd name="adj" fmla="val 12903"/>
            </a:avLst>
          </a:prstGeom>
          <a:solidFill>
            <a:schemeClr val="accent3">
              <a:alpha val="65000"/>
            </a:schemeClr>
          </a:solidFill>
          <a:ln/>
        </p:spPr>
      </p:sp>
      <p:sp>
        <p:nvSpPr>
          <p:cNvPr id="13" name="Text 10"/>
          <p:cNvSpPr txBox="1"/>
          <p:nvPr/>
        </p:nvSpPr>
        <p:spPr>
          <a:xfrm>
            <a:off x="640080" y="3465576"/>
            <a:ext cx="2286000" cy="566928"/>
          </a:xfrm>
          <a:prstGeom prst="rect">
            <a:avLst/>
          </a:prstGeom>
          <a:noFill/>
          <a:ln/>
        </p:spPr>
        <p:txBody>
          <a:bodyPr wrap="square" lIns="0" tIns="0" rIns="0" bIns="0" rtlCol="0" anchor="ctr"/>
          <a:lstStyle/>
          <a:p>
            <a:pPr algn="ctr" indent="0" marL="0">
              <a:buNone/>
            </a:pPr>
            <a:r>
              <a:rPr lang="en-US" sz="1300" b="1" dirty="0">
                <a:solidFill>
                  <a:schemeClr val="tx2"/>
                </a:solidFill>
              </a:rPr>
              <a:t>state_weather_data_1997_2020.csv</a:t>
            </a:r>
            <a:endParaRPr lang="en-US" sz="1300" dirty="0"/>
          </a:p>
        </p:txBody>
      </p:sp>
      <p:sp>
        <p:nvSpPr>
          <p:cNvPr id="14" name="flow-tile-1-4"/>
          <p:cNvSpPr/>
          <p:nvPr/>
        </p:nvSpPr>
        <p:spPr>
          <a:xfrm>
            <a:off x="548640" y="4123944"/>
            <a:ext cx="2468880" cy="566928"/>
          </a:xfrm>
          <a:prstGeom prst="roundRect">
            <a:avLst>
              <a:gd name="adj" fmla="val 12903"/>
            </a:avLst>
          </a:prstGeom>
          <a:solidFill>
            <a:schemeClr val="accent3">
              <a:alpha val="65000"/>
            </a:schemeClr>
          </a:solidFill>
          <a:ln/>
        </p:spPr>
      </p:sp>
      <p:sp>
        <p:nvSpPr>
          <p:cNvPr id="15" name="Text 12"/>
          <p:cNvSpPr txBox="1"/>
          <p:nvPr/>
        </p:nvSpPr>
        <p:spPr>
          <a:xfrm>
            <a:off x="640080" y="4123944"/>
            <a:ext cx="2286000" cy="566928"/>
          </a:xfrm>
          <a:prstGeom prst="rect">
            <a:avLst/>
          </a:prstGeom>
          <a:noFill/>
          <a:ln/>
        </p:spPr>
        <p:txBody>
          <a:bodyPr wrap="square" lIns="0" tIns="0" rIns="0" bIns="0" rtlCol="0" anchor="ctr"/>
          <a:lstStyle/>
          <a:p>
            <a:pPr algn="ctr" indent="0" marL="0">
              <a:buNone/>
            </a:pPr>
            <a:r>
              <a:rPr lang="en-US" sz="1300" b="1" dirty="0">
                <a:solidFill>
                  <a:schemeClr val="tx2"/>
                </a:solidFill>
              </a:rPr>
              <a:t>4 ICAR &amp; MANAGE manuals</a:t>
            </a:r>
            <a:endParaRPr lang="en-US" sz="1300" dirty="0"/>
          </a:p>
        </p:txBody>
      </p:sp>
      <p:sp>
        <p:nvSpPr>
          <p:cNvPr id="16" name="flow-tile-1-5"/>
          <p:cNvSpPr/>
          <p:nvPr/>
        </p:nvSpPr>
        <p:spPr>
          <a:xfrm>
            <a:off x="548640" y="4782312"/>
            <a:ext cx="2468880" cy="566928"/>
          </a:xfrm>
          <a:prstGeom prst="roundRect">
            <a:avLst>
              <a:gd name="adj" fmla="val 12903"/>
            </a:avLst>
          </a:prstGeom>
          <a:solidFill>
            <a:schemeClr val="accent3">
              <a:alpha val="65000"/>
            </a:schemeClr>
          </a:solidFill>
          <a:ln/>
        </p:spPr>
      </p:sp>
      <p:sp>
        <p:nvSpPr>
          <p:cNvPr id="17" name="Text 14"/>
          <p:cNvSpPr txBox="1"/>
          <p:nvPr/>
        </p:nvSpPr>
        <p:spPr>
          <a:xfrm>
            <a:off x="640080" y="4782312"/>
            <a:ext cx="2286000" cy="566928"/>
          </a:xfrm>
          <a:prstGeom prst="rect">
            <a:avLst/>
          </a:prstGeom>
          <a:noFill/>
          <a:ln/>
        </p:spPr>
        <p:txBody>
          <a:bodyPr wrap="square" lIns="0" tIns="0" rIns="0" bIns="0" rtlCol="0" anchor="ctr"/>
          <a:lstStyle/>
          <a:p>
            <a:pPr algn="ctr" indent="0" marL="0">
              <a:buNone/>
            </a:pPr>
            <a:r>
              <a:rPr lang="en-US" sz="1300" b="1" dirty="0">
                <a:solidFill>
                  <a:schemeClr val="tx2"/>
                </a:solidFill>
              </a:rPr>
              <a:t>Farmer inputs and leaf photos</a:t>
            </a:r>
            <a:endParaRPr lang="en-US" sz="1300" dirty="0"/>
          </a:p>
        </p:txBody>
      </p:sp>
      <p:sp>
        <p:nvSpPr>
          <p:cNvPr id="18" name="flow-tile-1-6"/>
          <p:cNvSpPr/>
          <p:nvPr/>
        </p:nvSpPr>
        <p:spPr>
          <a:xfrm>
            <a:off x="548640" y="5440680"/>
            <a:ext cx="2468880" cy="566928"/>
          </a:xfrm>
          <a:prstGeom prst="roundRect">
            <a:avLst>
              <a:gd name="adj" fmla="val 12903"/>
            </a:avLst>
          </a:prstGeom>
          <a:solidFill>
            <a:schemeClr val="accent3">
              <a:alpha val="65000"/>
            </a:schemeClr>
          </a:solidFill>
          <a:ln/>
        </p:spPr>
      </p:sp>
      <p:sp>
        <p:nvSpPr>
          <p:cNvPr id="19" name="Text 16"/>
          <p:cNvSpPr txBox="1"/>
          <p:nvPr/>
        </p:nvSpPr>
        <p:spPr>
          <a:xfrm>
            <a:off x="640080" y="5440680"/>
            <a:ext cx="2286000" cy="566928"/>
          </a:xfrm>
          <a:prstGeom prst="rect">
            <a:avLst/>
          </a:prstGeom>
          <a:noFill/>
          <a:ln/>
        </p:spPr>
        <p:txBody>
          <a:bodyPr wrap="square" lIns="0" tIns="0" rIns="0" bIns="0" rtlCol="0" anchor="ctr"/>
          <a:lstStyle/>
          <a:p>
            <a:pPr algn="ctr" indent="0" marL="0">
              <a:buNone/>
            </a:pPr>
            <a:r>
              <a:rPr lang="en-US" sz="1300" b="1" dirty="0">
                <a:solidFill>
                  <a:schemeClr val="tx2"/>
                </a:solidFill>
              </a:rPr>
              <a:t>farmer_profile.db</a:t>
            </a:r>
            <a:endParaRPr lang="en-US" sz="1300" dirty="0"/>
          </a:p>
        </p:txBody>
      </p:sp>
      <p:sp>
        <p:nvSpPr>
          <p:cNvPr id="20" name="col-head-2"/>
          <p:cNvSpPr/>
          <p:nvPr/>
        </p:nvSpPr>
        <p:spPr>
          <a:xfrm>
            <a:off x="3419856" y="1508760"/>
            <a:ext cx="2468880" cy="457200"/>
          </a:xfrm>
          <a:prstGeom prst="roundRect">
            <a:avLst>
              <a:gd name="adj" fmla="val 20000"/>
            </a:avLst>
          </a:prstGeom>
          <a:solidFill>
            <a:schemeClr val="accent1"/>
          </a:solidFill>
          <a:ln/>
        </p:spPr>
      </p:sp>
      <p:sp>
        <p:nvSpPr>
          <p:cNvPr id="21" name="Text 18"/>
          <p:cNvSpPr txBox="1"/>
          <p:nvPr/>
        </p:nvSpPr>
        <p:spPr>
          <a:xfrm>
            <a:off x="3419856" y="1508760"/>
            <a:ext cx="2468880" cy="457200"/>
          </a:xfrm>
          <a:prstGeom prst="rect">
            <a:avLst/>
          </a:prstGeom>
          <a:noFill/>
          <a:ln/>
        </p:spPr>
        <p:txBody>
          <a:bodyPr wrap="square" lIns="0" tIns="0" rIns="0" bIns="0" rtlCol="0" anchor="ctr"/>
          <a:lstStyle/>
          <a:p>
            <a:pPr algn="ctr" indent="0" marL="0">
              <a:buNone/>
            </a:pPr>
            <a:r>
              <a:rPr lang="en-US" sz="1600" b="1" dirty="0">
                <a:solidFill>
                  <a:schemeClr val="bg1"/>
                </a:solidFill>
              </a:rPr>
              <a:t>2  Processing</a:t>
            </a:r>
            <a:endParaRPr lang="en-US" sz="1600" dirty="0"/>
          </a:p>
        </p:txBody>
      </p:sp>
      <p:sp>
        <p:nvSpPr>
          <p:cNvPr id="22" name="Shape 19"/>
          <p:cNvSpPr/>
          <p:nvPr/>
        </p:nvSpPr>
        <p:spPr>
          <a:xfrm>
            <a:off x="5943600" y="1581912"/>
            <a:ext cx="292608" cy="310896"/>
          </a:xfrm>
          <a:prstGeom prst="rightArrow">
            <a:avLst/>
          </a:prstGeom>
          <a:solidFill>
            <a:schemeClr val="accent1"/>
          </a:solidFill>
          <a:ln/>
        </p:spPr>
      </p:sp>
      <p:sp>
        <p:nvSpPr>
          <p:cNvPr id="23" name="flow-tile-2-1"/>
          <p:cNvSpPr/>
          <p:nvPr/>
        </p:nvSpPr>
        <p:spPr>
          <a:xfrm>
            <a:off x="3419856" y="2148840"/>
            <a:ext cx="2468880" cy="694944"/>
          </a:xfrm>
          <a:prstGeom prst="roundRect">
            <a:avLst>
              <a:gd name="adj" fmla="val 10526"/>
            </a:avLst>
          </a:prstGeom>
          <a:solidFill>
            <a:schemeClr val="accent3">
              <a:alpha val="65000"/>
            </a:schemeClr>
          </a:solidFill>
          <a:ln/>
        </p:spPr>
      </p:sp>
      <p:sp>
        <p:nvSpPr>
          <p:cNvPr id="24" name="Text 21"/>
          <p:cNvSpPr txBox="1"/>
          <p:nvPr/>
        </p:nvSpPr>
        <p:spPr>
          <a:xfrm>
            <a:off x="3511296" y="2148840"/>
            <a:ext cx="2286000" cy="694944"/>
          </a:xfrm>
          <a:prstGeom prst="rect">
            <a:avLst/>
          </a:prstGeom>
          <a:noFill/>
          <a:ln/>
        </p:spPr>
        <p:txBody>
          <a:bodyPr wrap="square" lIns="0" tIns="0" rIns="0" bIns="0" rtlCol="0" anchor="ctr"/>
          <a:lstStyle/>
          <a:p>
            <a:pPr algn="ctr" indent="0" marL="0">
              <a:buNone/>
            </a:pPr>
            <a:r>
              <a:rPr lang="en-US" sz="1300" b="1" dirty="0">
                <a:solidFill>
                  <a:schemeClr val="tx2"/>
                </a:solidFill>
              </a:rPr>
              <a:t>Merge into 19,689 records</a:t>
            </a:r>
            <a:endParaRPr lang="en-US" sz="1300" dirty="0"/>
          </a:p>
        </p:txBody>
      </p:sp>
      <p:sp>
        <p:nvSpPr>
          <p:cNvPr id="25" name="flow-tile-2-2"/>
          <p:cNvSpPr/>
          <p:nvPr/>
        </p:nvSpPr>
        <p:spPr>
          <a:xfrm>
            <a:off x="3419856" y="2935224"/>
            <a:ext cx="2468880" cy="694944"/>
          </a:xfrm>
          <a:prstGeom prst="roundRect">
            <a:avLst>
              <a:gd name="adj" fmla="val 10526"/>
            </a:avLst>
          </a:prstGeom>
          <a:solidFill>
            <a:schemeClr val="accent3">
              <a:alpha val="65000"/>
            </a:schemeClr>
          </a:solidFill>
          <a:ln/>
        </p:spPr>
      </p:sp>
      <p:sp>
        <p:nvSpPr>
          <p:cNvPr id="26" name="Text 23"/>
          <p:cNvSpPr txBox="1"/>
          <p:nvPr/>
        </p:nvSpPr>
        <p:spPr>
          <a:xfrm>
            <a:off x="3511296" y="2935224"/>
            <a:ext cx="2286000" cy="694944"/>
          </a:xfrm>
          <a:prstGeom prst="rect">
            <a:avLst/>
          </a:prstGeom>
          <a:noFill/>
          <a:ln/>
        </p:spPr>
        <p:txBody>
          <a:bodyPr wrap="square" lIns="0" tIns="0" rIns="0" bIns="0" rtlCol="0" anchor="ctr"/>
          <a:lstStyle/>
          <a:p>
            <a:pPr algn="ctr" indent="0" marL="0">
              <a:buNone/>
            </a:pPr>
            <a:r>
              <a:rPr lang="en-US" sz="1300" b="1" dirty="0">
                <a:solidFill>
                  <a:schemeClr val="tx2"/>
                </a:solidFill>
              </a:rPr>
              <a:t>Train ExtraTrees, sigmoid-calibrate</a:t>
            </a:r>
            <a:endParaRPr lang="en-US" sz="1300" dirty="0"/>
          </a:p>
        </p:txBody>
      </p:sp>
      <p:sp>
        <p:nvSpPr>
          <p:cNvPr id="27" name="flow-tile-2-3"/>
          <p:cNvSpPr/>
          <p:nvPr/>
        </p:nvSpPr>
        <p:spPr>
          <a:xfrm>
            <a:off x="3419856" y="3721608"/>
            <a:ext cx="2468880" cy="694944"/>
          </a:xfrm>
          <a:prstGeom prst="roundRect">
            <a:avLst>
              <a:gd name="adj" fmla="val 10526"/>
            </a:avLst>
          </a:prstGeom>
          <a:solidFill>
            <a:schemeClr val="accent3">
              <a:alpha val="65000"/>
            </a:schemeClr>
          </a:solidFill>
          <a:ln/>
        </p:spPr>
      </p:sp>
      <p:sp>
        <p:nvSpPr>
          <p:cNvPr id="28" name="Text 25"/>
          <p:cNvSpPr txBox="1"/>
          <p:nvPr/>
        </p:nvSpPr>
        <p:spPr>
          <a:xfrm>
            <a:off x="3511296" y="3721608"/>
            <a:ext cx="2286000" cy="694944"/>
          </a:xfrm>
          <a:prstGeom prst="rect">
            <a:avLst/>
          </a:prstGeom>
          <a:noFill/>
          <a:ln/>
        </p:spPr>
        <p:txBody>
          <a:bodyPr wrap="square" lIns="0" tIns="0" rIns="0" bIns="0" rtlCol="0" anchor="ctr"/>
          <a:lstStyle/>
          <a:p>
            <a:pPr algn="ctr" indent="0" marL="0">
              <a:buNone/>
            </a:pPr>
            <a:r>
              <a:rPr lang="en-US" sz="1300" b="1" dirty="0">
                <a:solidFill>
                  <a:schemeClr val="tx2"/>
                </a:solidFill>
              </a:rPr>
              <a:t>Chunk and embed: 2,892 chunks</a:t>
            </a:r>
            <a:endParaRPr lang="en-US" sz="1300" dirty="0"/>
          </a:p>
        </p:txBody>
      </p:sp>
      <p:sp>
        <p:nvSpPr>
          <p:cNvPr id="29" name="flow-tile-2-4"/>
          <p:cNvSpPr/>
          <p:nvPr/>
        </p:nvSpPr>
        <p:spPr>
          <a:xfrm>
            <a:off x="3419856" y="4507992"/>
            <a:ext cx="2468880" cy="694944"/>
          </a:xfrm>
          <a:prstGeom prst="roundRect">
            <a:avLst>
              <a:gd name="adj" fmla="val 10526"/>
            </a:avLst>
          </a:prstGeom>
          <a:solidFill>
            <a:schemeClr val="accent3">
              <a:alpha val="65000"/>
            </a:schemeClr>
          </a:solidFill>
          <a:ln/>
        </p:spPr>
      </p:sp>
      <p:sp>
        <p:nvSpPr>
          <p:cNvPr id="30" name="Text 27"/>
          <p:cNvSpPr txBox="1"/>
          <p:nvPr/>
        </p:nvSpPr>
        <p:spPr>
          <a:xfrm>
            <a:off x="3511296" y="4507992"/>
            <a:ext cx="2286000" cy="694944"/>
          </a:xfrm>
          <a:prstGeom prst="rect">
            <a:avLst/>
          </a:prstGeom>
          <a:noFill/>
          <a:ln/>
        </p:spPr>
        <p:txBody>
          <a:bodyPr wrap="square" lIns="0" tIns="0" rIns="0" bIns="0" rtlCol="0" anchor="ctr"/>
          <a:lstStyle/>
          <a:p>
            <a:pPr algn="ctr" indent="0" marL="0">
              <a:buNone/>
            </a:pPr>
            <a:r>
              <a:rPr lang="en-US" sz="1300" b="1" dirty="0">
                <a:solidFill>
                  <a:schemeClr val="tx2"/>
                </a:solidFill>
              </a:rPr>
              <a:t>Build BM25 lexical index</a:t>
            </a:r>
            <a:endParaRPr lang="en-US" sz="1300" dirty="0"/>
          </a:p>
        </p:txBody>
      </p:sp>
      <p:sp>
        <p:nvSpPr>
          <p:cNvPr id="31" name="flow-tile-2-5"/>
          <p:cNvSpPr/>
          <p:nvPr/>
        </p:nvSpPr>
        <p:spPr>
          <a:xfrm>
            <a:off x="3419856" y="5294376"/>
            <a:ext cx="2468880" cy="694944"/>
          </a:xfrm>
          <a:prstGeom prst="roundRect">
            <a:avLst>
              <a:gd name="adj" fmla="val 10526"/>
            </a:avLst>
          </a:prstGeom>
          <a:solidFill>
            <a:schemeClr val="accent3">
              <a:alpha val="65000"/>
            </a:schemeClr>
          </a:solidFill>
          <a:ln/>
        </p:spPr>
      </p:sp>
      <p:sp>
        <p:nvSpPr>
          <p:cNvPr id="32" name="Text 29"/>
          <p:cNvSpPr txBox="1"/>
          <p:nvPr/>
        </p:nvSpPr>
        <p:spPr>
          <a:xfrm>
            <a:off x="3511296" y="5294376"/>
            <a:ext cx="2286000" cy="694944"/>
          </a:xfrm>
          <a:prstGeom prst="rect">
            <a:avLst/>
          </a:prstGeom>
          <a:noFill/>
          <a:ln/>
        </p:spPr>
        <p:txBody>
          <a:bodyPr wrap="square" lIns="0" tIns="0" rIns="0" bIns="0" rtlCol="0" anchor="ctr"/>
          <a:lstStyle/>
          <a:p>
            <a:pPr algn="ctr" indent="0" marL="0">
              <a:buNone/>
            </a:pPr>
            <a:r>
              <a:rPr lang="en-US" sz="1300" b="1" dirty="0">
                <a:solidFill>
                  <a:schemeClr val="tx2"/>
                </a:solidFill>
              </a:rPr>
              <a:t>Validate generated SQL via AST</a:t>
            </a:r>
            <a:endParaRPr lang="en-US" sz="1300" dirty="0"/>
          </a:p>
        </p:txBody>
      </p:sp>
      <p:sp>
        <p:nvSpPr>
          <p:cNvPr id="33" name="col-head-3"/>
          <p:cNvSpPr/>
          <p:nvPr/>
        </p:nvSpPr>
        <p:spPr>
          <a:xfrm>
            <a:off x="6291072" y="1508760"/>
            <a:ext cx="2468880" cy="457200"/>
          </a:xfrm>
          <a:prstGeom prst="roundRect">
            <a:avLst>
              <a:gd name="adj" fmla="val 20000"/>
            </a:avLst>
          </a:prstGeom>
          <a:solidFill>
            <a:schemeClr val="tx2"/>
          </a:solidFill>
          <a:ln/>
        </p:spPr>
      </p:sp>
      <p:sp>
        <p:nvSpPr>
          <p:cNvPr id="34" name="Text 31"/>
          <p:cNvSpPr txBox="1"/>
          <p:nvPr/>
        </p:nvSpPr>
        <p:spPr>
          <a:xfrm>
            <a:off x="6291072" y="1508760"/>
            <a:ext cx="2468880" cy="457200"/>
          </a:xfrm>
          <a:prstGeom prst="rect">
            <a:avLst/>
          </a:prstGeom>
          <a:noFill/>
          <a:ln/>
        </p:spPr>
        <p:txBody>
          <a:bodyPr wrap="square" lIns="0" tIns="0" rIns="0" bIns="0" rtlCol="0" anchor="ctr"/>
          <a:lstStyle/>
          <a:p>
            <a:pPr algn="ctr" indent="0" marL="0">
              <a:buNone/>
            </a:pPr>
            <a:r>
              <a:rPr lang="en-US" sz="1600" b="1" dirty="0">
                <a:solidFill>
                  <a:schemeClr val="bg1"/>
                </a:solidFill>
              </a:rPr>
              <a:t>3  Serving</a:t>
            </a:r>
            <a:endParaRPr lang="en-US" sz="1600" dirty="0"/>
          </a:p>
        </p:txBody>
      </p:sp>
      <p:sp>
        <p:nvSpPr>
          <p:cNvPr id="35" name="Shape 32"/>
          <p:cNvSpPr/>
          <p:nvPr/>
        </p:nvSpPr>
        <p:spPr>
          <a:xfrm>
            <a:off x="8814816" y="1581912"/>
            <a:ext cx="292608" cy="310896"/>
          </a:xfrm>
          <a:prstGeom prst="rightArrow">
            <a:avLst/>
          </a:prstGeom>
          <a:solidFill>
            <a:schemeClr val="accent1"/>
          </a:solidFill>
          <a:ln/>
        </p:spPr>
      </p:sp>
      <p:sp>
        <p:nvSpPr>
          <p:cNvPr id="36" name="flow-tile-3-1"/>
          <p:cNvSpPr/>
          <p:nvPr/>
        </p:nvSpPr>
        <p:spPr>
          <a:xfrm>
            <a:off x="6291072" y="2148840"/>
            <a:ext cx="2468880" cy="566928"/>
          </a:xfrm>
          <a:prstGeom prst="roundRect">
            <a:avLst>
              <a:gd name="adj" fmla="val 12903"/>
            </a:avLst>
          </a:prstGeom>
          <a:solidFill>
            <a:schemeClr val="accent3">
              <a:alpha val="65000"/>
            </a:schemeClr>
          </a:solidFill>
          <a:ln/>
        </p:spPr>
      </p:sp>
      <p:sp>
        <p:nvSpPr>
          <p:cNvPr id="37" name="Text 34"/>
          <p:cNvSpPr txBox="1"/>
          <p:nvPr/>
        </p:nvSpPr>
        <p:spPr>
          <a:xfrm>
            <a:off x="6382512" y="2148840"/>
            <a:ext cx="2286000" cy="566928"/>
          </a:xfrm>
          <a:prstGeom prst="rect">
            <a:avLst/>
          </a:prstGeom>
          <a:noFill/>
          <a:ln/>
        </p:spPr>
        <p:txBody>
          <a:bodyPr wrap="square" lIns="0" tIns="0" rIns="0" bIns="0" rtlCol="0" anchor="ctr"/>
          <a:lstStyle/>
          <a:p>
            <a:pPr algn="ctr" indent="0" marL="0">
              <a:buNone/>
            </a:pPr>
            <a:r>
              <a:rPr lang="en-US" sz="1300" b="1" dirty="0">
                <a:solidFill>
                  <a:schemeClr val="tx2"/>
                </a:solidFill>
              </a:rPr>
              <a:t>FastAPI gateway</a:t>
            </a:r>
            <a:endParaRPr lang="en-US" sz="1300" dirty="0"/>
          </a:p>
        </p:txBody>
      </p:sp>
      <p:sp>
        <p:nvSpPr>
          <p:cNvPr id="38" name="flow-tile-3-2"/>
          <p:cNvSpPr/>
          <p:nvPr/>
        </p:nvSpPr>
        <p:spPr>
          <a:xfrm>
            <a:off x="6291072" y="2807208"/>
            <a:ext cx="2468880" cy="566928"/>
          </a:xfrm>
          <a:prstGeom prst="roundRect">
            <a:avLst>
              <a:gd name="adj" fmla="val 12903"/>
            </a:avLst>
          </a:prstGeom>
          <a:solidFill>
            <a:schemeClr val="accent3">
              <a:alpha val="65000"/>
            </a:schemeClr>
          </a:solidFill>
          <a:ln/>
        </p:spPr>
      </p:sp>
      <p:sp>
        <p:nvSpPr>
          <p:cNvPr id="39" name="Text 36"/>
          <p:cNvSpPr txBox="1"/>
          <p:nvPr/>
        </p:nvSpPr>
        <p:spPr>
          <a:xfrm>
            <a:off x="6382512" y="2807208"/>
            <a:ext cx="2286000" cy="566928"/>
          </a:xfrm>
          <a:prstGeom prst="rect">
            <a:avLst/>
          </a:prstGeom>
          <a:noFill/>
          <a:ln/>
        </p:spPr>
        <p:txBody>
          <a:bodyPr wrap="square" lIns="0" tIns="0" rIns="0" bIns="0" rtlCol="0" anchor="ctr"/>
          <a:lstStyle/>
          <a:p>
            <a:pPr algn="ctr" indent="0" marL="0">
              <a:buNone/>
            </a:pPr>
            <a:r>
              <a:rPr lang="en-US" sz="1300" b="1" dirty="0">
                <a:solidFill>
                  <a:schemeClr val="tx2"/>
                </a:solidFill>
              </a:rPr>
              <a:t>Cached in-memory singletons</a:t>
            </a:r>
            <a:endParaRPr lang="en-US" sz="1300" dirty="0"/>
          </a:p>
        </p:txBody>
      </p:sp>
      <p:sp>
        <p:nvSpPr>
          <p:cNvPr id="40" name="flow-tile-3-3"/>
          <p:cNvSpPr/>
          <p:nvPr/>
        </p:nvSpPr>
        <p:spPr>
          <a:xfrm>
            <a:off x="6291072" y="3465576"/>
            <a:ext cx="2468880" cy="566928"/>
          </a:xfrm>
          <a:prstGeom prst="roundRect">
            <a:avLst>
              <a:gd name="adj" fmla="val 12903"/>
            </a:avLst>
          </a:prstGeom>
          <a:solidFill>
            <a:schemeClr val="accent3">
              <a:alpha val="65000"/>
            </a:schemeClr>
          </a:solidFill>
          <a:ln/>
        </p:spPr>
      </p:sp>
      <p:sp>
        <p:nvSpPr>
          <p:cNvPr id="41" name="Text 38"/>
          <p:cNvSpPr txBox="1"/>
          <p:nvPr/>
        </p:nvSpPr>
        <p:spPr>
          <a:xfrm>
            <a:off x="6382512" y="3465576"/>
            <a:ext cx="2286000" cy="566928"/>
          </a:xfrm>
          <a:prstGeom prst="rect">
            <a:avLst/>
          </a:prstGeom>
          <a:noFill/>
          <a:ln/>
        </p:spPr>
        <p:txBody>
          <a:bodyPr wrap="square" lIns="0" tIns="0" rIns="0" bIns="0" rtlCol="0" anchor="ctr"/>
          <a:lstStyle/>
          <a:p>
            <a:pPr algn="ctr" indent="0" marL="0">
              <a:buNone/>
            </a:pPr>
            <a:r>
              <a:rPr lang="en-US" sz="1300" b="1" dirty="0">
                <a:solidFill>
                  <a:schemeClr val="tx2"/>
                </a:solidFill>
              </a:rPr>
              <a:t>ML + SHAP engine</a:t>
            </a:r>
            <a:endParaRPr lang="en-US" sz="1300" dirty="0"/>
          </a:p>
        </p:txBody>
      </p:sp>
      <p:sp>
        <p:nvSpPr>
          <p:cNvPr id="42" name="flow-tile-3-4"/>
          <p:cNvSpPr/>
          <p:nvPr/>
        </p:nvSpPr>
        <p:spPr>
          <a:xfrm>
            <a:off x="6291072" y="4123944"/>
            <a:ext cx="2468880" cy="566928"/>
          </a:xfrm>
          <a:prstGeom prst="roundRect">
            <a:avLst>
              <a:gd name="adj" fmla="val 12903"/>
            </a:avLst>
          </a:prstGeom>
          <a:solidFill>
            <a:schemeClr val="accent3">
              <a:alpha val="65000"/>
            </a:schemeClr>
          </a:solidFill>
          <a:ln/>
        </p:spPr>
      </p:sp>
      <p:sp>
        <p:nvSpPr>
          <p:cNvPr id="43" name="Text 40"/>
          <p:cNvSpPr txBox="1"/>
          <p:nvPr/>
        </p:nvSpPr>
        <p:spPr>
          <a:xfrm>
            <a:off x="6382512" y="4123944"/>
            <a:ext cx="2286000" cy="566928"/>
          </a:xfrm>
          <a:prstGeom prst="rect">
            <a:avLst/>
          </a:prstGeom>
          <a:noFill/>
          <a:ln/>
        </p:spPr>
        <p:txBody>
          <a:bodyPr wrap="square" lIns="0" tIns="0" rIns="0" bIns="0" rtlCol="0" anchor="ctr"/>
          <a:lstStyle/>
          <a:p>
            <a:pPr algn="ctr" indent="0" marL="0">
              <a:buNone/>
            </a:pPr>
            <a:r>
              <a:rPr lang="en-US" sz="1300" b="1" dirty="0">
                <a:solidFill>
                  <a:schemeClr val="tx2"/>
                </a:solidFill>
              </a:rPr>
              <a:t>Vision engine</a:t>
            </a:r>
            <a:endParaRPr lang="en-US" sz="1300" dirty="0"/>
          </a:p>
        </p:txBody>
      </p:sp>
      <p:sp>
        <p:nvSpPr>
          <p:cNvPr id="44" name="flow-tile-3-5"/>
          <p:cNvSpPr/>
          <p:nvPr/>
        </p:nvSpPr>
        <p:spPr>
          <a:xfrm>
            <a:off x="6291072" y="4782312"/>
            <a:ext cx="2468880" cy="566928"/>
          </a:xfrm>
          <a:prstGeom prst="roundRect">
            <a:avLst>
              <a:gd name="adj" fmla="val 12903"/>
            </a:avLst>
          </a:prstGeom>
          <a:solidFill>
            <a:schemeClr val="accent3">
              <a:alpha val="65000"/>
            </a:schemeClr>
          </a:solidFill>
          <a:ln/>
        </p:spPr>
      </p:sp>
      <p:sp>
        <p:nvSpPr>
          <p:cNvPr id="45" name="Text 42"/>
          <p:cNvSpPr txBox="1"/>
          <p:nvPr/>
        </p:nvSpPr>
        <p:spPr>
          <a:xfrm>
            <a:off x="6382512" y="4782312"/>
            <a:ext cx="2286000" cy="566928"/>
          </a:xfrm>
          <a:prstGeom prst="rect">
            <a:avLst/>
          </a:prstGeom>
          <a:noFill/>
          <a:ln/>
        </p:spPr>
        <p:txBody>
          <a:bodyPr wrap="square" lIns="0" tIns="0" rIns="0" bIns="0" rtlCol="0" anchor="ctr"/>
          <a:lstStyle/>
          <a:p>
            <a:pPr algn="ctr" indent="0" marL="0">
              <a:buNone/>
            </a:pPr>
            <a:r>
              <a:rPr lang="en-US" sz="1300" b="1" dirty="0">
                <a:solidFill>
                  <a:schemeClr val="tx2"/>
                </a:solidFill>
              </a:rPr>
              <a:t>Hybrid RAG engine</a:t>
            </a:r>
            <a:endParaRPr lang="en-US" sz="1300" dirty="0"/>
          </a:p>
        </p:txBody>
      </p:sp>
      <p:sp>
        <p:nvSpPr>
          <p:cNvPr id="46" name="flow-tile-3-6"/>
          <p:cNvSpPr/>
          <p:nvPr/>
        </p:nvSpPr>
        <p:spPr>
          <a:xfrm>
            <a:off x="6291072" y="5440680"/>
            <a:ext cx="2468880" cy="566928"/>
          </a:xfrm>
          <a:prstGeom prst="roundRect">
            <a:avLst>
              <a:gd name="adj" fmla="val 12903"/>
            </a:avLst>
          </a:prstGeom>
          <a:solidFill>
            <a:schemeClr val="accent3">
              <a:alpha val="65000"/>
            </a:schemeClr>
          </a:solidFill>
          <a:ln/>
        </p:spPr>
      </p:sp>
      <p:sp>
        <p:nvSpPr>
          <p:cNvPr id="47" name="Text 44"/>
          <p:cNvSpPr txBox="1"/>
          <p:nvPr/>
        </p:nvSpPr>
        <p:spPr>
          <a:xfrm>
            <a:off x="6382512" y="5440680"/>
            <a:ext cx="2286000" cy="566928"/>
          </a:xfrm>
          <a:prstGeom prst="rect">
            <a:avLst/>
          </a:prstGeom>
          <a:noFill/>
          <a:ln/>
        </p:spPr>
        <p:txBody>
          <a:bodyPr wrap="square" lIns="0" tIns="0" rIns="0" bIns="0" rtlCol="0" anchor="ctr"/>
          <a:lstStyle/>
          <a:p>
            <a:pPr algn="ctr" indent="0" marL="0">
              <a:buNone/>
            </a:pPr>
            <a:r>
              <a:rPr lang="en-US" sz="1300" b="1" dirty="0">
                <a:solidFill>
                  <a:schemeClr val="tx2"/>
                </a:solidFill>
              </a:rPr>
              <a:t>Read-only SQL agent</a:t>
            </a:r>
            <a:endParaRPr lang="en-US" sz="1300" dirty="0"/>
          </a:p>
        </p:txBody>
      </p:sp>
      <p:sp>
        <p:nvSpPr>
          <p:cNvPr id="48" name="col-head-4"/>
          <p:cNvSpPr/>
          <p:nvPr/>
        </p:nvSpPr>
        <p:spPr>
          <a:xfrm>
            <a:off x="9162288" y="1508760"/>
            <a:ext cx="2468880" cy="457200"/>
          </a:xfrm>
          <a:prstGeom prst="roundRect">
            <a:avLst>
              <a:gd name="adj" fmla="val 20000"/>
            </a:avLst>
          </a:prstGeom>
          <a:solidFill>
            <a:schemeClr val="accent2"/>
          </a:solidFill>
          <a:ln/>
        </p:spPr>
      </p:sp>
      <p:sp>
        <p:nvSpPr>
          <p:cNvPr id="49" name="Text 46"/>
          <p:cNvSpPr txBox="1"/>
          <p:nvPr/>
        </p:nvSpPr>
        <p:spPr>
          <a:xfrm>
            <a:off x="9162288" y="1508760"/>
            <a:ext cx="2468880" cy="457200"/>
          </a:xfrm>
          <a:prstGeom prst="rect">
            <a:avLst/>
          </a:prstGeom>
          <a:noFill/>
          <a:ln/>
        </p:spPr>
        <p:txBody>
          <a:bodyPr wrap="square" lIns="0" tIns="0" rIns="0" bIns="0" rtlCol="0" anchor="ctr"/>
          <a:lstStyle/>
          <a:p>
            <a:pPr algn="ctr" indent="0" marL="0">
              <a:buNone/>
            </a:pPr>
            <a:r>
              <a:rPr lang="en-US" sz="1600" b="1" dirty="0">
                <a:solidFill>
                  <a:schemeClr val="tx1"/>
                </a:solidFill>
              </a:rPr>
              <a:t>4  Outputs</a:t>
            </a:r>
            <a:endParaRPr lang="en-US" sz="1600" dirty="0"/>
          </a:p>
        </p:txBody>
      </p:sp>
      <p:sp>
        <p:nvSpPr>
          <p:cNvPr id="50" name="flow-tile-4-1"/>
          <p:cNvSpPr/>
          <p:nvPr/>
        </p:nvSpPr>
        <p:spPr>
          <a:xfrm>
            <a:off x="9162288" y="2148840"/>
            <a:ext cx="2468880" cy="694944"/>
          </a:xfrm>
          <a:prstGeom prst="roundRect">
            <a:avLst>
              <a:gd name="adj" fmla="val 10526"/>
            </a:avLst>
          </a:prstGeom>
          <a:solidFill>
            <a:schemeClr val="accent2"/>
          </a:solidFill>
          <a:ln/>
        </p:spPr>
      </p:sp>
      <p:sp>
        <p:nvSpPr>
          <p:cNvPr id="51" name="Text 48"/>
          <p:cNvSpPr txBox="1"/>
          <p:nvPr/>
        </p:nvSpPr>
        <p:spPr>
          <a:xfrm>
            <a:off x="9253728" y="2148840"/>
            <a:ext cx="2286000" cy="694944"/>
          </a:xfrm>
          <a:prstGeom prst="rect">
            <a:avLst/>
          </a:prstGeom>
          <a:noFill/>
          <a:ln/>
        </p:spPr>
        <p:txBody>
          <a:bodyPr wrap="square" lIns="0" tIns="0" rIns="0" bIns="0" rtlCol="0" anchor="ctr"/>
          <a:lstStyle/>
          <a:p>
            <a:pPr algn="ctr" indent="0" marL="0">
              <a:buNone/>
            </a:pPr>
            <a:r>
              <a:rPr lang="en-US" sz="1300" b="1" dirty="0">
                <a:solidFill>
                  <a:schemeClr val="tx1"/>
                </a:solidFill>
              </a:rPr>
              <a:t>Ranked crops with calibrated probabilities</a:t>
            </a:r>
            <a:endParaRPr lang="en-US" sz="1300" dirty="0"/>
          </a:p>
        </p:txBody>
      </p:sp>
      <p:sp>
        <p:nvSpPr>
          <p:cNvPr id="52" name="flow-tile-4-2"/>
          <p:cNvSpPr/>
          <p:nvPr/>
        </p:nvSpPr>
        <p:spPr>
          <a:xfrm>
            <a:off x="9162288" y="2935224"/>
            <a:ext cx="2468880" cy="694944"/>
          </a:xfrm>
          <a:prstGeom prst="roundRect">
            <a:avLst>
              <a:gd name="adj" fmla="val 10526"/>
            </a:avLst>
          </a:prstGeom>
          <a:solidFill>
            <a:schemeClr val="accent2"/>
          </a:solidFill>
          <a:ln/>
        </p:spPr>
      </p:sp>
      <p:sp>
        <p:nvSpPr>
          <p:cNvPr id="53" name="Text 50"/>
          <p:cNvSpPr txBox="1"/>
          <p:nvPr/>
        </p:nvSpPr>
        <p:spPr>
          <a:xfrm>
            <a:off x="9253728" y="2935224"/>
            <a:ext cx="2286000" cy="694944"/>
          </a:xfrm>
          <a:prstGeom prst="rect">
            <a:avLst/>
          </a:prstGeom>
          <a:noFill/>
          <a:ln/>
        </p:spPr>
        <p:txBody>
          <a:bodyPr wrap="square" lIns="0" tIns="0" rIns="0" bIns="0" rtlCol="0" anchor="ctr"/>
          <a:lstStyle/>
          <a:p>
            <a:pPr algn="ctr" indent="0" marL="0">
              <a:buNone/>
            </a:pPr>
            <a:r>
              <a:rPr lang="en-US" sz="1300" b="1" dirty="0">
                <a:solidFill>
                  <a:schemeClr val="tx1"/>
                </a:solidFill>
              </a:rPr>
              <a:t>SHAP explanations and What-If results</a:t>
            </a:r>
            <a:endParaRPr lang="en-US" sz="1300" dirty="0"/>
          </a:p>
        </p:txBody>
      </p:sp>
      <p:sp>
        <p:nvSpPr>
          <p:cNvPr id="54" name="flow-tile-4-3"/>
          <p:cNvSpPr/>
          <p:nvPr/>
        </p:nvSpPr>
        <p:spPr>
          <a:xfrm>
            <a:off x="9162288" y="3721608"/>
            <a:ext cx="2468880" cy="694944"/>
          </a:xfrm>
          <a:prstGeom prst="roundRect">
            <a:avLst>
              <a:gd name="adj" fmla="val 10526"/>
            </a:avLst>
          </a:prstGeom>
          <a:solidFill>
            <a:schemeClr val="accent2"/>
          </a:solidFill>
          <a:ln/>
        </p:spPr>
      </p:sp>
      <p:sp>
        <p:nvSpPr>
          <p:cNvPr id="55" name="Text 52"/>
          <p:cNvSpPr txBox="1"/>
          <p:nvPr/>
        </p:nvSpPr>
        <p:spPr>
          <a:xfrm>
            <a:off x="9253728" y="3721608"/>
            <a:ext cx="2286000" cy="694944"/>
          </a:xfrm>
          <a:prstGeom prst="rect">
            <a:avLst/>
          </a:prstGeom>
          <a:noFill/>
          <a:ln/>
        </p:spPr>
        <p:txBody>
          <a:bodyPr wrap="square" lIns="0" tIns="0" rIns="0" bIns="0" rtlCol="0" anchor="ctr"/>
          <a:lstStyle/>
          <a:p>
            <a:pPr algn="ctr" indent="0" marL="0">
              <a:buNone/>
            </a:pPr>
            <a:r>
              <a:rPr lang="en-US" sz="1300" b="1" dirty="0">
                <a:solidFill>
                  <a:schemeClr val="tx1"/>
                </a:solidFill>
              </a:rPr>
              <a:t>Cited agronomic and farm-history answers</a:t>
            </a:r>
            <a:endParaRPr lang="en-US" sz="1300" dirty="0"/>
          </a:p>
        </p:txBody>
      </p:sp>
      <p:sp>
        <p:nvSpPr>
          <p:cNvPr id="56" name="flow-tile-4-4"/>
          <p:cNvSpPr/>
          <p:nvPr/>
        </p:nvSpPr>
        <p:spPr>
          <a:xfrm>
            <a:off x="9162288" y="4507992"/>
            <a:ext cx="2468880" cy="694944"/>
          </a:xfrm>
          <a:prstGeom prst="roundRect">
            <a:avLst>
              <a:gd name="adj" fmla="val 10526"/>
            </a:avLst>
          </a:prstGeom>
          <a:solidFill>
            <a:schemeClr val="accent2"/>
          </a:solidFill>
          <a:ln/>
        </p:spPr>
      </p:sp>
      <p:sp>
        <p:nvSpPr>
          <p:cNvPr id="57" name="Text 54"/>
          <p:cNvSpPr txBox="1"/>
          <p:nvPr/>
        </p:nvSpPr>
        <p:spPr>
          <a:xfrm>
            <a:off x="9253728" y="4507992"/>
            <a:ext cx="2286000" cy="694944"/>
          </a:xfrm>
          <a:prstGeom prst="rect">
            <a:avLst/>
          </a:prstGeom>
          <a:noFill/>
          <a:ln/>
        </p:spPr>
        <p:txBody>
          <a:bodyPr wrap="square" lIns="0" tIns="0" rIns="0" bIns="0" rtlCol="0" anchor="ctr"/>
          <a:lstStyle/>
          <a:p>
            <a:pPr algn="ctr" indent="0" marL="0">
              <a:buNone/>
            </a:pPr>
            <a:r>
              <a:rPr lang="en-US" sz="1300" b="1" dirty="0">
                <a:solidFill>
                  <a:schemeClr val="tx1"/>
                </a:solidFill>
              </a:rPr>
              <a:t>Leaf diagnosis and dual treatment dossier</a:t>
            </a:r>
            <a:endParaRPr lang="en-US" sz="1300" dirty="0"/>
          </a:p>
        </p:txBody>
      </p:sp>
      <p:sp>
        <p:nvSpPr>
          <p:cNvPr id="58" name="flow-tile-4-5"/>
          <p:cNvSpPr/>
          <p:nvPr/>
        </p:nvSpPr>
        <p:spPr>
          <a:xfrm>
            <a:off x="9162288" y="5294376"/>
            <a:ext cx="2468880" cy="694944"/>
          </a:xfrm>
          <a:prstGeom prst="roundRect">
            <a:avLst>
              <a:gd name="adj" fmla="val 10526"/>
            </a:avLst>
          </a:prstGeom>
          <a:solidFill>
            <a:schemeClr val="accent2"/>
          </a:solidFill>
          <a:ln/>
        </p:spPr>
      </p:sp>
      <p:sp>
        <p:nvSpPr>
          <p:cNvPr id="59" name="Text 56"/>
          <p:cNvSpPr txBox="1"/>
          <p:nvPr/>
        </p:nvSpPr>
        <p:spPr>
          <a:xfrm>
            <a:off x="9253728" y="5294376"/>
            <a:ext cx="2286000" cy="694944"/>
          </a:xfrm>
          <a:prstGeom prst="rect">
            <a:avLst/>
          </a:prstGeom>
          <a:noFill/>
          <a:ln/>
        </p:spPr>
        <p:txBody>
          <a:bodyPr wrap="square" lIns="0" tIns="0" rIns="0" bIns="0" rtlCol="0" anchor="ctr"/>
          <a:lstStyle/>
          <a:p>
            <a:pPr algn="ctr" indent="0" marL="0">
              <a:buNone/>
            </a:pPr>
            <a:r>
              <a:rPr lang="en-US" sz="1300" b="1" dirty="0">
                <a:solidFill>
                  <a:schemeClr val="tx1"/>
                </a:solidFill>
              </a:rPr>
              <a:t>Rebalancing calendar and PDF dossier</a:t>
            </a:r>
            <a:endParaRPr lang="en-US" sz="13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Technology Stack</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Proven, inspectable components that run on modest hardware</a:t>
            </a:r>
            <a:endParaRPr lang="en-US" sz="1600" dirty="0"/>
          </a:p>
        </p:txBody>
      </p:sp>
      <p:sp>
        <p:nvSpPr>
          <p:cNvPr id="5" name="stack-card-1"/>
          <p:cNvSpPr/>
          <p:nvPr/>
        </p:nvSpPr>
        <p:spPr>
          <a:xfrm>
            <a:off x="548640" y="1508760"/>
            <a:ext cx="3520440" cy="2240280"/>
          </a:xfrm>
          <a:prstGeom prst="roundRect">
            <a:avLst>
              <a:gd name="adj" fmla="val 489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6" name="icon-bg-FaDesktop"/>
          <p:cNvSpPr/>
          <p:nvPr/>
        </p:nvSpPr>
        <p:spPr>
          <a:xfrm>
            <a:off x="777240" y="1691640"/>
            <a:ext cx="502920" cy="502920"/>
          </a:xfrm>
          <a:prstGeom prst="ellipse">
            <a:avLst/>
          </a:prstGeom>
          <a:solidFill>
            <a:schemeClr val="accent1"/>
          </a:solidFill>
          <a:ln/>
        </p:spPr>
      </p:sp>
      <p:pic>
        <p:nvPicPr>
          <p:cNvPr id="7" name="Image 0" descr="Desktop icon">    </p:cNvPr>
          <p:cNvPicPr>
            <a:picLocks noChangeAspect="1"/>
          </p:cNvPicPr>
          <p:nvPr/>
        </p:nvPicPr>
        <p:blipFill>
          <a:blip r:embed="rId1"/>
          <a:stretch>
            <a:fillRect/>
          </a:stretch>
        </p:blipFill>
        <p:spPr>
          <a:xfrm>
            <a:off x="902970" y="1817370"/>
            <a:ext cx="251460" cy="251460"/>
          </a:xfrm>
          <a:prstGeom prst="rect">
            <a:avLst/>
          </a:prstGeom>
        </p:spPr>
      </p:pic>
      <p:sp>
        <p:nvSpPr>
          <p:cNvPr id="8" name="Text 4"/>
          <p:cNvSpPr txBox="1"/>
          <p:nvPr/>
        </p:nvSpPr>
        <p:spPr>
          <a:xfrm>
            <a:off x="1463040" y="1691640"/>
            <a:ext cx="2468880" cy="502920"/>
          </a:xfrm>
          <a:prstGeom prst="rect">
            <a:avLst/>
          </a:prstGeom>
          <a:noFill/>
          <a:ln/>
        </p:spPr>
        <p:txBody>
          <a:bodyPr wrap="square" lIns="0" tIns="0" rIns="0" bIns="0" rtlCol="0" anchor="ctr"/>
          <a:lstStyle/>
          <a:p>
            <a:pPr indent="0" marL="0">
              <a:buNone/>
            </a:pPr>
            <a:r>
              <a:rPr lang="en-US" sz="1700" b="1" dirty="0">
                <a:solidFill>
                  <a:schemeClr val="tx2"/>
                </a:solidFill>
              </a:rPr>
              <a:t>Experience</a:t>
            </a:r>
            <a:endParaRPr lang="en-US" sz="1700" dirty="0"/>
          </a:p>
        </p:txBody>
      </p:sp>
      <p:sp>
        <p:nvSpPr>
          <p:cNvPr id="9" name="stack-pill-1-1"/>
          <p:cNvSpPr/>
          <p:nvPr/>
        </p:nvSpPr>
        <p:spPr>
          <a:xfrm>
            <a:off x="777240" y="2377440"/>
            <a:ext cx="3063240" cy="374904"/>
          </a:xfrm>
          <a:prstGeom prst="roundRect">
            <a:avLst>
              <a:gd name="adj" fmla="val 48780"/>
            </a:avLst>
          </a:prstGeom>
          <a:solidFill>
            <a:schemeClr val="accent3">
              <a:alpha val="60000"/>
            </a:schemeClr>
          </a:solidFill>
          <a:ln/>
        </p:spPr>
      </p:sp>
      <p:sp>
        <p:nvSpPr>
          <p:cNvPr id="10" name="Text 6"/>
          <p:cNvSpPr txBox="1"/>
          <p:nvPr/>
        </p:nvSpPr>
        <p:spPr>
          <a:xfrm>
            <a:off x="777240" y="2377440"/>
            <a:ext cx="3063240" cy="374904"/>
          </a:xfrm>
          <a:prstGeom prst="rect">
            <a:avLst/>
          </a:prstGeom>
          <a:noFill/>
          <a:ln/>
        </p:spPr>
        <p:txBody>
          <a:bodyPr wrap="square" lIns="0" tIns="0" rIns="0" bIns="0" rtlCol="0" anchor="ctr"/>
          <a:lstStyle/>
          <a:p>
            <a:pPr algn="ctr" indent="0" marL="0">
              <a:buNone/>
            </a:pPr>
            <a:r>
              <a:rPr lang="en-US" sz="1300" b="1" dirty="0">
                <a:solidFill>
                  <a:schemeClr val="tx2"/>
                </a:solidFill>
              </a:rPr>
              <a:t>Streamlit interface</a:t>
            </a:r>
            <a:endParaRPr lang="en-US" sz="1300" dirty="0"/>
          </a:p>
        </p:txBody>
      </p:sp>
      <p:sp>
        <p:nvSpPr>
          <p:cNvPr id="11" name="stack-pill-1-2"/>
          <p:cNvSpPr/>
          <p:nvPr/>
        </p:nvSpPr>
        <p:spPr>
          <a:xfrm>
            <a:off x="777240" y="2825496"/>
            <a:ext cx="3063240" cy="374904"/>
          </a:xfrm>
          <a:prstGeom prst="roundRect">
            <a:avLst>
              <a:gd name="adj" fmla="val 48780"/>
            </a:avLst>
          </a:prstGeom>
          <a:solidFill>
            <a:schemeClr val="accent3">
              <a:alpha val="60000"/>
            </a:schemeClr>
          </a:solidFill>
          <a:ln/>
        </p:spPr>
      </p:sp>
      <p:sp>
        <p:nvSpPr>
          <p:cNvPr id="12" name="Text 8"/>
          <p:cNvSpPr txBox="1"/>
          <p:nvPr/>
        </p:nvSpPr>
        <p:spPr>
          <a:xfrm>
            <a:off x="777240" y="2825496"/>
            <a:ext cx="3063240" cy="374904"/>
          </a:xfrm>
          <a:prstGeom prst="rect">
            <a:avLst/>
          </a:prstGeom>
          <a:noFill/>
          <a:ln/>
        </p:spPr>
        <p:txBody>
          <a:bodyPr wrap="square" lIns="0" tIns="0" rIns="0" bIns="0" rtlCol="0" anchor="ctr"/>
          <a:lstStyle/>
          <a:p>
            <a:pPr algn="ctr" indent="0" marL="0">
              <a:buNone/>
            </a:pPr>
            <a:r>
              <a:rPr lang="en-US" sz="1300" b="1" dirty="0">
                <a:solidFill>
                  <a:schemeClr val="tx2"/>
                </a:solidFill>
              </a:rPr>
              <a:t>Pure HTML/CSS Zero-JS tables</a:t>
            </a:r>
            <a:endParaRPr lang="en-US" sz="1300" dirty="0"/>
          </a:p>
        </p:txBody>
      </p:sp>
      <p:sp>
        <p:nvSpPr>
          <p:cNvPr id="13" name="stack-pill-1-3"/>
          <p:cNvSpPr/>
          <p:nvPr/>
        </p:nvSpPr>
        <p:spPr>
          <a:xfrm>
            <a:off x="777240" y="3273552"/>
            <a:ext cx="3063240" cy="374904"/>
          </a:xfrm>
          <a:prstGeom prst="roundRect">
            <a:avLst>
              <a:gd name="adj" fmla="val 48780"/>
            </a:avLst>
          </a:prstGeom>
          <a:solidFill>
            <a:schemeClr val="accent3">
              <a:alpha val="60000"/>
            </a:schemeClr>
          </a:solidFill>
          <a:ln/>
        </p:spPr>
      </p:sp>
      <p:sp>
        <p:nvSpPr>
          <p:cNvPr id="14" name="Text 10"/>
          <p:cNvSpPr txBox="1"/>
          <p:nvPr/>
        </p:nvSpPr>
        <p:spPr>
          <a:xfrm>
            <a:off x="777240" y="3273552"/>
            <a:ext cx="3063240" cy="374904"/>
          </a:xfrm>
          <a:prstGeom prst="rect">
            <a:avLst/>
          </a:prstGeom>
          <a:noFill/>
          <a:ln/>
        </p:spPr>
        <p:txBody>
          <a:bodyPr wrap="square" lIns="0" tIns="0" rIns="0" bIns="0" rtlCol="0" anchor="ctr"/>
          <a:lstStyle/>
          <a:p>
            <a:pPr algn="ctr" indent="0" marL="0">
              <a:buNone/>
            </a:pPr>
            <a:r>
              <a:rPr lang="en-US" sz="1300" b="1" dirty="0">
                <a:solidFill>
                  <a:schemeClr val="tx2"/>
                </a:solidFill>
              </a:rPr>
              <a:t>Base64 CSV downloads</a:t>
            </a:r>
            <a:endParaRPr lang="en-US" sz="1300" dirty="0"/>
          </a:p>
        </p:txBody>
      </p:sp>
      <p:sp>
        <p:nvSpPr>
          <p:cNvPr id="15" name="stack-card-2"/>
          <p:cNvSpPr/>
          <p:nvPr/>
        </p:nvSpPr>
        <p:spPr>
          <a:xfrm>
            <a:off x="4334256" y="1508760"/>
            <a:ext cx="3520440" cy="2240280"/>
          </a:xfrm>
          <a:prstGeom prst="roundRect">
            <a:avLst>
              <a:gd name="adj" fmla="val 489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16" name="icon-bg-FaServer"/>
          <p:cNvSpPr/>
          <p:nvPr/>
        </p:nvSpPr>
        <p:spPr>
          <a:xfrm>
            <a:off x="4562856" y="1691640"/>
            <a:ext cx="502920" cy="502920"/>
          </a:xfrm>
          <a:prstGeom prst="ellipse">
            <a:avLst/>
          </a:prstGeom>
          <a:solidFill>
            <a:schemeClr val="accent1"/>
          </a:solidFill>
          <a:ln/>
        </p:spPr>
      </p:sp>
      <p:pic>
        <p:nvPicPr>
          <p:cNvPr id="17" name="Image 1" descr="Server icon">    </p:cNvPr>
          <p:cNvPicPr>
            <a:picLocks noChangeAspect="1"/>
          </p:cNvPicPr>
          <p:nvPr/>
        </p:nvPicPr>
        <p:blipFill>
          <a:blip r:embed="rId2"/>
          <a:stretch>
            <a:fillRect/>
          </a:stretch>
        </p:blipFill>
        <p:spPr>
          <a:xfrm>
            <a:off x="4688586" y="1817370"/>
            <a:ext cx="251460" cy="251460"/>
          </a:xfrm>
          <a:prstGeom prst="rect">
            <a:avLst/>
          </a:prstGeom>
        </p:spPr>
      </p:pic>
      <p:sp>
        <p:nvSpPr>
          <p:cNvPr id="18" name="Text 13"/>
          <p:cNvSpPr txBox="1"/>
          <p:nvPr/>
        </p:nvSpPr>
        <p:spPr>
          <a:xfrm>
            <a:off x="5248656" y="1691640"/>
            <a:ext cx="2468880" cy="502920"/>
          </a:xfrm>
          <a:prstGeom prst="rect">
            <a:avLst/>
          </a:prstGeom>
          <a:noFill/>
          <a:ln/>
        </p:spPr>
        <p:txBody>
          <a:bodyPr wrap="square" lIns="0" tIns="0" rIns="0" bIns="0" rtlCol="0" anchor="ctr"/>
          <a:lstStyle/>
          <a:p>
            <a:pPr indent="0" marL="0">
              <a:buNone/>
            </a:pPr>
            <a:r>
              <a:rPr lang="en-US" sz="1700" b="1" dirty="0">
                <a:solidFill>
                  <a:schemeClr val="tx2"/>
                </a:solidFill>
              </a:rPr>
              <a:t>API &amp; Runtime</a:t>
            </a:r>
            <a:endParaRPr lang="en-US" sz="1700" dirty="0"/>
          </a:p>
        </p:txBody>
      </p:sp>
      <p:sp>
        <p:nvSpPr>
          <p:cNvPr id="19" name="stack-pill-2-1"/>
          <p:cNvSpPr/>
          <p:nvPr/>
        </p:nvSpPr>
        <p:spPr>
          <a:xfrm>
            <a:off x="4562856" y="2377440"/>
            <a:ext cx="3063240" cy="374904"/>
          </a:xfrm>
          <a:prstGeom prst="roundRect">
            <a:avLst>
              <a:gd name="adj" fmla="val 48780"/>
            </a:avLst>
          </a:prstGeom>
          <a:solidFill>
            <a:schemeClr val="accent3">
              <a:alpha val="60000"/>
            </a:schemeClr>
          </a:solidFill>
          <a:ln/>
        </p:spPr>
      </p:sp>
      <p:sp>
        <p:nvSpPr>
          <p:cNvPr id="20" name="Text 15"/>
          <p:cNvSpPr txBox="1"/>
          <p:nvPr/>
        </p:nvSpPr>
        <p:spPr>
          <a:xfrm>
            <a:off x="4562856" y="2377440"/>
            <a:ext cx="3063240" cy="374904"/>
          </a:xfrm>
          <a:prstGeom prst="rect">
            <a:avLst/>
          </a:prstGeom>
          <a:noFill/>
          <a:ln/>
        </p:spPr>
        <p:txBody>
          <a:bodyPr wrap="square" lIns="0" tIns="0" rIns="0" bIns="0" rtlCol="0" anchor="ctr"/>
          <a:lstStyle/>
          <a:p>
            <a:pPr algn="ctr" indent="0" marL="0">
              <a:buNone/>
            </a:pPr>
            <a:r>
              <a:rPr lang="en-US" sz="1300" b="1" dirty="0">
                <a:solidFill>
                  <a:schemeClr val="tx2"/>
                </a:solidFill>
              </a:rPr>
              <a:t>FastAPI gateway</a:t>
            </a:r>
            <a:endParaRPr lang="en-US" sz="1300" dirty="0"/>
          </a:p>
        </p:txBody>
      </p:sp>
      <p:sp>
        <p:nvSpPr>
          <p:cNvPr id="21" name="stack-pill-2-2"/>
          <p:cNvSpPr/>
          <p:nvPr/>
        </p:nvSpPr>
        <p:spPr>
          <a:xfrm>
            <a:off x="4562856" y="2825496"/>
            <a:ext cx="3063240" cy="374904"/>
          </a:xfrm>
          <a:prstGeom prst="roundRect">
            <a:avLst>
              <a:gd name="adj" fmla="val 48780"/>
            </a:avLst>
          </a:prstGeom>
          <a:solidFill>
            <a:schemeClr val="accent3">
              <a:alpha val="60000"/>
            </a:schemeClr>
          </a:solidFill>
          <a:ln/>
        </p:spPr>
      </p:sp>
      <p:sp>
        <p:nvSpPr>
          <p:cNvPr id="22" name="Text 17"/>
          <p:cNvSpPr txBox="1"/>
          <p:nvPr/>
        </p:nvSpPr>
        <p:spPr>
          <a:xfrm>
            <a:off x="4562856" y="2825496"/>
            <a:ext cx="3063240" cy="374904"/>
          </a:xfrm>
          <a:prstGeom prst="rect">
            <a:avLst/>
          </a:prstGeom>
          <a:noFill/>
          <a:ln/>
        </p:spPr>
        <p:txBody>
          <a:bodyPr wrap="square" lIns="0" tIns="0" rIns="0" bIns="0" rtlCol="0" anchor="ctr"/>
          <a:lstStyle/>
          <a:p>
            <a:pPr algn="ctr" indent="0" marL="0">
              <a:buNone/>
            </a:pPr>
            <a:r>
              <a:rPr lang="en-US" sz="1300" b="1" dirty="0">
                <a:solidFill>
                  <a:schemeClr val="tx2"/>
                </a:solidFill>
              </a:rPr>
              <a:t>Cached in-memory singletons</a:t>
            </a:r>
            <a:endParaRPr lang="en-US" sz="1300" dirty="0"/>
          </a:p>
        </p:txBody>
      </p:sp>
      <p:sp>
        <p:nvSpPr>
          <p:cNvPr id="23" name="stack-pill-2-3"/>
          <p:cNvSpPr/>
          <p:nvPr/>
        </p:nvSpPr>
        <p:spPr>
          <a:xfrm>
            <a:off x="4562856" y="3273552"/>
            <a:ext cx="3063240" cy="374904"/>
          </a:xfrm>
          <a:prstGeom prst="roundRect">
            <a:avLst>
              <a:gd name="adj" fmla="val 48780"/>
            </a:avLst>
          </a:prstGeom>
          <a:solidFill>
            <a:schemeClr val="accent3">
              <a:alpha val="60000"/>
            </a:schemeClr>
          </a:solidFill>
          <a:ln/>
        </p:spPr>
      </p:sp>
      <p:sp>
        <p:nvSpPr>
          <p:cNvPr id="24" name="Text 19"/>
          <p:cNvSpPr txBox="1"/>
          <p:nvPr/>
        </p:nvSpPr>
        <p:spPr>
          <a:xfrm>
            <a:off x="4562856" y="3273552"/>
            <a:ext cx="3063240" cy="374904"/>
          </a:xfrm>
          <a:prstGeom prst="rect">
            <a:avLst/>
          </a:prstGeom>
          <a:noFill/>
          <a:ln/>
        </p:spPr>
        <p:txBody>
          <a:bodyPr wrap="square" lIns="0" tIns="0" rIns="0" bIns="0" rtlCol="0" anchor="ctr"/>
          <a:lstStyle/>
          <a:p>
            <a:pPr algn="ctr" indent="0" marL="0">
              <a:buNone/>
            </a:pPr>
            <a:r>
              <a:rPr lang="en-US" sz="1300" b="1" dirty="0">
                <a:solidFill>
                  <a:schemeClr val="tx2"/>
                </a:solidFill>
              </a:rPr>
              <a:t>Python services</a:t>
            </a:r>
            <a:endParaRPr lang="en-US" sz="1300" dirty="0"/>
          </a:p>
        </p:txBody>
      </p:sp>
      <p:sp>
        <p:nvSpPr>
          <p:cNvPr id="25" name="stack-card-3"/>
          <p:cNvSpPr/>
          <p:nvPr/>
        </p:nvSpPr>
        <p:spPr>
          <a:xfrm>
            <a:off x="8119872" y="1508760"/>
            <a:ext cx="3520440" cy="2240280"/>
          </a:xfrm>
          <a:prstGeom prst="roundRect">
            <a:avLst>
              <a:gd name="adj" fmla="val 489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26" name="icon-bg-FaBrain"/>
          <p:cNvSpPr/>
          <p:nvPr/>
        </p:nvSpPr>
        <p:spPr>
          <a:xfrm>
            <a:off x="8348472" y="1691640"/>
            <a:ext cx="502920" cy="502920"/>
          </a:xfrm>
          <a:prstGeom prst="ellipse">
            <a:avLst/>
          </a:prstGeom>
          <a:solidFill>
            <a:schemeClr val="accent1"/>
          </a:solidFill>
          <a:ln/>
        </p:spPr>
      </p:sp>
      <p:pic>
        <p:nvPicPr>
          <p:cNvPr id="27" name="Image 2" descr="Brain icon">    </p:cNvPr>
          <p:cNvPicPr>
            <a:picLocks noChangeAspect="1"/>
          </p:cNvPicPr>
          <p:nvPr/>
        </p:nvPicPr>
        <p:blipFill>
          <a:blip r:embed="rId3"/>
          <a:stretch>
            <a:fillRect/>
          </a:stretch>
        </p:blipFill>
        <p:spPr>
          <a:xfrm>
            <a:off x="8474202" y="1817370"/>
            <a:ext cx="251460" cy="251460"/>
          </a:xfrm>
          <a:prstGeom prst="rect">
            <a:avLst/>
          </a:prstGeom>
        </p:spPr>
      </p:pic>
      <p:sp>
        <p:nvSpPr>
          <p:cNvPr id="28" name="Text 22"/>
          <p:cNvSpPr txBox="1"/>
          <p:nvPr/>
        </p:nvSpPr>
        <p:spPr>
          <a:xfrm>
            <a:off x="9034272" y="1691640"/>
            <a:ext cx="2468880" cy="502920"/>
          </a:xfrm>
          <a:prstGeom prst="rect">
            <a:avLst/>
          </a:prstGeom>
          <a:noFill/>
          <a:ln/>
        </p:spPr>
        <p:txBody>
          <a:bodyPr wrap="square" lIns="0" tIns="0" rIns="0" bIns="0" rtlCol="0" anchor="ctr"/>
          <a:lstStyle/>
          <a:p>
            <a:pPr indent="0" marL="0">
              <a:buNone/>
            </a:pPr>
            <a:r>
              <a:rPr lang="en-US" sz="1700" b="1" dirty="0">
                <a:solidFill>
                  <a:schemeClr val="tx2"/>
                </a:solidFill>
              </a:rPr>
              <a:t>Machine Learning</a:t>
            </a:r>
            <a:endParaRPr lang="en-US" sz="1700" dirty="0"/>
          </a:p>
        </p:txBody>
      </p:sp>
      <p:sp>
        <p:nvSpPr>
          <p:cNvPr id="29" name="stack-pill-3-1"/>
          <p:cNvSpPr/>
          <p:nvPr/>
        </p:nvSpPr>
        <p:spPr>
          <a:xfrm>
            <a:off x="8348472" y="2377440"/>
            <a:ext cx="3063240" cy="374904"/>
          </a:xfrm>
          <a:prstGeom prst="roundRect">
            <a:avLst>
              <a:gd name="adj" fmla="val 48780"/>
            </a:avLst>
          </a:prstGeom>
          <a:solidFill>
            <a:schemeClr val="accent3">
              <a:alpha val="60000"/>
            </a:schemeClr>
          </a:solidFill>
          <a:ln/>
        </p:spPr>
      </p:sp>
      <p:sp>
        <p:nvSpPr>
          <p:cNvPr id="30" name="Text 24"/>
          <p:cNvSpPr txBox="1"/>
          <p:nvPr/>
        </p:nvSpPr>
        <p:spPr>
          <a:xfrm>
            <a:off x="8348472" y="2377440"/>
            <a:ext cx="3063240" cy="374904"/>
          </a:xfrm>
          <a:prstGeom prst="rect">
            <a:avLst/>
          </a:prstGeom>
          <a:noFill/>
          <a:ln/>
        </p:spPr>
        <p:txBody>
          <a:bodyPr wrap="square" lIns="0" tIns="0" rIns="0" bIns="0" rtlCol="0" anchor="ctr"/>
          <a:lstStyle/>
          <a:p>
            <a:pPr algn="ctr" indent="0" marL="0">
              <a:buNone/>
            </a:pPr>
            <a:r>
              <a:rPr lang="en-US" sz="1300" b="1" dirty="0">
                <a:solidFill>
                  <a:schemeClr val="tx2"/>
                </a:solidFill>
              </a:rPr>
              <a:t>scikit-learn ExtraTrees (100 trees)</a:t>
            </a:r>
            <a:endParaRPr lang="en-US" sz="1300" dirty="0"/>
          </a:p>
        </p:txBody>
      </p:sp>
      <p:sp>
        <p:nvSpPr>
          <p:cNvPr id="31" name="stack-pill-3-2"/>
          <p:cNvSpPr/>
          <p:nvPr/>
        </p:nvSpPr>
        <p:spPr>
          <a:xfrm>
            <a:off x="8348472" y="2825496"/>
            <a:ext cx="3063240" cy="374904"/>
          </a:xfrm>
          <a:prstGeom prst="roundRect">
            <a:avLst>
              <a:gd name="adj" fmla="val 48780"/>
            </a:avLst>
          </a:prstGeom>
          <a:solidFill>
            <a:schemeClr val="accent3">
              <a:alpha val="60000"/>
            </a:schemeClr>
          </a:solidFill>
          <a:ln/>
        </p:spPr>
      </p:sp>
      <p:sp>
        <p:nvSpPr>
          <p:cNvPr id="32" name="Text 26"/>
          <p:cNvSpPr txBox="1"/>
          <p:nvPr/>
        </p:nvSpPr>
        <p:spPr>
          <a:xfrm>
            <a:off x="8348472" y="2825496"/>
            <a:ext cx="3063240" cy="374904"/>
          </a:xfrm>
          <a:prstGeom prst="rect">
            <a:avLst/>
          </a:prstGeom>
          <a:noFill/>
          <a:ln/>
        </p:spPr>
        <p:txBody>
          <a:bodyPr wrap="square" lIns="0" tIns="0" rIns="0" bIns="0" rtlCol="0" anchor="ctr"/>
          <a:lstStyle/>
          <a:p>
            <a:pPr algn="ctr" indent="0" marL="0">
              <a:buNone/>
            </a:pPr>
            <a:r>
              <a:rPr lang="en-US" sz="1300" b="1" dirty="0">
                <a:solidFill>
                  <a:schemeClr val="tx2"/>
                </a:solidFill>
              </a:rPr>
              <a:t>Sigmoid CalibratedClassifierCV</a:t>
            </a:r>
            <a:endParaRPr lang="en-US" sz="1300" dirty="0"/>
          </a:p>
        </p:txBody>
      </p:sp>
      <p:sp>
        <p:nvSpPr>
          <p:cNvPr id="33" name="stack-pill-3-3"/>
          <p:cNvSpPr/>
          <p:nvPr/>
        </p:nvSpPr>
        <p:spPr>
          <a:xfrm>
            <a:off x="8348472" y="3273552"/>
            <a:ext cx="3063240" cy="374904"/>
          </a:xfrm>
          <a:prstGeom prst="roundRect">
            <a:avLst>
              <a:gd name="adj" fmla="val 48780"/>
            </a:avLst>
          </a:prstGeom>
          <a:solidFill>
            <a:schemeClr val="accent3">
              <a:alpha val="60000"/>
            </a:schemeClr>
          </a:solidFill>
          <a:ln/>
        </p:spPr>
      </p:sp>
      <p:sp>
        <p:nvSpPr>
          <p:cNvPr id="34" name="Text 28"/>
          <p:cNvSpPr txBox="1"/>
          <p:nvPr/>
        </p:nvSpPr>
        <p:spPr>
          <a:xfrm>
            <a:off x="8348472" y="3273552"/>
            <a:ext cx="3063240" cy="374904"/>
          </a:xfrm>
          <a:prstGeom prst="rect">
            <a:avLst/>
          </a:prstGeom>
          <a:noFill/>
          <a:ln/>
        </p:spPr>
        <p:txBody>
          <a:bodyPr wrap="square" lIns="0" tIns="0" rIns="0" bIns="0" rtlCol="0" anchor="ctr"/>
          <a:lstStyle/>
          <a:p>
            <a:pPr algn="ctr" indent="0" marL="0">
              <a:buNone/>
            </a:pPr>
            <a:r>
              <a:rPr lang="en-US" sz="1300" b="1" dirty="0">
                <a:solidFill>
                  <a:schemeClr val="tx2"/>
                </a:solidFill>
              </a:rPr>
              <a:t>SHAP TreeExplainer</a:t>
            </a:r>
            <a:endParaRPr lang="en-US" sz="1300" dirty="0"/>
          </a:p>
        </p:txBody>
      </p:sp>
      <p:sp>
        <p:nvSpPr>
          <p:cNvPr id="35" name="stack-card-4"/>
          <p:cNvSpPr/>
          <p:nvPr/>
        </p:nvSpPr>
        <p:spPr>
          <a:xfrm>
            <a:off x="548640" y="3931920"/>
            <a:ext cx="3520440" cy="2240280"/>
          </a:xfrm>
          <a:prstGeom prst="roundRect">
            <a:avLst>
              <a:gd name="adj" fmla="val 489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36" name="icon-bg-FaCamera"/>
          <p:cNvSpPr/>
          <p:nvPr/>
        </p:nvSpPr>
        <p:spPr>
          <a:xfrm>
            <a:off x="777240" y="4114800"/>
            <a:ext cx="502920" cy="502920"/>
          </a:xfrm>
          <a:prstGeom prst="ellipse">
            <a:avLst/>
          </a:prstGeom>
          <a:solidFill>
            <a:schemeClr val="accent1"/>
          </a:solidFill>
          <a:ln/>
        </p:spPr>
      </p:sp>
      <p:pic>
        <p:nvPicPr>
          <p:cNvPr id="37" name="Image 3" descr="Camera icon">    </p:cNvPr>
          <p:cNvPicPr>
            <a:picLocks noChangeAspect="1"/>
          </p:cNvPicPr>
          <p:nvPr/>
        </p:nvPicPr>
        <p:blipFill>
          <a:blip r:embed="rId4"/>
          <a:stretch>
            <a:fillRect/>
          </a:stretch>
        </p:blipFill>
        <p:spPr>
          <a:xfrm>
            <a:off x="902970" y="4240530"/>
            <a:ext cx="251460" cy="251460"/>
          </a:xfrm>
          <a:prstGeom prst="rect">
            <a:avLst/>
          </a:prstGeom>
        </p:spPr>
      </p:pic>
      <p:sp>
        <p:nvSpPr>
          <p:cNvPr id="38" name="Text 31"/>
          <p:cNvSpPr txBox="1"/>
          <p:nvPr/>
        </p:nvSpPr>
        <p:spPr>
          <a:xfrm>
            <a:off x="1463040" y="4114800"/>
            <a:ext cx="2468880" cy="502920"/>
          </a:xfrm>
          <a:prstGeom prst="rect">
            <a:avLst/>
          </a:prstGeom>
          <a:noFill/>
          <a:ln/>
        </p:spPr>
        <p:txBody>
          <a:bodyPr wrap="square" lIns="0" tIns="0" rIns="0" bIns="0" rtlCol="0" anchor="ctr"/>
          <a:lstStyle/>
          <a:p>
            <a:pPr indent="0" marL="0">
              <a:buNone/>
            </a:pPr>
            <a:r>
              <a:rPr lang="en-US" sz="1700" b="1" dirty="0">
                <a:solidFill>
                  <a:schemeClr val="tx2"/>
                </a:solidFill>
              </a:rPr>
              <a:t>Computer Vision</a:t>
            </a:r>
            <a:endParaRPr lang="en-US" sz="1700" dirty="0"/>
          </a:p>
        </p:txBody>
      </p:sp>
      <p:sp>
        <p:nvSpPr>
          <p:cNvPr id="39" name="stack-pill-4-1"/>
          <p:cNvSpPr/>
          <p:nvPr/>
        </p:nvSpPr>
        <p:spPr>
          <a:xfrm>
            <a:off x="777240" y="4800600"/>
            <a:ext cx="3063240" cy="374904"/>
          </a:xfrm>
          <a:prstGeom prst="roundRect">
            <a:avLst>
              <a:gd name="adj" fmla="val 48780"/>
            </a:avLst>
          </a:prstGeom>
          <a:solidFill>
            <a:schemeClr val="accent3">
              <a:alpha val="60000"/>
            </a:schemeClr>
          </a:solidFill>
          <a:ln/>
        </p:spPr>
      </p:sp>
      <p:sp>
        <p:nvSpPr>
          <p:cNvPr id="40" name="Text 33"/>
          <p:cNvSpPr txBox="1"/>
          <p:nvPr/>
        </p:nvSpPr>
        <p:spPr>
          <a:xfrm>
            <a:off x="777240" y="4800600"/>
            <a:ext cx="3063240" cy="374904"/>
          </a:xfrm>
          <a:prstGeom prst="rect">
            <a:avLst/>
          </a:prstGeom>
          <a:noFill/>
          <a:ln/>
        </p:spPr>
        <p:txBody>
          <a:bodyPr wrap="square" lIns="0" tIns="0" rIns="0" bIns="0" rtlCol="0" anchor="ctr"/>
          <a:lstStyle/>
          <a:p>
            <a:pPr algn="ctr" indent="0" marL="0">
              <a:buNone/>
            </a:pPr>
            <a:r>
              <a:rPr lang="en-US" sz="1300" b="1" dirty="0">
                <a:solidFill>
                  <a:schemeClr val="tx2"/>
                </a:solidFill>
              </a:rPr>
              <a:t>MobileNetV2 (edge-friendly)</a:t>
            </a:r>
            <a:endParaRPr lang="en-US" sz="1300" dirty="0"/>
          </a:p>
        </p:txBody>
      </p:sp>
      <p:sp>
        <p:nvSpPr>
          <p:cNvPr id="41" name="stack-pill-4-2"/>
          <p:cNvSpPr/>
          <p:nvPr/>
        </p:nvSpPr>
        <p:spPr>
          <a:xfrm>
            <a:off x="777240" y="5248656"/>
            <a:ext cx="3063240" cy="374904"/>
          </a:xfrm>
          <a:prstGeom prst="roundRect">
            <a:avLst>
              <a:gd name="adj" fmla="val 48780"/>
            </a:avLst>
          </a:prstGeom>
          <a:solidFill>
            <a:schemeClr val="accent3">
              <a:alpha val="60000"/>
            </a:schemeClr>
          </a:solidFill>
          <a:ln/>
        </p:spPr>
      </p:sp>
      <p:sp>
        <p:nvSpPr>
          <p:cNvPr id="42" name="Text 35"/>
          <p:cNvSpPr txBox="1"/>
          <p:nvPr/>
        </p:nvSpPr>
        <p:spPr>
          <a:xfrm>
            <a:off x="777240" y="5248656"/>
            <a:ext cx="3063240" cy="374904"/>
          </a:xfrm>
          <a:prstGeom prst="rect">
            <a:avLst/>
          </a:prstGeom>
          <a:noFill/>
          <a:ln/>
        </p:spPr>
        <p:txBody>
          <a:bodyPr wrap="square" lIns="0" tIns="0" rIns="0" bIns="0" rtlCol="0" anchor="ctr"/>
          <a:lstStyle/>
          <a:p>
            <a:pPr algn="ctr" indent="0" marL="0">
              <a:buNone/>
            </a:pPr>
            <a:r>
              <a:rPr lang="en-US" sz="1300" b="1" dirty="0">
                <a:solidFill>
                  <a:schemeClr val="tx2"/>
                </a:solidFill>
              </a:rPr>
              <a:t>ResNet50 (high-capacity)</a:t>
            </a:r>
            <a:endParaRPr lang="en-US" sz="1300" dirty="0"/>
          </a:p>
        </p:txBody>
      </p:sp>
      <p:sp>
        <p:nvSpPr>
          <p:cNvPr id="43" name="stack-pill-4-3"/>
          <p:cNvSpPr/>
          <p:nvPr/>
        </p:nvSpPr>
        <p:spPr>
          <a:xfrm>
            <a:off x="777240" y="5696712"/>
            <a:ext cx="3063240" cy="374904"/>
          </a:xfrm>
          <a:prstGeom prst="roundRect">
            <a:avLst>
              <a:gd name="adj" fmla="val 48780"/>
            </a:avLst>
          </a:prstGeom>
          <a:solidFill>
            <a:schemeClr val="accent3">
              <a:alpha val="60000"/>
            </a:schemeClr>
          </a:solidFill>
          <a:ln/>
        </p:spPr>
      </p:sp>
      <p:sp>
        <p:nvSpPr>
          <p:cNvPr id="44" name="Text 37"/>
          <p:cNvSpPr txBox="1"/>
          <p:nvPr/>
        </p:nvSpPr>
        <p:spPr>
          <a:xfrm>
            <a:off x="777240" y="5696712"/>
            <a:ext cx="3063240" cy="374904"/>
          </a:xfrm>
          <a:prstGeom prst="rect">
            <a:avLst/>
          </a:prstGeom>
          <a:noFill/>
          <a:ln/>
        </p:spPr>
        <p:txBody>
          <a:bodyPr wrap="square" lIns="0" tIns="0" rIns="0" bIns="0" rtlCol="0" anchor="ctr"/>
          <a:lstStyle/>
          <a:p>
            <a:pPr algn="ctr" indent="0" marL="0">
              <a:buNone/>
            </a:pPr>
            <a:r>
              <a:rPr lang="en-US" sz="1300" b="1" dirty="0">
                <a:solidFill>
                  <a:schemeClr val="tx2"/>
                </a:solidFill>
              </a:rPr>
              <a:t>5 leaf pathologies</a:t>
            </a:r>
            <a:endParaRPr lang="en-US" sz="1300" dirty="0"/>
          </a:p>
        </p:txBody>
      </p:sp>
      <p:sp>
        <p:nvSpPr>
          <p:cNvPr id="45" name="stack-card-5"/>
          <p:cNvSpPr/>
          <p:nvPr/>
        </p:nvSpPr>
        <p:spPr>
          <a:xfrm>
            <a:off x="4334256" y="3931920"/>
            <a:ext cx="3520440" cy="2240280"/>
          </a:xfrm>
          <a:prstGeom prst="roundRect">
            <a:avLst>
              <a:gd name="adj" fmla="val 489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46" name="icon-bg-FaSearch"/>
          <p:cNvSpPr/>
          <p:nvPr/>
        </p:nvSpPr>
        <p:spPr>
          <a:xfrm>
            <a:off x="4562856" y="4114800"/>
            <a:ext cx="502920" cy="502920"/>
          </a:xfrm>
          <a:prstGeom prst="ellipse">
            <a:avLst/>
          </a:prstGeom>
          <a:solidFill>
            <a:schemeClr val="accent1"/>
          </a:solidFill>
          <a:ln/>
        </p:spPr>
      </p:sp>
      <p:pic>
        <p:nvPicPr>
          <p:cNvPr id="47" name="Image 4" descr="Search icon">    </p:cNvPr>
          <p:cNvPicPr>
            <a:picLocks noChangeAspect="1"/>
          </p:cNvPicPr>
          <p:nvPr/>
        </p:nvPicPr>
        <p:blipFill>
          <a:blip r:embed="rId5"/>
          <a:stretch>
            <a:fillRect/>
          </a:stretch>
        </p:blipFill>
        <p:spPr>
          <a:xfrm>
            <a:off x="4688586" y="4240530"/>
            <a:ext cx="251460" cy="251460"/>
          </a:xfrm>
          <a:prstGeom prst="rect">
            <a:avLst/>
          </a:prstGeom>
        </p:spPr>
      </p:pic>
      <p:sp>
        <p:nvSpPr>
          <p:cNvPr id="48" name="Text 40"/>
          <p:cNvSpPr txBox="1"/>
          <p:nvPr/>
        </p:nvSpPr>
        <p:spPr>
          <a:xfrm>
            <a:off x="5248656" y="4114800"/>
            <a:ext cx="2468880" cy="502920"/>
          </a:xfrm>
          <a:prstGeom prst="rect">
            <a:avLst/>
          </a:prstGeom>
          <a:noFill/>
          <a:ln/>
        </p:spPr>
        <p:txBody>
          <a:bodyPr wrap="square" lIns="0" tIns="0" rIns="0" bIns="0" rtlCol="0" anchor="ctr"/>
          <a:lstStyle/>
          <a:p>
            <a:pPr indent="0" marL="0">
              <a:buNone/>
            </a:pPr>
            <a:r>
              <a:rPr lang="en-US" sz="1700" b="1" dirty="0">
                <a:solidFill>
                  <a:schemeClr val="tx2"/>
                </a:solidFill>
              </a:rPr>
              <a:t>Retrieval &amp; Agents</a:t>
            </a:r>
            <a:endParaRPr lang="en-US" sz="1700" dirty="0"/>
          </a:p>
        </p:txBody>
      </p:sp>
      <p:sp>
        <p:nvSpPr>
          <p:cNvPr id="49" name="stack-pill-5-1"/>
          <p:cNvSpPr/>
          <p:nvPr/>
        </p:nvSpPr>
        <p:spPr>
          <a:xfrm>
            <a:off x="4562856" y="4800600"/>
            <a:ext cx="3063240" cy="374904"/>
          </a:xfrm>
          <a:prstGeom prst="roundRect">
            <a:avLst>
              <a:gd name="adj" fmla="val 48780"/>
            </a:avLst>
          </a:prstGeom>
          <a:solidFill>
            <a:schemeClr val="accent3">
              <a:alpha val="60000"/>
            </a:schemeClr>
          </a:solidFill>
          <a:ln/>
        </p:spPr>
      </p:sp>
      <p:sp>
        <p:nvSpPr>
          <p:cNvPr id="50" name="Text 42"/>
          <p:cNvSpPr txBox="1"/>
          <p:nvPr/>
        </p:nvSpPr>
        <p:spPr>
          <a:xfrm>
            <a:off x="4562856" y="4800600"/>
            <a:ext cx="3063240" cy="374904"/>
          </a:xfrm>
          <a:prstGeom prst="rect">
            <a:avLst/>
          </a:prstGeom>
          <a:noFill/>
          <a:ln/>
        </p:spPr>
        <p:txBody>
          <a:bodyPr wrap="square" lIns="0" tIns="0" rIns="0" bIns="0" rtlCol="0" anchor="ctr"/>
          <a:lstStyle/>
          <a:p>
            <a:pPr algn="ctr" indent="0" marL="0">
              <a:buNone/>
            </a:pPr>
            <a:r>
              <a:rPr lang="en-US" sz="1300" b="1" dirty="0">
                <a:solidFill>
                  <a:schemeClr val="tx2"/>
                </a:solidFill>
              </a:rPr>
              <a:t>ChromaDB + all-MiniLM-L6-v2</a:t>
            </a:r>
            <a:endParaRPr lang="en-US" sz="1300" dirty="0"/>
          </a:p>
        </p:txBody>
      </p:sp>
      <p:sp>
        <p:nvSpPr>
          <p:cNvPr id="51" name="stack-pill-5-2"/>
          <p:cNvSpPr/>
          <p:nvPr/>
        </p:nvSpPr>
        <p:spPr>
          <a:xfrm>
            <a:off x="4562856" y="5248656"/>
            <a:ext cx="3063240" cy="374904"/>
          </a:xfrm>
          <a:prstGeom prst="roundRect">
            <a:avLst>
              <a:gd name="adj" fmla="val 48780"/>
            </a:avLst>
          </a:prstGeom>
          <a:solidFill>
            <a:schemeClr val="accent3">
              <a:alpha val="60000"/>
            </a:schemeClr>
          </a:solidFill>
          <a:ln/>
        </p:spPr>
      </p:sp>
      <p:sp>
        <p:nvSpPr>
          <p:cNvPr id="52" name="Text 44"/>
          <p:cNvSpPr txBox="1"/>
          <p:nvPr/>
        </p:nvSpPr>
        <p:spPr>
          <a:xfrm>
            <a:off x="4562856" y="5248656"/>
            <a:ext cx="3063240" cy="374904"/>
          </a:xfrm>
          <a:prstGeom prst="rect">
            <a:avLst/>
          </a:prstGeom>
          <a:noFill/>
          <a:ln/>
        </p:spPr>
        <p:txBody>
          <a:bodyPr wrap="square" lIns="0" tIns="0" rIns="0" bIns="0" rtlCol="0" anchor="ctr"/>
          <a:lstStyle/>
          <a:p>
            <a:pPr algn="ctr" indent="0" marL="0">
              <a:buNone/>
            </a:pPr>
            <a:r>
              <a:rPr lang="en-US" sz="1300" b="1" dirty="0">
                <a:solidFill>
                  <a:schemeClr val="tx2"/>
                </a:solidFill>
              </a:rPr>
              <a:t>BM25 + Reciprocal Rank Fusion</a:t>
            </a:r>
            <a:endParaRPr lang="en-US" sz="1300" dirty="0"/>
          </a:p>
        </p:txBody>
      </p:sp>
      <p:sp>
        <p:nvSpPr>
          <p:cNvPr id="53" name="stack-pill-5-3"/>
          <p:cNvSpPr/>
          <p:nvPr/>
        </p:nvSpPr>
        <p:spPr>
          <a:xfrm>
            <a:off x="4562856" y="5696712"/>
            <a:ext cx="3063240" cy="374904"/>
          </a:xfrm>
          <a:prstGeom prst="roundRect">
            <a:avLst>
              <a:gd name="adj" fmla="val 48780"/>
            </a:avLst>
          </a:prstGeom>
          <a:solidFill>
            <a:schemeClr val="accent3">
              <a:alpha val="60000"/>
            </a:schemeClr>
          </a:solidFill>
          <a:ln/>
        </p:spPr>
      </p:sp>
      <p:sp>
        <p:nvSpPr>
          <p:cNvPr id="54" name="Text 46"/>
          <p:cNvSpPr txBox="1"/>
          <p:nvPr/>
        </p:nvSpPr>
        <p:spPr>
          <a:xfrm>
            <a:off x="4562856" y="5696712"/>
            <a:ext cx="3063240" cy="374904"/>
          </a:xfrm>
          <a:prstGeom prst="rect">
            <a:avLst/>
          </a:prstGeom>
          <a:noFill/>
          <a:ln/>
        </p:spPr>
        <p:txBody>
          <a:bodyPr wrap="square" lIns="0" tIns="0" rIns="0" bIns="0" rtlCol="0" anchor="ctr"/>
          <a:lstStyle/>
          <a:p>
            <a:pPr algn="ctr" indent="0" marL="0">
              <a:buNone/>
            </a:pPr>
            <a:r>
              <a:rPr lang="en-US" sz="1300" b="1" dirty="0">
                <a:solidFill>
                  <a:schemeClr val="tx2"/>
                </a:solidFill>
              </a:rPr>
              <a:t>SQLite + AST-guarded SQL agent</a:t>
            </a:r>
            <a:endParaRPr lang="en-US" sz="1300" dirty="0"/>
          </a:p>
        </p:txBody>
      </p:sp>
      <p:sp>
        <p:nvSpPr>
          <p:cNvPr id="55" name="stack-card-6"/>
          <p:cNvSpPr/>
          <p:nvPr/>
        </p:nvSpPr>
        <p:spPr>
          <a:xfrm>
            <a:off x="8119872" y="3931920"/>
            <a:ext cx="3520440" cy="2240280"/>
          </a:xfrm>
          <a:prstGeom prst="roundRect">
            <a:avLst>
              <a:gd name="adj" fmla="val 489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56" name="icon-bg-FaClipboardCheck"/>
          <p:cNvSpPr/>
          <p:nvPr/>
        </p:nvSpPr>
        <p:spPr>
          <a:xfrm>
            <a:off x="8348472" y="4114800"/>
            <a:ext cx="502920" cy="502920"/>
          </a:xfrm>
          <a:prstGeom prst="ellipse">
            <a:avLst/>
          </a:prstGeom>
          <a:solidFill>
            <a:schemeClr val="accent1"/>
          </a:solidFill>
          <a:ln/>
        </p:spPr>
      </p:sp>
      <p:pic>
        <p:nvPicPr>
          <p:cNvPr id="57" name="Image 5" descr="ClipboardCheck icon">    </p:cNvPr>
          <p:cNvPicPr>
            <a:picLocks noChangeAspect="1"/>
          </p:cNvPicPr>
          <p:nvPr/>
        </p:nvPicPr>
        <p:blipFill>
          <a:blip r:embed="rId6"/>
          <a:stretch>
            <a:fillRect/>
          </a:stretch>
        </p:blipFill>
        <p:spPr>
          <a:xfrm>
            <a:off x="8474202" y="4240530"/>
            <a:ext cx="251460" cy="251460"/>
          </a:xfrm>
          <a:prstGeom prst="rect">
            <a:avLst/>
          </a:prstGeom>
        </p:spPr>
      </p:pic>
      <p:sp>
        <p:nvSpPr>
          <p:cNvPr id="58" name="Text 49"/>
          <p:cNvSpPr txBox="1"/>
          <p:nvPr/>
        </p:nvSpPr>
        <p:spPr>
          <a:xfrm>
            <a:off x="9034272" y="4114800"/>
            <a:ext cx="2468880" cy="502920"/>
          </a:xfrm>
          <a:prstGeom prst="rect">
            <a:avLst/>
          </a:prstGeom>
          <a:noFill/>
          <a:ln/>
        </p:spPr>
        <p:txBody>
          <a:bodyPr wrap="square" lIns="0" tIns="0" rIns="0" bIns="0" rtlCol="0" anchor="ctr"/>
          <a:lstStyle/>
          <a:p>
            <a:pPr indent="0" marL="0">
              <a:buNone/>
            </a:pPr>
            <a:r>
              <a:rPr lang="en-US" sz="1700" b="1" dirty="0">
                <a:solidFill>
                  <a:schemeClr val="tx2"/>
                </a:solidFill>
              </a:rPr>
              <a:t>Reporting &amp; Evaluation</a:t>
            </a:r>
            <a:endParaRPr lang="en-US" sz="1700" dirty="0"/>
          </a:p>
        </p:txBody>
      </p:sp>
      <p:sp>
        <p:nvSpPr>
          <p:cNvPr id="59" name="stack-pill-6-1"/>
          <p:cNvSpPr/>
          <p:nvPr/>
        </p:nvSpPr>
        <p:spPr>
          <a:xfrm>
            <a:off x="8348472" y="4800600"/>
            <a:ext cx="3063240" cy="374904"/>
          </a:xfrm>
          <a:prstGeom prst="roundRect">
            <a:avLst>
              <a:gd name="adj" fmla="val 48780"/>
            </a:avLst>
          </a:prstGeom>
          <a:solidFill>
            <a:schemeClr val="accent3">
              <a:alpha val="60000"/>
            </a:schemeClr>
          </a:solidFill>
          <a:ln/>
        </p:spPr>
      </p:sp>
      <p:sp>
        <p:nvSpPr>
          <p:cNvPr id="60" name="Text 51"/>
          <p:cNvSpPr txBox="1"/>
          <p:nvPr/>
        </p:nvSpPr>
        <p:spPr>
          <a:xfrm>
            <a:off x="8348472" y="4800600"/>
            <a:ext cx="3063240" cy="374904"/>
          </a:xfrm>
          <a:prstGeom prst="rect">
            <a:avLst/>
          </a:prstGeom>
          <a:noFill/>
          <a:ln/>
        </p:spPr>
        <p:txBody>
          <a:bodyPr wrap="square" lIns="0" tIns="0" rIns="0" bIns="0" rtlCol="0" anchor="ctr"/>
          <a:lstStyle/>
          <a:p>
            <a:pPr algn="ctr" indent="0" marL="0">
              <a:buNone/>
            </a:pPr>
            <a:r>
              <a:rPr lang="en-US" sz="1300" b="1" dirty="0">
                <a:solidFill>
                  <a:schemeClr val="tx2"/>
                </a:solidFill>
              </a:rPr>
              <a:t>ReportLab multi-page PDF</a:t>
            </a:r>
            <a:endParaRPr lang="en-US" sz="1300" dirty="0"/>
          </a:p>
        </p:txBody>
      </p:sp>
      <p:sp>
        <p:nvSpPr>
          <p:cNvPr id="61" name="stack-pill-6-2"/>
          <p:cNvSpPr/>
          <p:nvPr/>
        </p:nvSpPr>
        <p:spPr>
          <a:xfrm>
            <a:off x="8348472" y="5248656"/>
            <a:ext cx="3063240" cy="374904"/>
          </a:xfrm>
          <a:prstGeom prst="roundRect">
            <a:avLst>
              <a:gd name="adj" fmla="val 48780"/>
            </a:avLst>
          </a:prstGeom>
          <a:solidFill>
            <a:schemeClr val="accent3">
              <a:alpha val="60000"/>
            </a:schemeClr>
          </a:solidFill>
          <a:ln/>
        </p:spPr>
      </p:sp>
      <p:sp>
        <p:nvSpPr>
          <p:cNvPr id="62" name="Text 53"/>
          <p:cNvSpPr txBox="1"/>
          <p:nvPr/>
        </p:nvSpPr>
        <p:spPr>
          <a:xfrm>
            <a:off x="8348472" y="5248656"/>
            <a:ext cx="3063240" cy="374904"/>
          </a:xfrm>
          <a:prstGeom prst="rect">
            <a:avLst/>
          </a:prstGeom>
          <a:noFill/>
          <a:ln/>
        </p:spPr>
        <p:txBody>
          <a:bodyPr wrap="square" lIns="0" tIns="0" rIns="0" bIns="0" rtlCol="0" anchor="ctr"/>
          <a:lstStyle/>
          <a:p>
            <a:pPr algn="ctr" indent="0" marL="0">
              <a:buNone/>
            </a:pPr>
            <a:r>
              <a:rPr lang="en-US" sz="1300" b="1" dirty="0">
                <a:solidFill>
                  <a:schemeClr val="tx2"/>
                </a:solidFill>
              </a:rPr>
              <a:t>DeepEval and Ragas principles</a:t>
            </a:r>
            <a:endParaRPr lang="en-US" sz="1300" dirty="0"/>
          </a:p>
        </p:txBody>
      </p:sp>
      <p:sp>
        <p:nvSpPr>
          <p:cNvPr id="63" name="stack-pill-6-3"/>
          <p:cNvSpPr/>
          <p:nvPr/>
        </p:nvSpPr>
        <p:spPr>
          <a:xfrm>
            <a:off x="8348472" y="5696712"/>
            <a:ext cx="3063240" cy="374904"/>
          </a:xfrm>
          <a:prstGeom prst="roundRect">
            <a:avLst>
              <a:gd name="adj" fmla="val 48780"/>
            </a:avLst>
          </a:prstGeom>
          <a:solidFill>
            <a:schemeClr val="accent3">
              <a:alpha val="60000"/>
            </a:schemeClr>
          </a:solidFill>
          <a:ln/>
        </p:spPr>
      </p:sp>
      <p:sp>
        <p:nvSpPr>
          <p:cNvPr id="64" name="Text 55"/>
          <p:cNvSpPr txBox="1"/>
          <p:nvPr/>
        </p:nvSpPr>
        <p:spPr>
          <a:xfrm>
            <a:off x="8348472" y="5696712"/>
            <a:ext cx="3063240" cy="374904"/>
          </a:xfrm>
          <a:prstGeom prst="rect">
            <a:avLst/>
          </a:prstGeom>
          <a:noFill/>
          <a:ln/>
        </p:spPr>
        <p:txBody>
          <a:bodyPr wrap="square" lIns="0" tIns="0" rIns="0" bIns="0" rtlCol="0" anchor="ctr"/>
          <a:lstStyle/>
          <a:p>
            <a:pPr algn="ctr" indent="0" marL="0">
              <a:buNone/>
            </a:pPr>
            <a:r>
              <a:rPr lang="en-US" sz="1300" b="1" dirty="0">
                <a:solidFill>
                  <a:schemeClr val="tx2"/>
                </a:solidFill>
              </a:rPr>
              <a:t>24 golden test cases</a:t>
            </a:r>
            <a:endParaRPr lang="en-US" sz="13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Agent Workflow</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Two agentic workflows, each with a built-in guardrail against unsafe or invented answers</a:t>
            </a:r>
            <a:endParaRPr lang="en-US" sz="1600" dirty="0"/>
          </a:p>
        </p:txBody>
      </p:sp>
      <p:sp>
        <p:nvSpPr>
          <p:cNvPr id="5" name="icon-bg-FaDatabase"/>
          <p:cNvSpPr/>
          <p:nvPr/>
        </p:nvSpPr>
        <p:spPr>
          <a:xfrm>
            <a:off x="548640" y="1508760"/>
            <a:ext cx="457200" cy="457200"/>
          </a:xfrm>
          <a:prstGeom prst="ellipse">
            <a:avLst/>
          </a:prstGeom>
          <a:solidFill>
            <a:schemeClr val="accent1"/>
          </a:solidFill>
          <a:ln/>
        </p:spPr>
      </p:sp>
      <p:pic>
        <p:nvPicPr>
          <p:cNvPr id="6" name="Image 0" descr="Database icon">    </p:cNvPr>
          <p:cNvPicPr>
            <a:picLocks noChangeAspect="1"/>
          </p:cNvPicPr>
          <p:nvPr/>
        </p:nvPicPr>
        <p:blipFill>
          <a:blip r:embed="rId1"/>
          <a:stretch>
            <a:fillRect/>
          </a:stretch>
        </p:blipFill>
        <p:spPr>
          <a:xfrm>
            <a:off x="662940" y="1623060"/>
            <a:ext cx="228600" cy="228600"/>
          </a:xfrm>
          <a:prstGeom prst="rect">
            <a:avLst/>
          </a:prstGeom>
        </p:spPr>
      </p:pic>
      <p:sp>
        <p:nvSpPr>
          <p:cNvPr id="7" name="Text 3"/>
          <p:cNvSpPr txBox="1"/>
          <p:nvPr/>
        </p:nvSpPr>
        <p:spPr>
          <a:xfrm>
            <a:off x="1143000" y="1508760"/>
            <a:ext cx="7315200" cy="457200"/>
          </a:xfrm>
          <a:prstGeom prst="rect">
            <a:avLst/>
          </a:prstGeom>
          <a:noFill/>
          <a:ln/>
        </p:spPr>
        <p:txBody>
          <a:bodyPr wrap="square" lIns="0" tIns="0" rIns="0" bIns="0" rtlCol="0" anchor="ctr"/>
          <a:lstStyle/>
          <a:p>
            <a:pPr indent="0" marL="0">
              <a:buNone/>
            </a:pPr>
            <a:r>
              <a:rPr lang="en-US" sz="1800" b="1" dirty="0">
                <a:solidFill>
                  <a:schemeClr val="tx2"/>
                </a:solidFill>
              </a:rPr>
              <a:t>Farm History Agent</a:t>
            </a:r>
            <a:pPr indent="0" marL="0">
              <a:buNone/>
            </a:pPr>
            <a:r>
              <a:rPr lang="en-US" sz="1300" i="1" dirty="0">
                <a:solidFill>
                  <a:schemeClr val="accent6"/>
                </a:solidFill>
              </a:rPr>
              <a:t>   core/sql_agent.py</a:t>
            </a:r>
            <a:endParaRPr lang="en-US" sz="1400" dirty="0"/>
          </a:p>
        </p:txBody>
      </p:sp>
      <p:sp>
        <p:nvSpPr>
          <p:cNvPr id="8" name="agent-step-0-1"/>
          <p:cNvSpPr/>
          <p:nvPr/>
        </p:nvSpPr>
        <p:spPr>
          <a:xfrm>
            <a:off x="548640" y="2103120"/>
            <a:ext cx="1920240" cy="1188720"/>
          </a:xfrm>
          <a:prstGeom prst="roundRect">
            <a:avLst>
              <a:gd name="adj" fmla="val 7692"/>
            </a:avLst>
          </a:prstGeom>
          <a:solidFill>
            <a:schemeClr val="accent3">
              <a:alpha val="60000"/>
            </a:schemeClr>
          </a:solidFill>
          <a:ln/>
        </p:spPr>
      </p:sp>
      <p:sp>
        <p:nvSpPr>
          <p:cNvPr id="9" name="Text 5"/>
          <p:cNvSpPr txBox="1"/>
          <p:nvPr/>
        </p:nvSpPr>
        <p:spPr>
          <a:xfrm>
            <a:off x="658368" y="2212848"/>
            <a:ext cx="292608" cy="29260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Text 6"/>
          <p:cNvSpPr txBox="1"/>
          <p:nvPr/>
        </p:nvSpPr>
        <p:spPr>
          <a:xfrm>
            <a:off x="658368" y="2532888"/>
            <a:ext cx="1700784" cy="731520"/>
          </a:xfrm>
          <a:prstGeom prst="rect">
            <a:avLst/>
          </a:prstGeom>
          <a:noFill/>
          <a:ln/>
        </p:spPr>
        <p:txBody>
          <a:bodyPr wrap="square" lIns="0" tIns="0" rIns="0" bIns="0" rtlCol="0" anchor="t"/>
          <a:lstStyle/>
          <a:p>
            <a:pPr indent="0" marL="0">
              <a:buNone/>
            </a:pPr>
            <a:r>
              <a:rPr lang="en-US" sz="1300" b="1" dirty="0">
                <a:solidFill>
                  <a:schemeClr val="tx2"/>
                </a:solidFill>
              </a:rPr>
              <a:t>Farmer asks in plain language</a:t>
            </a:r>
            <a:endParaRPr lang="en-US" sz="1300" dirty="0"/>
          </a:p>
        </p:txBody>
      </p:sp>
      <p:sp>
        <p:nvSpPr>
          <p:cNvPr id="11" name="Shape 7"/>
          <p:cNvSpPr/>
          <p:nvPr/>
        </p:nvSpPr>
        <p:spPr>
          <a:xfrm>
            <a:off x="2505456" y="2587752"/>
            <a:ext cx="292608" cy="274320"/>
          </a:xfrm>
          <a:prstGeom prst="rightArrow">
            <a:avLst/>
          </a:prstGeom>
          <a:solidFill>
            <a:schemeClr val="accent1"/>
          </a:solidFill>
          <a:ln/>
        </p:spPr>
      </p:sp>
      <p:sp>
        <p:nvSpPr>
          <p:cNvPr id="12" name="agent-step-0-2"/>
          <p:cNvSpPr/>
          <p:nvPr/>
        </p:nvSpPr>
        <p:spPr>
          <a:xfrm>
            <a:off x="2834640" y="2103120"/>
            <a:ext cx="1920240" cy="1188720"/>
          </a:xfrm>
          <a:prstGeom prst="roundRect">
            <a:avLst>
              <a:gd name="adj" fmla="val 7692"/>
            </a:avLst>
          </a:prstGeom>
          <a:solidFill>
            <a:schemeClr val="accent3">
              <a:alpha val="60000"/>
            </a:schemeClr>
          </a:solidFill>
          <a:ln/>
        </p:spPr>
      </p:sp>
      <p:sp>
        <p:nvSpPr>
          <p:cNvPr id="13" name="Text 9"/>
          <p:cNvSpPr txBox="1"/>
          <p:nvPr/>
        </p:nvSpPr>
        <p:spPr>
          <a:xfrm>
            <a:off x="2944368" y="2212848"/>
            <a:ext cx="292608" cy="29260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4" name="Text 10"/>
          <p:cNvSpPr txBox="1"/>
          <p:nvPr/>
        </p:nvSpPr>
        <p:spPr>
          <a:xfrm>
            <a:off x="2944368" y="2532888"/>
            <a:ext cx="1700784" cy="731520"/>
          </a:xfrm>
          <a:prstGeom prst="rect">
            <a:avLst/>
          </a:prstGeom>
          <a:noFill/>
          <a:ln/>
        </p:spPr>
        <p:txBody>
          <a:bodyPr wrap="square" lIns="0" tIns="0" rIns="0" bIns="0" rtlCol="0" anchor="t"/>
          <a:lstStyle/>
          <a:p>
            <a:pPr indent="0" marL="0">
              <a:buNone/>
            </a:pPr>
            <a:r>
              <a:rPr lang="en-US" sz="1300" b="1" dirty="0">
                <a:solidFill>
                  <a:schemeClr val="tx2"/>
                </a:solidFill>
              </a:rPr>
              <a:t>LLM drafts a SQL query</a:t>
            </a:r>
            <a:endParaRPr lang="en-US" sz="1300" dirty="0"/>
          </a:p>
        </p:txBody>
      </p:sp>
      <p:sp>
        <p:nvSpPr>
          <p:cNvPr id="15" name="Shape 11"/>
          <p:cNvSpPr/>
          <p:nvPr/>
        </p:nvSpPr>
        <p:spPr>
          <a:xfrm>
            <a:off x="4791456" y="2587752"/>
            <a:ext cx="292608" cy="274320"/>
          </a:xfrm>
          <a:prstGeom prst="rightArrow">
            <a:avLst/>
          </a:prstGeom>
          <a:solidFill>
            <a:schemeClr val="accent1"/>
          </a:solidFill>
          <a:ln/>
        </p:spPr>
      </p:sp>
      <p:sp>
        <p:nvSpPr>
          <p:cNvPr id="16" name="agent-step-0-3"/>
          <p:cNvSpPr/>
          <p:nvPr/>
        </p:nvSpPr>
        <p:spPr>
          <a:xfrm>
            <a:off x="5120640" y="2103120"/>
            <a:ext cx="1920240" cy="1188720"/>
          </a:xfrm>
          <a:prstGeom prst="roundRect">
            <a:avLst>
              <a:gd name="adj" fmla="val 7692"/>
            </a:avLst>
          </a:prstGeom>
          <a:solidFill>
            <a:schemeClr val="tx2"/>
          </a:solidFill>
          <a:ln/>
        </p:spPr>
      </p:sp>
      <p:sp>
        <p:nvSpPr>
          <p:cNvPr id="17" name="Text 13"/>
          <p:cNvSpPr txBox="1"/>
          <p:nvPr/>
        </p:nvSpPr>
        <p:spPr>
          <a:xfrm>
            <a:off x="5230368" y="2212848"/>
            <a:ext cx="292608" cy="292608"/>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8" name="Text 14"/>
          <p:cNvSpPr txBox="1"/>
          <p:nvPr/>
        </p:nvSpPr>
        <p:spPr>
          <a:xfrm>
            <a:off x="5230368" y="2532888"/>
            <a:ext cx="1700784" cy="731520"/>
          </a:xfrm>
          <a:prstGeom prst="rect">
            <a:avLst/>
          </a:prstGeom>
          <a:noFill/>
          <a:ln/>
        </p:spPr>
        <p:txBody>
          <a:bodyPr wrap="square" lIns="0" tIns="0" rIns="0" bIns="0" rtlCol="0" anchor="t"/>
          <a:lstStyle/>
          <a:p>
            <a:pPr indent="0" marL="0">
              <a:buNone/>
            </a:pPr>
            <a:r>
              <a:rPr lang="en-US" sz="1300" b="1" dirty="0">
                <a:solidFill>
                  <a:schemeClr val="bg1"/>
                </a:solidFill>
              </a:rPr>
              <a:t>AST validator: single SELECT, allow-listed tables</a:t>
            </a:r>
            <a:endParaRPr lang="en-US" sz="1300" dirty="0"/>
          </a:p>
        </p:txBody>
      </p:sp>
      <p:sp>
        <p:nvSpPr>
          <p:cNvPr id="19" name="Shape 15"/>
          <p:cNvSpPr/>
          <p:nvPr/>
        </p:nvSpPr>
        <p:spPr>
          <a:xfrm>
            <a:off x="7077456" y="2587752"/>
            <a:ext cx="292608" cy="274320"/>
          </a:xfrm>
          <a:prstGeom prst="rightArrow">
            <a:avLst/>
          </a:prstGeom>
          <a:solidFill>
            <a:schemeClr val="accent1"/>
          </a:solidFill>
          <a:ln/>
        </p:spPr>
      </p:sp>
      <p:sp>
        <p:nvSpPr>
          <p:cNvPr id="20" name="agent-step-0-4"/>
          <p:cNvSpPr/>
          <p:nvPr/>
        </p:nvSpPr>
        <p:spPr>
          <a:xfrm>
            <a:off x="7406640" y="2103120"/>
            <a:ext cx="1920240" cy="1188720"/>
          </a:xfrm>
          <a:prstGeom prst="roundRect">
            <a:avLst>
              <a:gd name="adj" fmla="val 7692"/>
            </a:avLst>
          </a:prstGeom>
          <a:solidFill>
            <a:schemeClr val="accent3">
              <a:alpha val="60000"/>
            </a:schemeClr>
          </a:solidFill>
          <a:ln/>
        </p:spPr>
      </p:sp>
      <p:sp>
        <p:nvSpPr>
          <p:cNvPr id="21" name="Text 17"/>
          <p:cNvSpPr txBox="1"/>
          <p:nvPr/>
        </p:nvSpPr>
        <p:spPr>
          <a:xfrm>
            <a:off x="7516368" y="2212848"/>
            <a:ext cx="292608" cy="29260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2" name="Text 18"/>
          <p:cNvSpPr txBox="1"/>
          <p:nvPr/>
        </p:nvSpPr>
        <p:spPr>
          <a:xfrm>
            <a:off x="7516368" y="2532888"/>
            <a:ext cx="1700784" cy="731520"/>
          </a:xfrm>
          <a:prstGeom prst="rect">
            <a:avLst/>
          </a:prstGeom>
          <a:noFill/>
          <a:ln/>
        </p:spPr>
        <p:txBody>
          <a:bodyPr wrap="square" lIns="0" tIns="0" rIns="0" bIns="0" rtlCol="0" anchor="t"/>
          <a:lstStyle/>
          <a:p>
            <a:pPr indent="0" marL="0">
              <a:buNone/>
            </a:pPr>
            <a:r>
              <a:rPr lang="en-US" sz="1300" b="1" dirty="0">
                <a:solidFill>
                  <a:schemeClr val="tx2"/>
                </a:solidFill>
              </a:rPr>
              <a:t>Read-only run on farmer_profile.db</a:t>
            </a:r>
            <a:endParaRPr lang="en-US" sz="1300" dirty="0"/>
          </a:p>
        </p:txBody>
      </p:sp>
      <p:sp>
        <p:nvSpPr>
          <p:cNvPr id="23" name="Shape 19"/>
          <p:cNvSpPr/>
          <p:nvPr/>
        </p:nvSpPr>
        <p:spPr>
          <a:xfrm>
            <a:off x="9363456" y="2587752"/>
            <a:ext cx="292608" cy="274320"/>
          </a:xfrm>
          <a:prstGeom prst="rightArrow">
            <a:avLst/>
          </a:prstGeom>
          <a:solidFill>
            <a:schemeClr val="accent1"/>
          </a:solidFill>
          <a:ln/>
        </p:spPr>
      </p:sp>
      <p:sp>
        <p:nvSpPr>
          <p:cNvPr id="24" name="agent-step-0-5"/>
          <p:cNvSpPr/>
          <p:nvPr/>
        </p:nvSpPr>
        <p:spPr>
          <a:xfrm>
            <a:off x="9692640" y="2103120"/>
            <a:ext cx="1920240" cy="1188720"/>
          </a:xfrm>
          <a:prstGeom prst="roundRect">
            <a:avLst>
              <a:gd name="adj" fmla="val 7692"/>
            </a:avLst>
          </a:prstGeom>
          <a:solidFill>
            <a:schemeClr val="accent3">
              <a:alpha val="60000"/>
            </a:schemeClr>
          </a:solidFill>
          <a:ln/>
        </p:spPr>
      </p:sp>
      <p:sp>
        <p:nvSpPr>
          <p:cNvPr id="25" name="Text 21"/>
          <p:cNvSpPr txBox="1"/>
          <p:nvPr/>
        </p:nvSpPr>
        <p:spPr>
          <a:xfrm>
            <a:off x="9802368" y="2212848"/>
            <a:ext cx="292608" cy="29260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6" name="Text 22"/>
          <p:cNvSpPr txBox="1"/>
          <p:nvPr/>
        </p:nvSpPr>
        <p:spPr>
          <a:xfrm>
            <a:off x="9802368" y="2532888"/>
            <a:ext cx="1700784" cy="731520"/>
          </a:xfrm>
          <a:prstGeom prst="rect">
            <a:avLst/>
          </a:prstGeom>
          <a:noFill/>
          <a:ln/>
        </p:spPr>
        <p:txBody>
          <a:bodyPr wrap="square" lIns="0" tIns="0" rIns="0" bIns="0" rtlCol="0" anchor="t"/>
          <a:lstStyle/>
          <a:p>
            <a:pPr indent="0" marL="0">
              <a:buNone/>
            </a:pPr>
            <a:r>
              <a:rPr lang="en-US" sz="1300" b="1" dirty="0">
                <a:solidFill>
                  <a:schemeClr val="tx2"/>
                </a:solidFill>
              </a:rPr>
              <a:t>Answer cites exact crop_history rows</a:t>
            </a:r>
            <a:endParaRPr lang="en-US" sz="1300" dirty="0"/>
          </a:p>
        </p:txBody>
      </p:sp>
      <p:sp>
        <p:nvSpPr>
          <p:cNvPr id="27" name="icon-bg-FaBook"/>
          <p:cNvSpPr/>
          <p:nvPr/>
        </p:nvSpPr>
        <p:spPr>
          <a:xfrm>
            <a:off x="548640" y="3429000"/>
            <a:ext cx="457200" cy="457200"/>
          </a:xfrm>
          <a:prstGeom prst="ellipse">
            <a:avLst/>
          </a:prstGeom>
          <a:solidFill>
            <a:schemeClr val="accent1"/>
          </a:solidFill>
          <a:ln/>
        </p:spPr>
      </p:sp>
      <p:pic>
        <p:nvPicPr>
          <p:cNvPr id="28" name="Image 1" descr="Book icon">    </p:cNvPr>
          <p:cNvPicPr>
            <a:picLocks noChangeAspect="1"/>
          </p:cNvPicPr>
          <p:nvPr/>
        </p:nvPicPr>
        <p:blipFill>
          <a:blip r:embed="rId2"/>
          <a:stretch>
            <a:fillRect/>
          </a:stretch>
        </p:blipFill>
        <p:spPr>
          <a:xfrm>
            <a:off x="662940" y="3543300"/>
            <a:ext cx="228600" cy="228600"/>
          </a:xfrm>
          <a:prstGeom prst="rect">
            <a:avLst/>
          </a:prstGeom>
        </p:spPr>
      </p:pic>
      <p:sp>
        <p:nvSpPr>
          <p:cNvPr id="29" name="Text 24"/>
          <p:cNvSpPr txBox="1"/>
          <p:nvPr/>
        </p:nvSpPr>
        <p:spPr>
          <a:xfrm>
            <a:off x="1143000" y="3429000"/>
            <a:ext cx="7315200" cy="457200"/>
          </a:xfrm>
          <a:prstGeom prst="rect">
            <a:avLst/>
          </a:prstGeom>
          <a:noFill/>
          <a:ln/>
        </p:spPr>
        <p:txBody>
          <a:bodyPr wrap="square" lIns="0" tIns="0" rIns="0" bIns="0" rtlCol="0" anchor="ctr"/>
          <a:lstStyle/>
          <a:p>
            <a:pPr indent="0" marL="0">
              <a:buNone/>
            </a:pPr>
            <a:r>
              <a:rPr lang="en-US" sz="1800" b="1" dirty="0">
                <a:solidFill>
                  <a:schemeClr val="tx2"/>
                </a:solidFill>
              </a:rPr>
              <a:t>Knowledge Agent (Hybrid RAG)</a:t>
            </a:r>
            <a:pPr indent="0" marL="0">
              <a:buNone/>
            </a:pPr>
            <a:r>
              <a:rPr lang="en-US" sz="1300" i="1" dirty="0">
                <a:solidFill>
                  <a:schemeClr val="accent6"/>
                </a:solidFill>
              </a:rPr>
              <a:t>   ICAR and MANAGE manuals</a:t>
            </a:r>
            <a:endParaRPr lang="en-US" sz="1400" dirty="0"/>
          </a:p>
        </p:txBody>
      </p:sp>
      <p:sp>
        <p:nvSpPr>
          <p:cNvPr id="30" name="agent-step-1-1"/>
          <p:cNvSpPr/>
          <p:nvPr/>
        </p:nvSpPr>
        <p:spPr>
          <a:xfrm>
            <a:off x="548640" y="4023360"/>
            <a:ext cx="1920240" cy="1188720"/>
          </a:xfrm>
          <a:prstGeom prst="roundRect">
            <a:avLst>
              <a:gd name="adj" fmla="val 7692"/>
            </a:avLst>
          </a:prstGeom>
          <a:solidFill>
            <a:schemeClr val="accent3">
              <a:alpha val="60000"/>
            </a:schemeClr>
          </a:solidFill>
          <a:ln/>
        </p:spPr>
      </p:sp>
      <p:sp>
        <p:nvSpPr>
          <p:cNvPr id="31" name="Text 26"/>
          <p:cNvSpPr txBox="1"/>
          <p:nvPr/>
        </p:nvSpPr>
        <p:spPr>
          <a:xfrm>
            <a:off x="658368" y="4133088"/>
            <a:ext cx="292608" cy="29260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32" name="Text 27"/>
          <p:cNvSpPr txBox="1"/>
          <p:nvPr/>
        </p:nvSpPr>
        <p:spPr>
          <a:xfrm>
            <a:off x="658368" y="4453128"/>
            <a:ext cx="1700784" cy="731520"/>
          </a:xfrm>
          <a:prstGeom prst="rect">
            <a:avLst/>
          </a:prstGeom>
          <a:noFill/>
          <a:ln/>
        </p:spPr>
        <p:txBody>
          <a:bodyPr wrap="square" lIns="0" tIns="0" rIns="0" bIns="0" rtlCol="0" anchor="t"/>
          <a:lstStyle/>
          <a:p>
            <a:pPr indent="0" marL="0">
              <a:buNone/>
            </a:pPr>
            <a:r>
              <a:rPr lang="en-US" sz="1300" b="1" dirty="0">
                <a:solidFill>
                  <a:schemeClr val="tx2"/>
                </a:solidFill>
              </a:rPr>
              <a:t>Question or leaf diagnosis arrives</a:t>
            </a:r>
            <a:endParaRPr lang="en-US" sz="1300" dirty="0"/>
          </a:p>
        </p:txBody>
      </p:sp>
      <p:sp>
        <p:nvSpPr>
          <p:cNvPr id="33" name="Shape 28"/>
          <p:cNvSpPr/>
          <p:nvPr/>
        </p:nvSpPr>
        <p:spPr>
          <a:xfrm>
            <a:off x="2505456" y="4507992"/>
            <a:ext cx="292608" cy="274320"/>
          </a:xfrm>
          <a:prstGeom prst="rightArrow">
            <a:avLst/>
          </a:prstGeom>
          <a:solidFill>
            <a:schemeClr val="accent1"/>
          </a:solidFill>
          <a:ln/>
        </p:spPr>
      </p:sp>
      <p:sp>
        <p:nvSpPr>
          <p:cNvPr id="34" name="agent-step-1-2"/>
          <p:cNvSpPr/>
          <p:nvPr/>
        </p:nvSpPr>
        <p:spPr>
          <a:xfrm>
            <a:off x="2834640" y="4023360"/>
            <a:ext cx="1920240" cy="1188720"/>
          </a:xfrm>
          <a:prstGeom prst="roundRect">
            <a:avLst>
              <a:gd name="adj" fmla="val 7692"/>
            </a:avLst>
          </a:prstGeom>
          <a:solidFill>
            <a:schemeClr val="accent3">
              <a:alpha val="60000"/>
            </a:schemeClr>
          </a:solidFill>
          <a:ln/>
        </p:spPr>
      </p:sp>
      <p:sp>
        <p:nvSpPr>
          <p:cNvPr id="35" name="Text 30"/>
          <p:cNvSpPr txBox="1"/>
          <p:nvPr/>
        </p:nvSpPr>
        <p:spPr>
          <a:xfrm>
            <a:off x="2944368" y="4133088"/>
            <a:ext cx="292608" cy="29260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36" name="Text 31"/>
          <p:cNvSpPr txBox="1"/>
          <p:nvPr/>
        </p:nvSpPr>
        <p:spPr>
          <a:xfrm>
            <a:off x="2944368" y="4453128"/>
            <a:ext cx="1700784" cy="731520"/>
          </a:xfrm>
          <a:prstGeom prst="rect">
            <a:avLst/>
          </a:prstGeom>
          <a:noFill/>
          <a:ln/>
        </p:spPr>
        <p:txBody>
          <a:bodyPr wrap="square" lIns="0" tIns="0" rIns="0" bIns="0" rtlCol="0" anchor="t"/>
          <a:lstStyle/>
          <a:p>
            <a:pPr indent="0" marL="0">
              <a:buNone/>
            </a:pPr>
            <a:r>
              <a:rPr lang="en-US" sz="1300" b="1" dirty="0">
                <a:solidFill>
                  <a:schemeClr val="tx2"/>
                </a:solidFill>
              </a:rPr>
              <a:t>Dense (ChromaDB) and BM25 search in parallel</a:t>
            </a:r>
            <a:endParaRPr lang="en-US" sz="1300" dirty="0"/>
          </a:p>
        </p:txBody>
      </p:sp>
      <p:sp>
        <p:nvSpPr>
          <p:cNvPr id="37" name="Shape 32"/>
          <p:cNvSpPr/>
          <p:nvPr/>
        </p:nvSpPr>
        <p:spPr>
          <a:xfrm>
            <a:off x="4791456" y="4507992"/>
            <a:ext cx="292608" cy="274320"/>
          </a:xfrm>
          <a:prstGeom prst="rightArrow">
            <a:avLst/>
          </a:prstGeom>
          <a:solidFill>
            <a:schemeClr val="accent1"/>
          </a:solidFill>
          <a:ln/>
        </p:spPr>
      </p:sp>
      <p:sp>
        <p:nvSpPr>
          <p:cNvPr id="38" name="agent-step-1-3"/>
          <p:cNvSpPr/>
          <p:nvPr/>
        </p:nvSpPr>
        <p:spPr>
          <a:xfrm>
            <a:off x="5120640" y="4023360"/>
            <a:ext cx="1920240" cy="1188720"/>
          </a:xfrm>
          <a:prstGeom prst="roundRect">
            <a:avLst>
              <a:gd name="adj" fmla="val 7692"/>
            </a:avLst>
          </a:prstGeom>
          <a:solidFill>
            <a:schemeClr val="accent3">
              <a:alpha val="60000"/>
            </a:schemeClr>
          </a:solidFill>
          <a:ln/>
        </p:spPr>
      </p:sp>
      <p:sp>
        <p:nvSpPr>
          <p:cNvPr id="39" name="Text 34"/>
          <p:cNvSpPr txBox="1"/>
          <p:nvPr/>
        </p:nvSpPr>
        <p:spPr>
          <a:xfrm>
            <a:off x="5230368" y="4133088"/>
            <a:ext cx="292608" cy="29260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40" name="Text 35"/>
          <p:cNvSpPr txBox="1"/>
          <p:nvPr/>
        </p:nvSpPr>
        <p:spPr>
          <a:xfrm>
            <a:off x="5230368" y="4453128"/>
            <a:ext cx="1700784" cy="731520"/>
          </a:xfrm>
          <a:prstGeom prst="rect">
            <a:avLst/>
          </a:prstGeom>
          <a:noFill/>
          <a:ln/>
        </p:spPr>
        <p:txBody>
          <a:bodyPr wrap="square" lIns="0" tIns="0" rIns="0" bIns="0" rtlCol="0" anchor="t"/>
          <a:lstStyle/>
          <a:p>
            <a:pPr indent="0" marL="0">
              <a:buNone/>
            </a:pPr>
            <a:r>
              <a:rPr lang="en-US" sz="1300" b="1" dirty="0">
                <a:solidFill>
                  <a:schemeClr val="tx2"/>
                </a:solidFill>
              </a:rPr>
              <a:t>RRF fuses the two rankings</a:t>
            </a:r>
            <a:endParaRPr lang="en-US" sz="1300" dirty="0"/>
          </a:p>
        </p:txBody>
      </p:sp>
      <p:sp>
        <p:nvSpPr>
          <p:cNvPr id="41" name="Shape 36"/>
          <p:cNvSpPr/>
          <p:nvPr/>
        </p:nvSpPr>
        <p:spPr>
          <a:xfrm>
            <a:off x="7077456" y="4507992"/>
            <a:ext cx="292608" cy="274320"/>
          </a:xfrm>
          <a:prstGeom prst="rightArrow">
            <a:avLst/>
          </a:prstGeom>
          <a:solidFill>
            <a:schemeClr val="accent1"/>
          </a:solidFill>
          <a:ln/>
        </p:spPr>
      </p:sp>
      <p:sp>
        <p:nvSpPr>
          <p:cNvPr id="42" name="agent-step-1-4"/>
          <p:cNvSpPr/>
          <p:nvPr/>
        </p:nvSpPr>
        <p:spPr>
          <a:xfrm>
            <a:off x="7406640" y="4023360"/>
            <a:ext cx="1920240" cy="1188720"/>
          </a:xfrm>
          <a:prstGeom prst="roundRect">
            <a:avLst>
              <a:gd name="adj" fmla="val 7692"/>
            </a:avLst>
          </a:prstGeom>
          <a:solidFill>
            <a:schemeClr val="accent3">
              <a:alpha val="60000"/>
            </a:schemeClr>
          </a:solidFill>
          <a:ln/>
        </p:spPr>
      </p:sp>
      <p:sp>
        <p:nvSpPr>
          <p:cNvPr id="43" name="Text 38"/>
          <p:cNvSpPr txBox="1"/>
          <p:nvPr/>
        </p:nvSpPr>
        <p:spPr>
          <a:xfrm>
            <a:off x="7516368" y="4133088"/>
            <a:ext cx="292608" cy="29260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44" name="Text 39"/>
          <p:cNvSpPr txBox="1"/>
          <p:nvPr/>
        </p:nvSpPr>
        <p:spPr>
          <a:xfrm>
            <a:off x="7516368" y="4453128"/>
            <a:ext cx="1700784" cy="731520"/>
          </a:xfrm>
          <a:prstGeom prst="rect">
            <a:avLst/>
          </a:prstGeom>
          <a:noFill/>
          <a:ln/>
        </p:spPr>
        <p:txBody>
          <a:bodyPr wrap="square" lIns="0" tIns="0" rIns="0" bIns="0" rtlCol="0" anchor="t"/>
          <a:lstStyle/>
          <a:p>
            <a:pPr indent="0" marL="0">
              <a:buNone/>
            </a:pPr>
            <a:r>
              <a:rPr lang="en-US" sz="1300" b="1" dirty="0">
                <a:solidFill>
                  <a:schemeClr val="tx2"/>
                </a:solidFill>
              </a:rPr>
              <a:t>Answer written only from retrieved passages</a:t>
            </a:r>
            <a:endParaRPr lang="en-US" sz="1300" dirty="0"/>
          </a:p>
        </p:txBody>
      </p:sp>
      <p:sp>
        <p:nvSpPr>
          <p:cNvPr id="45" name="Shape 40"/>
          <p:cNvSpPr/>
          <p:nvPr/>
        </p:nvSpPr>
        <p:spPr>
          <a:xfrm>
            <a:off x="9363456" y="4507992"/>
            <a:ext cx="292608" cy="274320"/>
          </a:xfrm>
          <a:prstGeom prst="rightArrow">
            <a:avLst/>
          </a:prstGeom>
          <a:solidFill>
            <a:schemeClr val="accent1"/>
          </a:solidFill>
          <a:ln/>
        </p:spPr>
      </p:sp>
      <p:sp>
        <p:nvSpPr>
          <p:cNvPr id="46" name="agent-step-1-5"/>
          <p:cNvSpPr/>
          <p:nvPr/>
        </p:nvSpPr>
        <p:spPr>
          <a:xfrm>
            <a:off x="9692640" y="4023360"/>
            <a:ext cx="1920240" cy="1188720"/>
          </a:xfrm>
          <a:prstGeom prst="roundRect">
            <a:avLst>
              <a:gd name="adj" fmla="val 7692"/>
            </a:avLst>
          </a:prstGeom>
          <a:solidFill>
            <a:schemeClr val="tx2"/>
          </a:solidFill>
          <a:ln/>
        </p:spPr>
      </p:sp>
      <p:sp>
        <p:nvSpPr>
          <p:cNvPr id="47" name="Text 42"/>
          <p:cNvSpPr txBox="1"/>
          <p:nvPr/>
        </p:nvSpPr>
        <p:spPr>
          <a:xfrm>
            <a:off x="9802368" y="4133088"/>
            <a:ext cx="292608" cy="292608"/>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48" name="Text 43"/>
          <p:cNvSpPr txBox="1"/>
          <p:nvPr/>
        </p:nvSpPr>
        <p:spPr>
          <a:xfrm>
            <a:off x="9802368" y="4453128"/>
            <a:ext cx="1700784" cy="731520"/>
          </a:xfrm>
          <a:prstGeom prst="rect">
            <a:avLst/>
          </a:prstGeom>
          <a:noFill/>
          <a:ln/>
        </p:spPr>
        <p:txBody>
          <a:bodyPr wrap="square" lIns="0" tIns="0" rIns="0" bIns="0" rtlCol="0" anchor="t"/>
          <a:lstStyle/>
          <a:p>
            <a:pPr indent="0" marL="0">
              <a:buNone/>
            </a:pPr>
            <a:r>
              <a:rPr lang="en-US" sz="1300" b="1" dirty="0">
                <a:solidFill>
                  <a:schemeClr val="bg1"/>
                </a:solidFill>
              </a:rPr>
              <a:t>Citations, or a refusal if no source</a:t>
            </a:r>
            <a:endParaRPr lang="en-US" sz="1300" dirty="0"/>
          </a:p>
        </p:txBody>
      </p:sp>
      <p:sp>
        <p:nvSpPr>
          <p:cNvPr id="49" name="gate-note"/>
          <p:cNvSpPr/>
          <p:nvPr/>
        </p:nvSpPr>
        <p:spPr>
          <a:xfrm>
            <a:off x="548640" y="5394960"/>
            <a:ext cx="11091672" cy="822960"/>
          </a:xfrm>
          <a:prstGeom prst="roundRect">
            <a:avLst>
              <a:gd name="adj" fmla="val 11111"/>
            </a:avLst>
          </a:prstGeom>
          <a:solidFill>
            <a:schemeClr val="accent3">
              <a:alpha val="50000"/>
            </a:schemeClr>
          </a:solidFill>
          <a:ln/>
        </p:spPr>
      </p:sp>
      <p:sp>
        <p:nvSpPr>
          <p:cNvPr id="50" name="icon-bg-FaShieldAlt"/>
          <p:cNvSpPr/>
          <p:nvPr/>
        </p:nvSpPr>
        <p:spPr>
          <a:xfrm>
            <a:off x="777240" y="5577840"/>
            <a:ext cx="457200" cy="457200"/>
          </a:xfrm>
          <a:prstGeom prst="ellipse">
            <a:avLst/>
          </a:prstGeom>
          <a:solidFill>
            <a:schemeClr val="accent1"/>
          </a:solidFill>
          <a:ln/>
        </p:spPr>
      </p:sp>
      <p:pic>
        <p:nvPicPr>
          <p:cNvPr id="51" name="Image 2" descr="ShieldAlt icon">    </p:cNvPr>
          <p:cNvPicPr>
            <a:picLocks noChangeAspect="1"/>
          </p:cNvPicPr>
          <p:nvPr/>
        </p:nvPicPr>
        <p:blipFill>
          <a:blip r:embed="rId3"/>
          <a:stretch>
            <a:fillRect/>
          </a:stretch>
        </p:blipFill>
        <p:spPr>
          <a:xfrm>
            <a:off x="891540" y="5692140"/>
            <a:ext cx="228600" cy="228600"/>
          </a:xfrm>
          <a:prstGeom prst="rect">
            <a:avLst/>
          </a:prstGeom>
        </p:spPr>
      </p:pic>
      <p:sp>
        <p:nvSpPr>
          <p:cNvPr id="52" name="Text 46"/>
          <p:cNvSpPr txBox="1"/>
          <p:nvPr/>
        </p:nvSpPr>
        <p:spPr>
          <a:xfrm>
            <a:off x="1463040" y="5394960"/>
            <a:ext cx="9966960" cy="822960"/>
          </a:xfrm>
          <a:prstGeom prst="rect">
            <a:avLst/>
          </a:prstGeom>
          <a:noFill/>
          <a:ln/>
        </p:spPr>
        <p:txBody>
          <a:bodyPr wrap="square" lIns="0" tIns="0" rIns="0" bIns="0" rtlCol="0" anchor="ctr"/>
          <a:lstStyle/>
          <a:p>
            <a:pPr indent="0" marL="0">
              <a:buNone/>
            </a:pPr>
            <a:r>
              <a:rPr lang="en-US" sz="1500" b="1" dirty="0">
                <a:solidFill>
                  <a:schemeClr val="tx2"/>
                </a:solidFill>
              </a:rPr>
              <a:t>Shared quality gates: </a:t>
            </a:r>
            <a:pPr indent="0" marL="0">
              <a:buNone/>
            </a:pPr>
            <a:r>
              <a:rPr lang="en-US" sz="1500" dirty="0">
                <a:solidFill>
                  <a:schemeClr val="tx2"/>
                </a:solidFill>
              </a:rPr>
              <a:t>both agents are scored on Agronomic Safety, Faithfulness, SQL Grounding and Readability (100–180 words) in the 24-case evaluation suite.</a:t>
            </a:r>
            <a:endParaRPr lang="en-US" sz="15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Demo</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Six steps from soil values to a bank-ready dossier</a:t>
            </a:r>
            <a:endParaRPr lang="en-US" sz="1600" dirty="0"/>
          </a:p>
        </p:txBody>
      </p:sp>
      <p:sp>
        <p:nvSpPr>
          <p:cNvPr id="5" name="demo-card-1"/>
          <p:cNvSpPr/>
          <p:nvPr/>
        </p:nvSpPr>
        <p:spPr>
          <a:xfrm>
            <a:off x="548640" y="1508760"/>
            <a:ext cx="3520440" cy="2240280"/>
          </a:xfrm>
          <a:prstGeom prst="roundRect">
            <a:avLst>
              <a:gd name="adj" fmla="val 489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777240" y="173736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417320" y="1737360"/>
            <a:ext cx="1737360" cy="457200"/>
          </a:xfrm>
          <a:prstGeom prst="rect">
            <a:avLst/>
          </a:prstGeom>
          <a:noFill/>
          <a:ln/>
        </p:spPr>
        <p:txBody>
          <a:bodyPr wrap="square" lIns="0" tIns="0" rIns="0" bIns="0" rtlCol="0" anchor="ctr"/>
          <a:lstStyle/>
          <a:p>
            <a:pPr indent="0" marL="0">
              <a:buNone/>
            </a:pPr>
            <a:r>
              <a:rPr lang="en-US" sz="2200" b="1" dirty="0">
                <a:solidFill>
                  <a:schemeClr val="tx2"/>
                </a:solidFill>
              </a:rPr>
              <a:t>Recommend</a:t>
            </a:r>
            <a:endParaRPr lang="en-US" sz="2200" dirty="0"/>
          </a:p>
        </p:txBody>
      </p:sp>
      <p:sp>
        <p:nvSpPr>
          <p:cNvPr id="8" name="icon-bg-FaBrain"/>
          <p:cNvSpPr/>
          <p:nvPr/>
        </p:nvSpPr>
        <p:spPr>
          <a:xfrm>
            <a:off x="3337560" y="1737360"/>
            <a:ext cx="502920" cy="502920"/>
          </a:xfrm>
          <a:prstGeom prst="ellipse">
            <a:avLst/>
          </a:prstGeom>
          <a:solidFill>
            <a:schemeClr val="accent1"/>
          </a:solidFill>
          <a:ln/>
        </p:spPr>
      </p:sp>
      <p:pic>
        <p:nvPicPr>
          <p:cNvPr id="9" name="Image 0" descr="Brain icon">    </p:cNvPr>
          <p:cNvPicPr>
            <a:picLocks noChangeAspect="1"/>
          </p:cNvPicPr>
          <p:nvPr/>
        </p:nvPicPr>
        <p:blipFill>
          <a:blip r:embed="rId1"/>
          <a:stretch>
            <a:fillRect/>
          </a:stretch>
        </p:blipFill>
        <p:spPr>
          <a:xfrm>
            <a:off x="3463290" y="1863090"/>
            <a:ext cx="251460" cy="251460"/>
          </a:xfrm>
          <a:prstGeom prst="rect">
            <a:avLst/>
          </a:prstGeom>
        </p:spPr>
      </p:pic>
      <p:sp>
        <p:nvSpPr>
          <p:cNvPr id="10" name="Text 6"/>
          <p:cNvSpPr txBox="1"/>
          <p:nvPr/>
        </p:nvSpPr>
        <p:spPr>
          <a:xfrm>
            <a:off x="822960" y="2468880"/>
            <a:ext cx="3017520" cy="1188720"/>
          </a:xfrm>
          <a:prstGeom prst="rect">
            <a:avLst/>
          </a:prstGeom>
          <a:noFill/>
          <a:ln/>
        </p:spPr>
        <p:txBody>
          <a:bodyPr wrap="square" lIns="0" tIns="0" rIns="0" bIns="0" rtlCol="0" anchor="t"/>
          <a:lstStyle/>
          <a:p>
            <a:pPr indent="0" marL="0">
              <a:buNone/>
            </a:pPr>
            <a:r>
              <a:rPr lang="en-US" sz="1600" dirty="0">
                <a:solidFill>
                  <a:schemeClr val="tx1"/>
                </a:solidFill>
              </a:rPr>
              <a:t>Enter soil and weather values to get ranked crops with calibrated confidence.</a:t>
            </a:r>
            <a:endParaRPr lang="en-US" sz="1600" dirty="0"/>
          </a:p>
        </p:txBody>
      </p:sp>
      <p:sp>
        <p:nvSpPr>
          <p:cNvPr id="11" name="demo-card-2"/>
          <p:cNvSpPr/>
          <p:nvPr/>
        </p:nvSpPr>
        <p:spPr>
          <a:xfrm>
            <a:off x="4334256" y="1508760"/>
            <a:ext cx="3520440" cy="2240280"/>
          </a:xfrm>
          <a:prstGeom prst="roundRect">
            <a:avLst>
              <a:gd name="adj" fmla="val 489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12" name="Text 8"/>
          <p:cNvSpPr txBox="1"/>
          <p:nvPr/>
        </p:nvSpPr>
        <p:spPr>
          <a:xfrm>
            <a:off x="4562856" y="173736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9"/>
          <p:cNvSpPr txBox="1"/>
          <p:nvPr/>
        </p:nvSpPr>
        <p:spPr>
          <a:xfrm>
            <a:off x="5202936" y="1737360"/>
            <a:ext cx="1737360" cy="457200"/>
          </a:xfrm>
          <a:prstGeom prst="rect">
            <a:avLst/>
          </a:prstGeom>
          <a:noFill/>
          <a:ln/>
        </p:spPr>
        <p:txBody>
          <a:bodyPr wrap="square" lIns="0" tIns="0" rIns="0" bIns="0" rtlCol="0" anchor="ctr"/>
          <a:lstStyle/>
          <a:p>
            <a:pPr indent="0" marL="0">
              <a:buNone/>
            </a:pPr>
            <a:r>
              <a:rPr lang="en-US" sz="2200" b="1" dirty="0">
                <a:solidFill>
                  <a:schemeClr val="tx2"/>
                </a:solidFill>
              </a:rPr>
              <a:t>Explain</a:t>
            </a:r>
            <a:endParaRPr lang="en-US" sz="2200" dirty="0"/>
          </a:p>
        </p:txBody>
      </p:sp>
      <p:sp>
        <p:nvSpPr>
          <p:cNvPr id="14" name="icon-bg-FaSearch"/>
          <p:cNvSpPr/>
          <p:nvPr/>
        </p:nvSpPr>
        <p:spPr>
          <a:xfrm>
            <a:off x="7123176" y="1737360"/>
            <a:ext cx="502920" cy="502920"/>
          </a:xfrm>
          <a:prstGeom prst="ellipse">
            <a:avLst/>
          </a:prstGeom>
          <a:solidFill>
            <a:schemeClr val="accent1"/>
          </a:solidFill>
          <a:ln/>
        </p:spPr>
      </p:sp>
      <p:pic>
        <p:nvPicPr>
          <p:cNvPr id="15" name="Image 1" descr="Search icon">    </p:cNvPr>
          <p:cNvPicPr>
            <a:picLocks noChangeAspect="1"/>
          </p:cNvPicPr>
          <p:nvPr/>
        </p:nvPicPr>
        <p:blipFill>
          <a:blip r:embed="rId2"/>
          <a:stretch>
            <a:fillRect/>
          </a:stretch>
        </p:blipFill>
        <p:spPr>
          <a:xfrm>
            <a:off x="7248906" y="1863090"/>
            <a:ext cx="251460" cy="251460"/>
          </a:xfrm>
          <a:prstGeom prst="rect">
            <a:avLst/>
          </a:prstGeom>
        </p:spPr>
      </p:pic>
      <p:sp>
        <p:nvSpPr>
          <p:cNvPr id="16" name="Text 11"/>
          <p:cNvSpPr txBox="1"/>
          <p:nvPr/>
        </p:nvSpPr>
        <p:spPr>
          <a:xfrm>
            <a:off x="4608576" y="2468880"/>
            <a:ext cx="3017520" cy="1188720"/>
          </a:xfrm>
          <a:prstGeom prst="rect">
            <a:avLst/>
          </a:prstGeom>
          <a:noFill/>
          <a:ln/>
        </p:spPr>
        <p:txBody>
          <a:bodyPr wrap="square" lIns="0" tIns="0" rIns="0" bIns="0" rtlCol="0" anchor="t"/>
          <a:lstStyle/>
          <a:p>
            <a:pPr indent="0" marL="0">
              <a:buNone/>
            </a:pPr>
            <a:r>
              <a:rPr lang="en-US" sz="1600" dirty="0">
                <a:solidFill>
                  <a:schemeClr val="tx1"/>
                </a:solidFill>
              </a:rPr>
              <a:t>Open the SHAP view, then cut rainfall by 30% and watch the ranking shift.</a:t>
            </a:r>
            <a:endParaRPr lang="en-US" sz="1600" dirty="0"/>
          </a:p>
        </p:txBody>
      </p:sp>
      <p:sp>
        <p:nvSpPr>
          <p:cNvPr id="17" name="demo-card-3"/>
          <p:cNvSpPr/>
          <p:nvPr/>
        </p:nvSpPr>
        <p:spPr>
          <a:xfrm>
            <a:off x="8119872" y="1508760"/>
            <a:ext cx="3520440" cy="2240280"/>
          </a:xfrm>
          <a:prstGeom prst="roundRect">
            <a:avLst>
              <a:gd name="adj" fmla="val 489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18" name="Text 13"/>
          <p:cNvSpPr txBox="1"/>
          <p:nvPr/>
        </p:nvSpPr>
        <p:spPr>
          <a:xfrm>
            <a:off x="8348472" y="173736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 14"/>
          <p:cNvSpPr txBox="1"/>
          <p:nvPr/>
        </p:nvSpPr>
        <p:spPr>
          <a:xfrm>
            <a:off x="8988552" y="1737360"/>
            <a:ext cx="1737360" cy="457200"/>
          </a:xfrm>
          <a:prstGeom prst="rect">
            <a:avLst/>
          </a:prstGeom>
          <a:noFill/>
          <a:ln/>
        </p:spPr>
        <p:txBody>
          <a:bodyPr wrap="square" lIns="0" tIns="0" rIns="0" bIns="0" rtlCol="0" anchor="ctr"/>
          <a:lstStyle/>
          <a:p>
            <a:pPr indent="0" marL="0">
              <a:buNone/>
            </a:pPr>
            <a:r>
              <a:rPr lang="en-US" sz="2200" b="1" dirty="0">
                <a:solidFill>
                  <a:schemeClr val="tx2"/>
                </a:solidFill>
              </a:rPr>
              <a:t>Rebalance</a:t>
            </a:r>
            <a:endParaRPr lang="en-US" sz="2200" dirty="0"/>
          </a:p>
        </p:txBody>
      </p:sp>
      <p:sp>
        <p:nvSpPr>
          <p:cNvPr id="20" name="icon-bg-FaCalendarAlt"/>
          <p:cNvSpPr/>
          <p:nvPr/>
        </p:nvSpPr>
        <p:spPr>
          <a:xfrm>
            <a:off x="10908792" y="1737360"/>
            <a:ext cx="502920" cy="502920"/>
          </a:xfrm>
          <a:prstGeom prst="ellipse">
            <a:avLst/>
          </a:prstGeom>
          <a:solidFill>
            <a:schemeClr val="accent1"/>
          </a:solidFill>
          <a:ln/>
        </p:spPr>
      </p:sp>
      <p:pic>
        <p:nvPicPr>
          <p:cNvPr id="21" name="Image 2" descr="CalendarAlt icon">    </p:cNvPr>
          <p:cNvPicPr>
            <a:picLocks noChangeAspect="1"/>
          </p:cNvPicPr>
          <p:nvPr/>
        </p:nvPicPr>
        <p:blipFill>
          <a:blip r:embed="rId3"/>
          <a:stretch>
            <a:fillRect/>
          </a:stretch>
        </p:blipFill>
        <p:spPr>
          <a:xfrm>
            <a:off x="11034522" y="1863090"/>
            <a:ext cx="251460" cy="251460"/>
          </a:xfrm>
          <a:prstGeom prst="rect">
            <a:avLst/>
          </a:prstGeom>
        </p:spPr>
      </p:pic>
      <p:sp>
        <p:nvSpPr>
          <p:cNvPr id="22" name="Text 16"/>
          <p:cNvSpPr txBox="1"/>
          <p:nvPr/>
        </p:nvSpPr>
        <p:spPr>
          <a:xfrm>
            <a:off x="8394192" y="2468880"/>
            <a:ext cx="3017520" cy="1188720"/>
          </a:xfrm>
          <a:prstGeom prst="rect">
            <a:avLst/>
          </a:prstGeom>
          <a:noFill/>
          <a:ln/>
        </p:spPr>
        <p:txBody>
          <a:bodyPr wrap="square" lIns="0" tIns="0" rIns="0" bIns="0" rtlCol="0" anchor="t"/>
          <a:lstStyle/>
          <a:p>
            <a:pPr indent="0" marL="0">
              <a:buNone/>
            </a:pPr>
            <a:r>
              <a:rPr lang="en-US" sz="1600" dirty="0">
                <a:solidFill>
                  <a:schemeClr val="tx1"/>
                </a:solidFill>
              </a:rPr>
              <a:t>Skip seed treatment and see it pushed to the next valid window.</a:t>
            </a:r>
            <a:endParaRPr lang="en-US" sz="1600" dirty="0"/>
          </a:p>
        </p:txBody>
      </p:sp>
      <p:sp>
        <p:nvSpPr>
          <p:cNvPr id="23" name="demo-card-4"/>
          <p:cNvSpPr/>
          <p:nvPr/>
        </p:nvSpPr>
        <p:spPr>
          <a:xfrm>
            <a:off x="548640" y="3931920"/>
            <a:ext cx="3520440" cy="2240280"/>
          </a:xfrm>
          <a:prstGeom prst="roundRect">
            <a:avLst>
              <a:gd name="adj" fmla="val 489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24" name="Text 18"/>
          <p:cNvSpPr txBox="1"/>
          <p:nvPr/>
        </p:nvSpPr>
        <p:spPr>
          <a:xfrm>
            <a:off x="777240" y="416052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5" name="Text 19"/>
          <p:cNvSpPr txBox="1"/>
          <p:nvPr/>
        </p:nvSpPr>
        <p:spPr>
          <a:xfrm>
            <a:off x="1417320" y="4160520"/>
            <a:ext cx="1737360" cy="457200"/>
          </a:xfrm>
          <a:prstGeom prst="rect">
            <a:avLst/>
          </a:prstGeom>
          <a:noFill/>
          <a:ln/>
        </p:spPr>
        <p:txBody>
          <a:bodyPr wrap="square" lIns="0" tIns="0" rIns="0" bIns="0" rtlCol="0" anchor="ctr"/>
          <a:lstStyle/>
          <a:p>
            <a:pPr indent="0" marL="0">
              <a:buNone/>
            </a:pPr>
            <a:r>
              <a:rPr lang="en-US" sz="2200" b="1" dirty="0">
                <a:solidFill>
                  <a:schemeClr val="tx2"/>
                </a:solidFill>
              </a:rPr>
              <a:t>Diagnose</a:t>
            </a:r>
            <a:endParaRPr lang="en-US" sz="2200" dirty="0"/>
          </a:p>
        </p:txBody>
      </p:sp>
      <p:sp>
        <p:nvSpPr>
          <p:cNvPr id="26" name="icon-bg-FaLeaf"/>
          <p:cNvSpPr/>
          <p:nvPr/>
        </p:nvSpPr>
        <p:spPr>
          <a:xfrm>
            <a:off x="3337560" y="4160520"/>
            <a:ext cx="502920" cy="502920"/>
          </a:xfrm>
          <a:prstGeom prst="ellipse">
            <a:avLst/>
          </a:prstGeom>
          <a:solidFill>
            <a:schemeClr val="accent1"/>
          </a:solidFill>
          <a:ln/>
        </p:spPr>
      </p:sp>
      <p:pic>
        <p:nvPicPr>
          <p:cNvPr id="27" name="Image 3" descr="Leaf icon">    </p:cNvPr>
          <p:cNvPicPr>
            <a:picLocks noChangeAspect="1"/>
          </p:cNvPicPr>
          <p:nvPr/>
        </p:nvPicPr>
        <p:blipFill>
          <a:blip r:embed="rId4"/>
          <a:stretch>
            <a:fillRect/>
          </a:stretch>
        </p:blipFill>
        <p:spPr>
          <a:xfrm>
            <a:off x="3463290" y="4286250"/>
            <a:ext cx="251460" cy="251460"/>
          </a:xfrm>
          <a:prstGeom prst="rect">
            <a:avLst/>
          </a:prstGeom>
        </p:spPr>
      </p:pic>
      <p:sp>
        <p:nvSpPr>
          <p:cNvPr id="28" name="Text 21"/>
          <p:cNvSpPr txBox="1"/>
          <p:nvPr/>
        </p:nvSpPr>
        <p:spPr>
          <a:xfrm>
            <a:off x="822960" y="4892040"/>
            <a:ext cx="3017520" cy="1188720"/>
          </a:xfrm>
          <a:prstGeom prst="rect">
            <a:avLst/>
          </a:prstGeom>
          <a:noFill/>
          <a:ln/>
        </p:spPr>
        <p:txBody>
          <a:bodyPr wrap="square" lIns="0" tIns="0" rIns="0" bIns="0" rtlCol="0" anchor="t"/>
          <a:lstStyle/>
          <a:p>
            <a:pPr indent="0" marL="0">
              <a:buNone/>
            </a:pPr>
            <a:r>
              <a:rPr lang="en-US" sz="1600" dirty="0">
                <a:solidFill>
                  <a:schemeClr val="tx1"/>
                </a:solidFill>
              </a:rPr>
              <a:t>Upload a Rice Blast leaf to get an organic and chemical treatment dossier.</a:t>
            </a:r>
            <a:endParaRPr lang="en-US" sz="1600" dirty="0"/>
          </a:p>
        </p:txBody>
      </p:sp>
      <p:sp>
        <p:nvSpPr>
          <p:cNvPr id="29" name="demo-card-5"/>
          <p:cNvSpPr/>
          <p:nvPr/>
        </p:nvSpPr>
        <p:spPr>
          <a:xfrm>
            <a:off x="4334256" y="3931920"/>
            <a:ext cx="3520440" cy="2240280"/>
          </a:xfrm>
          <a:prstGeom prst="roundRect">
            <a:avLst>
              <a:gd name="adj" fmla="val 489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30" name="Text 23"/>
          <p:cNvSpPr txBox="1"/>
          <p:nvPr/>
        </p:nvSpPr>
        <p:spPr>
          <a:xfrm>
            <a:off x="4562856" y="416052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1" name="Text 24"/>
          <p:cNvSpPr txBox="1"/>
          <p:nvPr/>
        </p:nvSpPr>
        <p:spPr>
          <a:xfrm>
            <a:off x="5202936" y="4160520"/>
            <a:ext cx="1737360" cy="457200"/>
          </a:xfrm>
          <a:prstGeom prst="rect">
            <a:avLst/>
          </a:prstGeom>
          <a:noFill/>
          <a:ln/>
        </p:spPr>
        <p:txBody>
          <a:bodyPr wrap="square" lIns="0" tIns="0" rIns="0" bIns="0" rtlCol="0" anchor="ctr"/>
          <a:lstStyle/>
          <a:p>
            <a:pPr indent="0" marL="0">
              <a:buNone/>
            </a:pPr>
            <a:r>
              <a:rPr lang="en-US" sz="2200" b="1" dirty="0">
                <a:solidFill>
                  <a:schemeClr val="tx2"/>
                </a:solidFill>
              </a:rPr>
              <a:t>Ask</a:t>
            </a:r>
            <a:endParaRPr lang="en-US" sz="2200" dirty="0"/>
          </a:p>
        </p:txBody>
      </p:sp>
      <p:sp>
        <p:nvSpPr>
          <p:cNvPr id="32" name="icon-bg-FaComments"/>
          <p:cNvSpPr/>
          <p:nvPr/>
        </p:nvSpPr>
        <p:spPr>
          <a:xfrm>
            <a:off x="7123176" y="4160520"/>
            <a:ext cx="502920" cy="502920"/>
          </a:xfrm>
          <a:prstGeom prst="ellipse">
            <a:avLst/>
          </a:prstGeom>
          <a:solidFill>
            <a:schemeClr val="accent1"/>
          </a:solidFill>
          <a:ln/>
        </p:spPr>
      </p:sp>
      <p:pic>
        <p:nvPicPr>
          <p:cNvPr id="33" name="Image 4" descr="Comments icon">    </p:cNvPr>
          <p:cNvPicPr>
            <a:picLocks noChangeAspect="1"/>
          </p:cNvPicPr>
          <p:nvPr/>
        </p:nvPicPr>
        <p:blipFill>
          <a:blip r:embed="rId5"/>
          <a:stretch>
            <a:fillRect/>
          </a:stretch>
        </p:blipFill>
        <p:spPr>
          <a:xfrm>
            <a:off x="7248906" y="4286250"/>
            <a:ext cx="251460" cy="251460"/>
          </a:xfrm>
          <a:prstGeom prst="rect">
            <a:avLst/>
          </a:prstGeom>
        </p:spPr>
      </p:pic>
      <p:sp>
        <p:nvSpPr>
          <p:cNvPr id="34" name="Text 26"/>
          <p:cNvSpPr txBox="1"/>
          <p:nvPr/>
        </p:nvSpPr>
        <p:spPr>
          <a:xfrm>
            <a:off x="4608576" y="4892040"/>
            <a:ext cx="3017520" cy="1188720"/>
          </a:xfrm>
          <a:prstGeom prst="rect">
            <a:avLst/>
          </a:prstGeom>
          <a:noFill/>
          <a:ln/>
        </p:spPr>
        <p:txBody>
          <a:bodyPr wrap="square" lIns="0" tIns="0" rIns="0" bIns="0" rtlCol="0" anchor="t"/>
          <a:lstStyle/>
          <a:p>
            <a:pPr indent="0" marL="0">
              <a:buNone/>
            </a:pPr>
            <a:r>
              <a:rPr lang="en-US" sz="1600" dirty="0">
                <a:solidFill>
                  <a:schemeClr val="tx1"/>
                </a:solidFill>
              </a:rPr>
              <a:t>Ask for the best-profit crop of the last three years, with a crop_history citation.</a:t>
            </a:r>
            <a:endParaRPr lang="en-US" sz="1600" dirty="0"/>
          </a:p>
        </p:txBody>
      </p:sp>
      <p:sp>
        <p:nvSpPr>
          <p:cNvPr id="35" name="demo-card-6"/>
          <p:cNvSpPr/>
          <p:nvPr/>
        </p:nvSpPr>
        <p:spPr>
          <a:xfrm>
            <a:off x="8119872" y="3931920"/>
            <a:ext cx="3520440" cy="2240280"/>
          </a:xfrm>
          <a:prstGeom prst="roundRect">
            <a:avLst>
              <a:gd name="adj" fmla="val 489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36" name="Text 28"/>
          <p:cNvSpPr txBox="1"/>
          <p:nvPr/>
        </p:nvSpPr>
        <p:spPr>
          <a:xfrm>
            <a:off x="8348472" y="416052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7" name="Text 29"/>
          <p:cNvSpPr txBox="1"/>
          <p:nvPr/>
        </p:nvSpPr>
        <p:spPr>
          <a:xfrm>
            <a:off x="8988552" y="4160520"/>
            <a:ext cx="1737360" cy="457200"/>
          </a:xfrm>
          <a:prstGeom prst="rect">
            <a:avLst/>
          </a:prstGeom>
          <a:noFill/>
          <a:ln/>
        </p:spPr>
        <p:txBody>
          <a:bodyPr wrap="square" lIns="0" tIns="0" rIns="0" bIns="0" rtlCol="0" anchor="ctr"/>
          <a:lstStyle/>
          <a:p>
            <a:pPr indent="0" marL="0">
              <a:buNone/>
            </a:pPr>
            <a:r>
              <a:rPr lang="en-US" sz="2200" b="1" dirty="0">
                <a:solidFill>
                  <a:schemeClr val="tx2"/>
                </a:solidFill>
              </a:rPr>
              <a:t>Export</a:t>
            </a:r>
            <a:endParaRPr lang="en-US" sz="2200" dirty="0"/>
          </a:p>
        </p:txBody>
      </p:sp>
      <p:sp>
        <p:nvSpPr>
          <p:cNvPr id="38" name="icon-bg-FaFilePdf"/>
          <p:cNvSpPr/>
          <p:nvPr/>
        </p:nvSpPr>
        <p:spPr>
          <a:xfrm>
            <a:off x="10908792" y="4160520"/>
            <a:ext cx="502920" cy="502920"/>
          </a:xfrm>
          <a:prstGeom prst="ellipse">
            <a:avLst/>
          </a:prstGeom>
          <a:solidFill>
            <a:schemeClr val="accent1"/>
          </a:solidFill>
          <a:ln/>
        </p:spPr>
      </p:sp>
      <p:pic>
        <p:nvPicPr>
          <p:cNvPr id="39" name="Image 5" descr="FilePdf icon">    </p:cNvPr>
          <p:cNvPicPr>
            <a:picLocks noChangeAspect="1"/>
          </p:cNvPicPr>
          <p:nvPr/>
        </p:nvPicPr>
        <p:blipFill>
          <a:blip r:embed="rId6"/>
          <a:stretch>
            <a:fillRect/>
          </a:stretch>
        </p:blipFill>
        <p:spPr>
          <a:xfrm>
            <a:off x="11034522" y="4286250"/>
            <a:ext cx="251460" cy="251460"/>
          </a:xfrm>
          <a:prstGeom prst="rect">
            <a:avLst/>
          </a:prstGeom>
        </p:spPr>
      </p:pic>
      <p:sp>
        <p:nvSpPr>
          <p:cNvPr id="40" name="Text 31"/>
          <p:cNvSpPr txBox="1"/>
          <p:nvPr/>
        </p:nvSpPr>
        <p:spPr>
          <a:xfrm>
            <a:off x="8394192" y="4892040"/>
            <a:ext cx="3017520" cy="1188720"/>
          </a:xfrm>
          <a:prstGeom prst="rect">
            <a:avLst/>
          </a:prstGeom>
          <a:noFill/>
          <a:ln/>
        </p:spPr>
        <p:txBody>
          <a:bodyPr wrap="square" lIns="0" tIns="0" rIns="0" bIns="0" rtlCol="0" anchor="t"/>
          <a:lstStyle/>
          <a:p>
            <a:pPr indent="0" marL="0">
              <a:buNone/>
            </a:pPr>
            <a:r>
              <a:rPr lang="en-US" sz="1600" dirty="0">
                <a:solidFill>
                  <a:schemeClr val="tx1"/>
                </a:solidFill>
              </a:rPr>
              <a:t>Generate the multi-page PDF dossier for offline and credit use.</a:t>
            </a:r>
            <a:endParaRPr lang="en-US" sz="16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Evaluation Results</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DeepEval and Ragas principles applied as a release gate on 24 golden test cases</a:t>
            </a:r>
            <a:endParaRPr lang="en-US" sz="1600" dirty="0"/>
          </a:p>
        </p:txBody>
      </p:sp>
      <p:sp>
        <p:nvSpPr>
          <p:cNvPr id="5" name="safety-stat-card"/>
          <p:cNvSpPr/>
          <p:nvPr/>
        </p:nvSpPr>
        <p:spPr>
          <a:xfrm>
            <a:off x="548640" y="1508760"/>
            <a:ext cx="3566160" cy="4754880"/>
          </a:xfrm>
          <a:prstGeom prst="roundRect">
            <a:avLst>
              <a:gd name="adj" fmla="val 3077"/>
            </a:avLst>
          </a:prstGeom>
          <a:solidFill>
            <a:schemeClr val="tx2"/>
          </a:solidFill>
          <a:ln/>
        </p:spPr>
      </p:sp>
      <p:sp>
        <p:nvSpPr>
          <p:cNvPr id="6" name="icon-bg-FaShieldAlt"/>
          <p:cNvSpPr/>
          <p:nvPr/>
        </p:nvSpPr>
        <p:spPr>
          <a:xfrm>
            <a:off x="1920240" y="1874520"/>
            <a:ext cx="822960" cy="822960"/>
          </a:xfrm>
          <a:prstGeom prst="ellipse">
            <a:avLst/>
          </a:prstGeom>
          <a:solidFill>
            <a:schemeClr val="accent2"/>
          </a:solidFill>
          <a:ln/>
        </p:spPr>
      </p:sp>
      <p:pic>
        <p:nvPicPr>
          <p:cNvPr id="7" name="Image 0" descr="ShieldAlt icon">    </p:cNvPr>
          <p:cNvPicPr>
            <a:picLocks noChangeAspect="1"/>
          </p:cNvPicPr>
          <p:nvPr/>
        </p:nvPicPr>
        <p:blipFill>
          <a:blip r:embed="rId1"/>
          <a:stretch>
            <a:fillRect/>
          </a:stretch>
        </p:blipFill>
        <p:spPr>
          <a:xfrm>
            <a:off x="2125980" y="2080260"/>
            <a:ext cx="411480" cy="411480"/>
          </a:xfrm>
          <a:prstGeom prst="rect">
            <a:avLst/>
          </a:prstGeom>
        </p:spPr>
      </p:pic>
      <p:sp>
        <p:nvSpPr>
          <p:cNvPr id="8" name="Text 4"/>
          <p:cNvSpPr txBox="1"/>
          <p:nvPr/>
        </p:nvSpPr>
        <p:spPr>
          <a:xfrm>
            <a:off x="548640" y="2880360"/>
            <a:ext cx="3566160" cy="1097280"/>
          </a:xfrm>
          <a:prstGeom prst="rect">
            <a:avLst/>
          </a:prstGeom>
          <a:noFill/>
          <a:ln/>
        </p:spPr>
        <p:txBody>
          <a:bodyPr wrap="square" lIns="0" tIns="0" rIns="0" bIns="0" rtlCol="0" anchor="t"/>
          <a:lstStyle/>
          <a:p>
            <a:pPr algn="ctr" indent="0" marL="0">
              <a:buNone/>
            </a:pPr>
            <a:r>
              <a:rPr lang="en-US" sz="7200" b="1" dirty="0">
                <a:solidFill>
                  <a:schemeClr val="bg1"/>
                </a:solidFill>
              </a:rPr>
              <a:t>100%</a:t>
            </a:r>
            <a:endParaRPr lang="en-US" sz="7200" dirty="0"/>
          </a:p>
        </p:txBody>
      </p:sp>
      <p:sp>
        <p:nvSpPr>
          <p:cNvPr id="9" name="Text 5"/>
          <p:cNvSpPr txBox="1"/>
          <p:nvPr/>
        </p:nvSpPr>
        <p:spPr>
          <a:xfrm>
            <a:off x="548640" y="3977640"/>
            <a:ext cx="3566160" cy="365760"/>
          </a:xfrm>
          <a:prstGeom prst="rect">
            <a:avLst/>
          </a:prstGeom>
          <a:noFill/>
          <a:ln/>
        </p:spPr>
        <p:txBody>
          <a:bodyPr wrap="square" lIns="0" tIns="0" rIns="0" bIns="0" rtlCol="0" anchor="t"/>
          <a:lstStyle/>
          <a:p>
            <a:pPr algn="ctr" indent="0" marL="0">
              <a:buNone/>
            </a:pPr>
            <a:r>
              <a:rPr lang="en-US" sz="1600" dirty="0">
                <a:solidFill>
                  <a:schemeClr val="accent3"/>
                </a:solidFill>
              </a:rPr>
              <a:t>agronomic safety pass rate</a:t>
            </a:r>
            <a:endParaRPr lang="en-US" sz="1600" dirty="0"/>
          </a:p>
        </p:txBody>
      </p:sp>
      <p:sp>
        <p:nvSpPr>
          <p:cNvPr id="10" name="Text 6"/>
          <p:cNvSpPr txBox="1"/>
          <p:nvPr/>
        </p:nvSpPr>
        <p:spPr>
          <a:xfrm>
            <a:off x="548640" y="4617720"/>
            <a:ext cx="3566160" cy="731520"/>
          </a:xfrm>
          <a:prstGeom prst="rect">
            <a:avLst/>
          </a:prstGeom>
          <a:noFill/>
          <a:ln/>
        </p:spPr>
        <p:txBody>
          <a:bodyPr wrap="square" lIns="0" tIns="0" rIns="0" bIns="0" rtlCol="0" anchor="t"/>
          <a:lstStyle/>
          <a:p>
            <a:pPr algn="ctr" indent="0" marL="0">
              <a:buNone/>
            </a:pPr>
            <a:r>
              <a:rPr lang="en-US" sz="4400" b="1" dirty="0">
                <a:solidFill>
                  <a:schemeClr val="accent2"/>
                </a:solidFill>
              </a:rPr>
              <a:t>24</a:t>
            </a:r>
            <a:endParaRPr lang="en-US" sz="4400" dirty="0"/>
          </a:p>
        </p:txBody>
      </p:sp>
      <p:sp>
        <p:nvSpPr>
          <p:cNvPr id="11" name="Text 7"/>
          <p:cNvSpPr txBox="1"/>
          <p:nvPr/>
        </p:nvSpPr>
        <p:spPr>
          <a:xfrm>
            <a:off x="548640" y="5349240"/>
            <a:ext cx="3566160" cy="365760"/>
          </a:xfrm>
          <a:prstGeom prst="rect">
            <a:avLst/>
          </a:prstGeom>
          <a:noFill/>
          <a:ln/>
        </p:spPr>
        <p:txBody>
          <a:bodyPr wrap="square" lIns="0" tIns="0" rIns="0" bIns="0" rtlCol="0" anchor="t"/>
          <a:lstStyle/>
          <a:p>
            <a:pPr algn="ctr" indent="0" marL="0">
              <a:buNone/>
            </a:pPr>
            <a:r>
              <a:rPr lang="en-US" sz="1600" dirty="0">
                <a:solidFill>
                  <a:schemeClr val="accent3"/>
                </a:solidFill>
              </a:rPr>
              <a:t>golden benchmark test cases</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434840" y="1508760"/>
          <a:ext cx="7205472" cy="914400"/>
        </p:xfrm>
        <a:graphic>
          <a:graphicData uri="http://schemas.openxmlformats.org/drawingml/2006/table">
            <a:tbl>
              <a:tblPr/>
              <a:tblGrid>
                <a:gridCol w="1920240"/>
                <a:gridCol w="3730752"/>
                <a:gridCol w="1554480"/>
              </a:tblGrid>
              <a:tr h="548640">
                <a:tc>
                  <a:txBody>
                    <a:bodyPr/>
                    <a:lstStyle/>
                    <a:p>
                      <a:pPr indent="0" marL="0">
                        <a:buNone/>
                      </a:pPr>
                      <a:r>
                        <a:rPr lang="en-US" sz="1400" b="1" dirty="0">
                          <a:solidFill>
                            <a:srgbClr val="FFFFFF"/>
                          </a:solidFill>
                        </a:rPr>
                        <a:t>Metric</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1B4D3E"/>
                    </a:solidFill>
                  </a:tcPr>
                </a:tc>
                <a:tc>
                  <a:txBody>
                    <a:bodyPr/>
                    <a:lstStyle/>
                    <a:p>
                      <a:pPr indent="0" marL="0">
                        <a:buNone/>
                      </a:pPr>
                      <a:r>
                        <a:rPr lang="en-US" sz="1400" b="1" dirty="0">
                          <a:solidFill>
                            <a:srgbClr val="FFFFFF"/>
                          </a:solidFill>
                        </a:rPr>
                        <a:t>What it verifies</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1B4D3E"/>
                    </a:solidFill>
                  </a:tcPr>
                </a:tc>
                <a:tc>
                  <a:txBody>
                    <a:bodyPr/>
                    <a:lstStyle/>
                    <a:p>
                      <a:pPr indent="0" marL="0">
                        <a:buNone/>
                      </a:pPr>
                      <a:r>
                        <a:rPr lang="en-US" sz="1400" b="1" dirty="0">
                          <a:solidFill>
                            <a:srgbClr val="FFFFFF"/>
                          </a:solidFill>
                        </a:rPr>
                        <a:t>Gate</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1B4D3E"/>
                    </a:solidFill>
                  </a:tcPr>
                </a:tc>
              </a:tr>
              <a:tr h="694944">
                <a:tc>
                  <a:txBody>
                    <a:bodyPr/>
                    <a:lstStyle/>
                    <a:p>
                      <a:pPr indent="0" marL="0">
                        <a:buNone/>
                      </a:pPr>
                      <a:r>
                        <a:rPr lang="en-US" sz="1400" b="1" dirty="0">
                          <a:solidFill>
                            <a:srgbClr val="1B4D3E"/>
                          </a:solidFill>
                        </a:rPr>
                        <a:t>Agronomic Safety</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B7E4C7"/>
                    </a:solidFill>
                  </a:tcPr>
                </a:tc>
                <a:tc>
                  <a:txBody>
                    <a:bodyPr/>
                    <a:lstStyle/>
                    <a:p>
                      <a:pPr indent="0" marL="0">
                        <a:buNone/>
                      </a:pPr>
                      <a:r>
                        <a:rPr lang="en-US" sz="1400" dirty="0">
                          <a:solidFill>
                            <a:srgbClr val="1E293B"/>
                          </a:solidFill>
                        </a:rPr>
                        <a:t>No dangerous doses, banned chemicals or unsafe mixes</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B7E4C7"/>
                    </a:solidFill>
                  </a:tcPr>
                </a:tc>
                <a:tc>
                  <a:txBody>
                    <a:bodyPr/>
                    <a:lstStyle/>
                    <a:p>
                      <a:pPr indent="0" marL="0">
                        <a:buNone/>
                      </a:pPr>
                      <a:r>
                        <a:rPr lang="en-US" sz="1400" b="1" dirty="0">
                          <a:solidFill>
                            <a:srgbClr val="1B4D3E"/>
                          </a:solidFill>
                        </a:rPr>
                        <a:t>Hard gate: 100%</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B7E4C7"/>
                    </a:solidFill>
                  </a:tcPr>
                </a:tc>
              </a:tr>
              <a:tr h="694944">
                <a:tc>
                  <a:txBody>
                    <a:bodyPr/>
                    <a:lstStyle/>
                    <a:p>
                      <a:pPr indent="0" marL="0">
                        <a:buNone/>
                      </a:pPr>
                      <a:r>
                        <a:rPr lang="en-US" sz="1400" b="1" dirty="0">
                          <a:solidFill>
                            <a:srgbClr val="1E293B"/>
                          </a:solidFill>
                        </a:rPr>
                        <a:t>Faithfulness</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rPr>
                        <a:t>Every claim is supported by retrieved ICAR/MANAGE passages</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64748B"/>
                          </a:solidFill>
                        </a:rPr>
                        <a:t>Scored</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r>
              <a:tr h="694944">
                <a:tc>
                  <a:txBody>
                    <a:bodyPr/>
                    <a:lstStyle/>
                    <a:p>
                      <a:pPr indent="0" marL="0">
                        <a:buNone/>
                      </a:pPr>
                      <a:r>
                        <a:rPr lang="en-US" sz="1400" b="1" dirty="0">
                          <a:solidFill>
                            <a:srgbClr val="1E293B"/>
                          </a:solidFill>
                        </a:rPr>
                        <a:t>Relevance</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rPr>
                        <a:t>The answer addresses the question that was asked</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64748B"/>
                          </a:solidFill>
                        </a:rPr>
                        <a:t>Scored</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r>
              <a:tr h="694944">
                <a:tc>
                  <a:txBody>
                    <a:bodyPr/>
                    <a:lstStyle/>
                    <a:p>
                      <a:pPr indent="0" marL="0">
                        <a:buNone/>
                      </a:pPr>
                      <a:r>
                        <a:rPr lang="en-US" sz="1400" b="1" dirty="0">
                          <a:solidFill>
                            <a:srgbClr val="1E293B"/>
                          </a:solidFill>
                        </a:rPr>
                        <a:t>SQL Grounding</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rPr>
                        <a:t>Quoted yields and profits match database rows</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64748B"/>
                          </a:solidFill>
                        </a:rPr>
                        <a:t>Scored</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r>
              <a:tr h="694944">
                <a:tc>
                  <a:txBody>
                    <a:bodyPr/>
                    <a:lstStyle/>
                    <a:p>
                      <a:pPr indent="0" marL="0">
                        <a:buNone/>
                      </a:pPr>
                      <a:r>
                        <a:rPr lang="en-US" sz="1400" b="1" dirty="0">
                          <a:solidFill>
                            <a:srgbClr val="1E293B"/>
                          </a:solidFill>
                        </a:rPr>
                        <a:t>Farmer Readability</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rPr>
                        <a:t>Brevity of 100–180 words for field use</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64748B"/>
                          </a:solidFill>
                        </a:rPr>
                        <a:t>Scored</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r>
              <a:tr h="694944">
                <a:tc>
                  <a:txBody>
                    <a:bodyPr/>
                    <a:lstStyle/>
                    <a:p>
                      <a:pPr indent="0" marL="0">
                        <a:buNone/>
                      </a:pPr>
                      <a:r>
                        <a:rPr lang="en-US" sz="1400" b="1" dirty="0">
                          <a:solidFill>
                            <a:srgbClr val="1E293B"/>
                          </a:solidFill>
                        </a:rPr>
                        <a:t>Context Precision</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rPr>
                        <a:t>Retrieval surfaces and ranks the right passages</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64748B"/>
                          </a:solidFill>
                        </a:rPr>
                        <a:t>Scored</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Challenges and Learnings</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Each design decision traces back to a failure mode we hit or anticipated</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3657600"/>
                <a:gridCol w="4114800"/>
                <a:gridCol w="3319272"/>
              </a:tblGrid>
              <a:tr h="457200">
                <a:tc>
                  <a:txBody>
                    <a:bodyPr/>
                    <a:lstStyle/>
                    <a:p>
                      <a:pPr indent="0" marL="0">
                        <a:buNone/>
                      </a:pPr>
                      <a:r>
                        <a:rPr lang="en-US" sz="1400" b="1" dirty="0">
                          <a:solidFill>
                            <a:srgbClr val="FFFFFF"/>
                          </a:solidFill>
                        </a:rPr>
                        <a:t>Challenge</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1B4D3E"/>
                    </a:solidFill>
                  </a:tcPr>
                </a:tc>
                <a:tc>
                  <a:txBody>
                    <a:bodyPr/>
                    <a:lstStyle/>
                    <a:p>
                      <a:pPr indent="0" marL="0">
                        <a:buNone/>
                      </a:pPr>
                      <a:r>
                        <a:rPr lang="en-US" sz="1400" b="1" dirty="0">
                          <a:solidFill>
                            <a:srgbClr val="FFFFFF"/>
                          </a:solidFill>
                        </a:rPr>
                        <a:t>How we responded</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1B4D3E"/>
                    </a:solidFill>
                  </a:tcPr>
                </a:tc>
                <a:tc>
                  <a:txBody>
                    <a:bodyPr/>
                    <a:lstStyle/>
                    <a:p>
                      <a:pPr indent="0" marL="0">
                        <a:buNone/>
                      </a:pPr>
                      <a:r>
                        <a:rPr lang="en-US" sz="1400" b="1" dirty="0">
                          <a:solidFill>
                            <a:srgbClr val="FFFFFF"/>
                          </a:solidFill>
                        </a:rPr>
                        <a:t>What we learned</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1B4D3E"/>
                    </a:solidFill>
                  </a:tcPr>
                </a:tc>
              </a:tr>
              <a:tr h="676656">
                <a:tc>
                  <a:txBody>
                    <a:bodyPr/>
                    <a:lstStyle/>
                    <a:p>
                      <a:pPr indent="0" marL="0">
                        <a:buNone/>
                      </a:pPr>
                      <a:r>
                        <a:rPr lang="en-US" sz="1400" dirty="0">
                          <a:solidFill>
                            <a:srgbClr val="1E293B"/>
                          </a:solidFill>
                        </a:rPr>
                        <a:t>Tree-ensemble probabilities can over- or under-state confidence</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rPr>
                        <a:t>Sigmoid CalibratedClassifierCV on ExtraTrees</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b="1" dirty="0">
                          <a:solidFill>
                            <a:srgbClr val="2D6A4F"/>
                          </a:solidFill>
                        </a:rPr>
                        <a:t>Trust starts with honest probabilities</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r>
              <a:tr h="676656">
                <a:tc>
                  <a:txBody>
                    <a:bodyPr/>
                    <a:lstStyle/>
                    <a:p>
                      <a:pPr indent="0" marL="0">
                        <a:buNone/>
                      </a:pPr>
                      <a:r>
                        <a:rPr lang="en-US" sz="1400" dirty="0">
                          <a:solidFill>
                            <a:srgbClr val="1E293B"/>
                          </a:solidFill>
                        </a:rPr>
                        <a:t>LLMs can invent agronomic facts</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rPr>
                        <a:t>Hybrid RAG over 4 official manuals; cited answers or a refusal</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b="1" dirty="0">
                          <a:solidFill>
                            <a:srgbClr val="2D6A4F"/>
                          </a:solidFill>
                        </a:rPr>
                        <a:t>Constrain the source of truth</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r>
              <a:tr h="676656">
                <a:tc>
                  <a:txBody>
                    <a:bodyPr/>
                    <a:lstStyle/>
                    <a:p>
                      <a:pPr indent="0" marL="0">
                        <a:buNone/>
                      </a:pPr>
                      <a:r>
                        <a:rPr lang="en-US" sz="1400" dirty="0">
                          <a:solidFill>
                            <a:srgbClr val="1E293B"/>
                          </a:solidFill>
                        </a:rPr>
                        <a:t>LLM-written SQL is a security risk</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rPr>
                        <a:t>AST validation: single SELECT, allow-listed tables, read-only</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b="1" dirty="0">
                          <a:solidFill>
                            <a:srgbClr val="2D6A4F"/>
                          </a:solidFill>
                        </a:rPr>
                        <a:t>Validate structure, not keywords</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r>
              <a:tr h="676656">
                <a:tc>
                  <a:txBody>
                    <a:bodyPr/>
                    <a:lstStyle/>
                    <a:p>
                      <a:pPr indent="0" marL="0">
                        <a:buNone/>
                      </a:pPr>
                      <a:r>
                        <a:rPr lang="en-US" sz="1400" dirty="0">
                          <a:solidFill>
                            <a:srgbClr val="1E293B"/>
                          </a:solidFill>
                        </a:rPr>
                        <a:t>Client-side JS tables crashed on weak browsers</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rPr>
                        <a:t>Zero-JS HTML/CSS tables with Base64 CSV links</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b="1" dirty="0">
                          <a:solidFill>
                            <a:srgbClr val="2D6A4F"/>
                          </a:solidFill>
                        </a:rPr>
                        <a:t>Remove fragile dependencies from the field path</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r>
              <a:tr h="676656">
                <a:tc>
                  <a:txBody>
                    <a:bodyPr/>
                    <a:lstStyle/>
                    <a:p>
                      <a:pPr indent="0" marL="0">
                        <a:buNone/>
                      </a:pPr>
                      <a:r>
                        <a:rPr lang="en-US" sz="1400" dirty="0">
                          <a:solidFill>
                            <a:srgbClr val="1E293B"/>
                          </a:solidFill>
                        </a:rPr>
                        <a:t>Rigid plans fail when operations are skipped</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rPr>
                        <a:t>Auto-rebalancing pushes mandatory tasks forward</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b="1" dirty="0">
                          <a:solidFill>
                            <a:srgbClr val="2D6A4F"/>
                          </a:solidFill>
                        </a:rPr>
                        <a:t>Design for how farmers actually work</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r>
            </a:tbl>
          </a:graphicData>
        </a:graphic>
      </p:graphicFrame>
      <p:sp>
        <p:nvSpPr>
          <p:cNvPr id="6" name="next-card"/>
          <p:cNvSpPr/>
          <p:nvPr/>
        </p:nvSpPr>
        <p:spPr>
          <a:xfrm>
            <a:off x="548640" y="5486400"/>
            <a:ext cx="11091672" cy="731520"/>
          </a:xfrm>
          <a:prstGeom prst="roundRect">
            <a:avLst>
              <a:gd name="adj" fmla="val 12500"/>
            </a:avLst>
          </a:prstGeom>
          <a:solidFill>
            <a:schemeClr val="tx2"/>
          </a:solidFill>
          <a:ln/>
        </p:spPr>
      </p:sp>
      <p:sp>
        <p:nvSpPr>
          <p:cNvPr id="7" name="Text 3"/>
          <p:cNvSpPr txBox="1"/>
          <p:nvPr/>
        </p:nvSpPr>
        <p:spPr>
          <a:xfrm>
            <a:off x="822960" y="5486400"/>
            <a:ext cx="10515600" cy="731520"/>
          </a:xfrm>
          <a:prstGeom prst="rect">
            <a:avLst/>
          </a:prstGeom>
          <a:noFill/>
          <a:ln/>
        </p:spPr>
        <p:txBody>
          <a:bodyPr wrap="square" lIns="0" tIns="0" rIns="0" bIns="0" rtlCol="0" anchor="ctr"/>
          <a:lstStyle/>
          <a:p>
            <a:pPr indent="0" marL="0">
              <a:buNone/>
            </a:pPr>
            <a:r>
              <a:rPr lang="en-US" sz="1500" b="1" dirty="0">
                <a:solidFill>
                  <a:schemeClr val="accent2"/>
                </a:solidFill>
              </a:rPr>
              <a:t>Next: </a:t>
            </a:r>
            <a:pPr indent="0" marL="0">
              <a:buNone/>
            </a:pPr>
            <a:r>
              <a:rPr lang="en-US" sz="1500" dirty="0">
                <a:solidFill>
                  <a:schemeClr val="bg1"/>
                </a:solidFill>
              </a:rPr>
              <a:t>validate yield and fertilizer targets in field trials, then add IoT soil sensors, a multi-lingual voice interface and offline edge deployment.</a:t>
            </a:r>
            <a:endParaRPr lang="en-US" sz="15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rop Advisory">
  <a:themeElements>
    <a:clrScheme name="Crop Advisory">
      <a:dk1>
        <a:srgbClr val="1E293B"/>
      </a:dk1>
      <a:lt1>
        <a:srgbClr val="FFFFFF"/>
      </a:lt1>
      <a:dk2>
        <a:srgbClr val="1B4D3E"/>
      </a:dk2>
      <a:lt2>
        <a:srgbClr val="F8FAF8"/>
      </a:lt2>
      <a:accent1>
        <a:srgbClr val="2D6A4F"/>
      </a:accent1>
      <a:accent2>
        <a:srgbClr val="52B788"/>
      </a:accent2>
      <a:accent3>
        <a:srgbClr val="B7E4C7"/>
      </a:accent3>
      <a:accent4>
        <a:srgbClr val="E9A23B"/>
      </a:accent4>
      <a:accent5>
        <a:srgbClr val="C0392B"/>
      </a:accent5>
      <a:accent6>
        <a:srgbClr val="64748B"/>
      </a:accent6>
      <a:hlink>
        <a:srgbClr val="2D6A4F"/>
      </a:hlink>
      <a:folHlink>
        <a:srgbClr val="64748B"/>
      </a:folHlink>
    </a:clrScheme>
    <a:fontScheme name="Crop Advis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Advisory AI Platform: Executive &amp; Technical Keynote</dc:title>
  <dc:subject>PptxGenJS Presentation</dc:subject>
  <dc:creator>Crop Advisory AI</dc:creator>
  <cp:lastModifiedBy>Crop Advisory AI</cp:lastModifiedBy>
  <cp:revision>1</cp:revision>
  <dcterms:created xsi:type="dcterms:W3CDTF">2026-10-12T04:09:58Z</dcterms:created>
  <dcterms:modified xsi:type="dcterms:W3CDTF">2026-10-12T04:09:58Z</dcterms:modified>
</cp:coreProperties>
</file>