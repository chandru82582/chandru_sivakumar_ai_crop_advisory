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598f9b7-7ced-2351-7481-3e9bd98f00f0}">
          <p14:sldIdLst>
            <p14:sldId id="256"/>
            <p14:sldId id="257"/>
          </p14:sldIdLst>
        </p14:section>
        <p14:section name="Platform" id="{41f64b19-580b-0693-b805-a34e599fad95}">
          <p14:sldIdLst>
            <p14:sldId id="258"/>
            <p14:sldId id="259"/>
            <p14:sldId id="260"/>
            <p14:sldId id="261"/>
            <p14:sldId id="262"/>
            <p14:sldId id="263"/>
            <p14:sldId id="264"/>
            <p14:sldId id="265"/>
            <p14:sldId id="266"/>
          </p14:sldIdLst>
        </p14:section>
        <p14:section name="Quality &amp; Impact" id="{80d8982e-504d-b189-9a3c-8cd9358b1610}">
          <p14:sldIdLst>
            <p14:sldId id="267"/>
            <p14:sldId id="268"/>
          </p14:sldIdLst>
        </p14:section>
        <p14:section name="Roadmap" id="{73937923-371f-c94e-75f7-0134edac3f06}">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Calibrated probability</c:v>
                </c:pt>
              </c:strCache>
            </c:strRef>
          </c:tx>
          <c:spPr>
            <a:solidFill>
              <a:srgbClr val="2D6A4F"/>
            </a:solidFill>
            <a:effectLst/>
          </c:spPr>
          <c:invertIfNegative val="0"/>
          <c:dLbls>
            <c:numFmt formatCode="0&quot;%&quot;" sourceLinked="0"/>
            <c:txPr>
              <a:bodyPr/>
              <a:lstStyle/>
              <a:p>
                <a:pPr>
                  <a:defRPr b="0" i="0" strike="noStrike" sz="1400" u="none">
                    <a:solidFill>
                      <a:srgbClr val="1E293B"/>
                    </a:solidFill>
                    <a:latin typeface="+mn-lt"/>
                  </a:defRPr>
                </a:pPr>
              </a:p>
            </c:txPr>
            <c:showLegendKey val="0"/>
            <c:showVal val="1"/>
            <c:showCatName val="0"/>
            <c:showSerName val="0"/>
            <c:showPercent val="0"/>
            <c:showBubbleSize val="0"/>
            <c:showLeaderLines val="0"/>
          </c:dLbls>
          <c:cat>
            <c:multiLvlStrRef>
              <c:f>Sheet1!$A$2:$A$5</c:f>
              <c:multiLvlStrCache>
                <c:ptCount val="4"/>
                <c:lvl>
                  <c:pt idx="0">
                    <c:v>Rice</c:v>
                  </c:pt>
                  <c:pt idx="1">
                    <c:v>Maize</c:v>
                  </c:pt>
                  <c:pt idx="2">
                    <c:v>Groundnut</c:v>
                  </c:pt>
                  <c:pt idx="3">
                    <c:v>Millets</c:v>
                  </c:pt>
                </c:lvl>
              </c:multiLvlStrCache>
            </c:multiLvlStrRef>
          </c:cat>
          <c:val>
            <c:numRef>
              <c:f>Sheet1!$B$2:$B$5</c:f>
              <c:numCache>
                <c:formatCode>General</c:formatCode>
                <c:ptCount val="4"/>
                <c:pt idx="0">
                  <c:v>91</c:v>
                </c:pt>
                <c:pt idx="1">
                  <c:v>6</c:v>
                </c:pt>
                <c:pt idx="2">
                  <c:v>2</c:v>
                </c:pt>
                <c:pt idx="3">
                  <c:v>1</c:v>
                </c:pt>
              </c:numCache>
            </c:numRef>
          </c:val>
        </c:ser>
        <c:dLbls>
          <c:numFmt formatCode="0&quot;%&quot;" sourceLinked="0"/>
          <c:txPr>
            <a:bodyPr/>
            <a:lstStyle/>
            <a:p>
              <a:pPr>
                <a:defRPr b="0" i="0" strike="noStrike" sz="1400" u="none">
                  <a:solidFill>
                    <a:srgbClr val="1E293B"/>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E293B"/>
                </a:solidFill>
                <a:latin typeface="+mn-lt"/>
              </a:defRPr>
            </a:pPr>
            <a:endParaRPr lang="en-US"/>
          </a:p>
        </c:txPr>
        <c:crossAx val="2094734552"/>
        <c:crosses val="autoZero"/>
        <c:auto val="1"/>
        <c:lblAlgn val="ctr"/>
        <c:noMultiLvlLbl val="1"/>
      </c:catAx>
      <c:valAx>
        <c:axId val="2094734552"/>
        <c:scaling>
          <c:orientation val="minMax"/>
          <c:max val="11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on stage. Stand silent for 3 seconds with the hero image behind you.]
Good morning, everyone.
[Pause 2s]
I want you to picture a farmer. Let's call her Lakshmi. It is five in the morning in a river delta. She has two acres, a loan she took last season, and one decision to make today: how much urea to put on her paddy. Her neighbor says two hundred and fifty kilograms an acre. The shopkeeper says more is better. The extension officer, who covers forty villages, will not reach her for another three weeks.
[Pause 2s for emphasis]
Lakshmi will make that decision on hearsay. And she is not alone. Eighty-two percent of smallholder farmers make crop and pest decisions exactly this way.
Today I am going to show you what happens when we replace hearsay with calibrated intelligence.
[Gesture to the screen]
This is the Crop Advisory AI Platform. It is not a chatbot bolted onto a farm. It is seven integrated capabilities: a machine-learning crop recommender whose confidence you can actually trust, an explanation engine that shows why, a knowledge engine grounded in official ICAR and MANAGE manuals, a calendar that repairs itself when life interferes, a plant doctor that reads a leaf photograph, an assistant that remembers the farm's own history, and a printed dossier a bank will accept.
[Point to the bottom ribbon]
Nineteen thousand six hundred eighty-nine training records. Twenty-five crop classes. And a hundred percent pass rate on our agronomic safety gate. That last number is the one I am proudest of, and by the end of this talk I will tell you why it matters more than accuracy.
For the next few minutes, I will take you from Lakshmi's field, through the architecture, into a live demo of each pillar, and out to the impact and the roadmap.
[Click to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in from Slide 1. Lower your voice slightly.]
Let's stay with Lakshmi for a moment, because her story is not an anecdote. It is a pattern with four parts.
[Point to card 1]
First, the decision gap. Eighty-two percent of smallholders choose crops and treat pests on hearsay or on extension visits that arrive too late. That is not a failure of the extension officers. A single officer covering dozens of villages cannot be everywhere in the week the blast fungus appears.
[Point to card 2]
Second, over-fertilization. Farmers frequently apply two hundred to three hundred kilograms of urea per acre, because more feels safer. But excess nitrogen makes paddy tall and weak, so it lodges in the first heavy wind. It makes the leaves lush and soft, which is exactly what Blast fungus loves. And it burns money. Lakshmi pays twice: once at the shop, and once at harvest.
[Point to card 3]
Third, water. When the canal release is delayed, the nursery waits, the transplanting date slips, and the whole season shifts. Farmers in semi-arid belts have no contingency plan; they have prayer.
[Pause 2s for emphasis]
[Point to card 4]
And fourth, the one nobody talks about: farm memory. Ask Lakshmi what she earned from groundnut versus paddy three years ago. She cannot tell you, because nothing was written down. And a bank cannot lend against something it cannot see. No records means no credit, and no credit means the cycle repeats.
[Look at the audience]
Notice what is common to all four. The farmer is not uninformed. The farmer is under-served. The knowledge exists, in ICAR manuals, in weather archives, in soil surveys. It just never reaches the field in a form she can use.
So the question we asked was simple: can we build something that delivers expert-grade agronomy, with honest confidence, in her hands, in her language of need, at the moment she has to decide?
[Click to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in. Step toward the screen.]
Now let me show you how this is built, because for the technical judges and research directors in the room, architecture is where trust is earned.
[Pause 1s]
We designed four tiers, and each one exists to solve a specific failure mode.
[Point to top band]
At the top, the presentation tier, built in Streamlit. One thing I want to highlight is our Zero-JS table architecture. Many dashboards render data grids with heavy client-side JavaScript, and on low-end phones with weak networks those grids crash. We hit exactly that error in testing. So we replaced them with pure HTML and CSS tables, sticky headers included, and CSV downloads delivered as Base64 links. No script to fail means no blank screen in the field.
[Point to second band]
Below that, a FastAPI gateway. It validates every request and routes it to the right engine. And here is the key to our speed: models and indexes are loaded once, as in-memory cached singletons. We do not reload a classifier or a vectorstore on every tap. That is why inference feels instant.
[Point to third band]
The third tier is the heart: four AI engines. Machine learning for crop recommendation. Vision for leaf disease. Hybrid retrieval for agronomic knowledge. And a SQL agent for the farmer's own history. Four engines, four different kinds of intelligence, one consistent interface.
[Point to bottom band]
And at the bottom, storage and evaluation. Notice that evaluation is not an afterthought; it sits in the architecture as a first-class tier, because in agriculture a wrong answer is not a bad user experience. It is a failed harvest.
[Pause 2s for emphasis]
Each of these tiers can be tested, replaced, and observed independently. Over the next slides, I will open each engine in turn. Let's start with the one that answers the first question every farmer asks: what should I grow?
[Click to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in.]
Let me start with a question for the investors in the room. If a system tells you it is ninety percent confident, how often should it be right?
[Pause 2s]
Ninety percent of the time, obviously. But most machine-learning classifiers do not behave that way. Tree ensembles in particular tend to produce probabilities that are systematically over- or under-confident. For a farmer, that is dangerous. An overconfident wrong recommendation is a lost season.
[Point to the left diagram]
So here is what we built. We merged three datasets: historical crop yield records, state-level soil profiles, and twenty-four years of state weather data from 1997 to 2020. That gives us nineteen thousand six hundred eighty-nine records. We trained an ExtraTrees classifier with one hundred estimators across twenty-five crop classes. ExtraTrees gave us stable performance on this kind of tabular, noisy agro-climatic data.
[Point to the sigmoid block]
But the real innovation is this block. We wrap the model in a sigmoid calibration layer using scikit-learn's CalibratedClassifierCV. Calibration re-maps the raw scores so that the stated probability tracks the observed frequency. When our system says eighty-five percent, we want that to mean something a farmer, or a bank, can plan around.
[Point to the screenshot]
And notice what the farmer sees. Not one answer, but a ranked shortlist, with honest percentages. Rice at ninety-one, maybe maize at six, and so on. That lets Lakshmi weigh market price, water availability, and her own judgment, instead of surrendering to a black box.
[Pause 1s]
But a number alone is not enough. A farmer, or an extension officer, will rightly ask: why this crop? The next slide answers that.
[Click to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in. Move to center stage.]
Here is a truth about trust: farmers do not adopt what they cannot question. And neither do government departments, who must justify every recommendation they endorse.
[Point to panel 1]
So every prediction ships with an explanation. We use SHAP, specifically the TreeExplainer, which computes exact Shapley-value attributions for tree models. On the left is the global view: across all our crops, which factors matter most. Researchers at the agricultural universities will love this panel, because it lets them check whether the model has learned real agronomy, such as rainfall and nitrogen dominating, rather than spurious shortcuts.
[Point to panel 2]
In the middle is the local view, the one Lakshmi cares about. Why rice for my field? The green bars are reasons for; the dark bars are reasons against. Adequate rainfall pushed rice up. Slightly low potassium pulled it down. Now she is not being told what to do; she is being shown the reasoning.
[Point to panel 3]
And on the right is my favorite feature: the What-If simulator.
[Live demo cue: drag the rainfall slider down]
Watch this. I am going to drop rainfall by thirty percent, the kind of shortfall a delayed monsoon or a late canal release can cause.
[Pause 2s for emphasis]
See what happens. Rice slides from first to third. Millets and groundnut rise. That is a climate-adaptation plan generated in under a second, before a single seed is bought.
[Look at the audience]
For the first time, a smallholder can ask, 'what if the rains fail?' and get a data-backed answer in advance, instead of learning the hard way in October.
But models only know what we trained them on. For everything else, such as how to manage a fungus or when to apply zinc, we need a different kind of intelligence.
[Click to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in.]
Every one of us has seen an AI confidently say something false. In a chat about movies, that is amusing. In a paddy field, it can be a banned pesticide at the wrong dose.
[Pause 2s]
So our knowledge engine is built around one rule: it may only speak from official sources.
[Point to the left side]
We ingested four official manuals from ICAR and MANAGE, and split them into two thousand eight hundred ninety-two chunks. Each chunk is embedded using all-MiniLM-L6-v2 and stored in ChromaDB. That is our dense lane. It understands meaning. A farmer who types 'leaves turning yellow from the tip' will find the passage about nitrogen deficiency, even if those exact words never appear.
[Point to the bottom lane]
But dense search has a blind spot. It can blur precise terms. A name like 'tricyclazole,' or a dose like 'two grams per liter,' needs exact matching. So we run a second lane in parallel: BM25, the classic lexical index that rewards exact keywords.
[Point to the RRF hexagon]
Then we fuse the two with Reciprocal Rank Fusion. The idea is elegant: a passage that ranks high in either list gets rewarded, and one that ranks high in both wins decisively. No hand-tuned weights, no brittle score normalization.
[Point to the answer card]
The language model then writes only from those passages, cites them, and, critically, is instructed to say 'I do not have an official source for that' when retrieval comes back empty. In our evaluation, which I will show you shortly, we measure faithfulness against the retrieved context precisely to enforce this.
[Look at the audience]
For the officials here: this means every answer can be traced back to a document your department already endorses. The AI does not replace your manuals. It makes them reachable at midnight, in the field.
Knowing what to do is half the battle. Knowing when to do it, and recovering when life interferes, is the other half.
[Click to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in. Smile; this is the demo the audience remembers.]
Here is a question. How many of you have ever made a plan that survived contact with reality?
[Pause 2s for laughter]
Farming is the ultimate test of that. A tractor breaks down. It rains for four days. A labourer does not show up. Static calendars fail the moment this happens, and then the farmer abandons the calendar altogether.
[Point to the left stack]
So our calendar has three tiers. A monthly grid shows the whole season at a glance. A weekly sprint tells Lakshmi what matters this week. And a daily checklist breaks that into tasks she can tick off on her phone.
[Point to the shield badge]
Some tasks are marked mandatory. Seed treatment. Inoculation. Basal fertilizer. Skip those, and you do not just lose a day; you can lose the nutrient or the biological benefit entirely.
[Point to the right panel]
Now here is the novel part. Watch the 'Before' timeline. Lakshmi marks her seed treatment as skipped, because the rain came.
[Live demo cue: tap Skip on the seed-treatment task]
The Dynamic Auto-Rebalancing Engine detects that a mandatory operation was skipped. It does not simply delete it, and it does not leave it hanging. It pushes it forward to the next valid window, and re-sequences the tasks that depend on it. Look at the 'After' timeline: the arrow, the tag, the shifted dates.
[Pause 2s for emphasis]
The plan bends instead of breaks. Think about what that does for adoption. A tool that punishes you for being human gets deleted. A tool that adapts to you gets used every day.
And when something does go wrong in the crop itself, a spot on a leaf, a farmer needs an answer in seconds, not days.
[Click to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in. Hold up a printed leaf photo or your phone.]
This is a leaf from a paddy field. And this brown, diamond-shaped lesion is the early signature of Rice Blast, the fungus that has devastated harvests across Asia. If Lakshmi catches it in the first week, she saves the crop. If she catches it in the third week, she saves nothing.
[Pause 2s]
Today, how does she find out? She walks to the shop, shows the leaf to a dealer who has an incentive to sell, and buys whatever he suggests.
[Point to step 1]
Here is the alternative. Step one: she snaps a photo.
[Live demo cue: upload the leaf image]
[Point to step 2]
Step two: our Plant Doctor, a deep-learning classifier built on MobileNetV2 and ResNet50, reads the image. Why two architectures? MobileNetV2 is light and fast, so it can run on modest hardware. ResNet50 is heavier and more accurate when we have server capacity. We can pick the right one for the deployment. It recognizes five pathologies: Rice Blast, Early Blight, Powdery Mildew, Rust, and Brown Spot.
[Pause 1s]
Within seconds: Rice Blast, with a confidence score.
[Point to step 3]
Step three is where we differ from most disease apps. We do not hand over just a pesticide name. We give a dual dossier. On the left, the organic and biological path: for example, cultural measures, bio-agents, and timing. On the right, the chemical path, with the molecule, the dose, and the safety interval before harvest.
[Look at the audience]
Why both? Because a farmer growing for an organic premium has different needs from one fighting an outbreak before the weekend. We respect that choice. And all of this guidance is pulled from the same official manuals as our RAG engine, not invented on the fly.
So the platform now knows the crop, the science, the calendar, and the leaf. But what about the farm's own story?
[Click to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in. Lean forward, lower your tone.]
Remember the fourth failure from Slide 2: zero farm memory. This is how we fix it.
[Point to the chat window]
Every season, the platform records what was grown, what it yielded, what it cost, and what it earned, in a lightweight SQLite database, `farmer_profile.db`. But a database is useless to someone who does not know SQL.
[Live demo cue: type the question]
So Lakshmi simply asks: 'Which crop gave me the best profit in the last three years?'
[Pause 1s]
And she gets a direct answer, with the exact yield and the exact profit, and a chip showing it came from her `crop_history` table. Not a guess. Not a model's imagination. Her own data.
[Pause 2s for emphasis]
Now, I know what the technical judges are thinking. You are letting a language model write SQL against a database? That is a security nightmare.
[Smile, point to the right diagram]
It would be, if we trusted it. We do not. Every query the model drafts passes through an AST security guardrail in `core/sql_agent.py`. We parse the SQL into an abstract syntax tree, and we only allow a single SELECT statement over allow-listed tables. A DROP, a DELETE, an UPDATE, a stacked statement: all rejected before they ever touch the database. This is structural validation, not a fragile keyword filter that a clever phrasing can slip past.
[Look at the audience]
And think about the downstream value. A farmer with three years of structured records can show a bank what her land actually earns. She is no longer an invisible borrower; she is a documented one.
Now, that history, the soil, the calendar, and the advice all need to travel with her, even when the network does not.
[Click to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in. Hold up a printed copy of the dossier if available.]
In many of the villages we are talking about, connectivity is a rumor. So the final product of this platform is not a screen. It is paper.
[Hold up the dossier]
This is the Advisory Dossier. In one tap, the platform compiles everything it has learned about a farm into a multi-page PDF, using ReportLab, and it looks like something an agricultural department would be proud to issue.
[Point to the page thumbnails]
Page one: the summary and recommended crop, with calibrated confidence. Page two: soil analysis, with N, P, K, and pH explained in plain words and the corrections suggested. Page three: the full cultivation timetable, straight from our calendar. Page four: companion planting, such as which border crops reduce pest pressure or add a second income. And the final pages: treatment guidance and a credit annexure.
[Pause 2s for emphasis]
Now picture Lakshmi walking into her cooperative bank with this document. Not a verbal story. A structured, dated, agronomically reasoned plan for her land. For a loan officer evaluating a Kisan credit application, that is the difference between a gamble and an assessment.
[Point to the sidebar]
It works offline. It prints cleanly. It can be handed to a neighbor, a field officer, or a lender. Digital intelligence, delivered in the oldest format agriculture knows: a document you can hold.
[Look at the audience]
Officials in the room: imagine every advisory your department issues carrying this level of structure and provenance.
Now, a system this consequential cannot be a black box for those who run it. Let me show you the control room.
[Click to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in. Shift to a more technical, measured pace.]
Most AI demos show you the front door. Enterprises and governments want to see the engine room.
[Point to the dashboard]
This is the Observability Hub, and it exists because 'trust us' is not an acceptable answer for a public-sector deployment.
[Point to quadrant 1]
Top left, the SQLite explorer. An administrator can browse the farm database live, filter it, and download it as CSV. And remember our Zero-JS architecture: these tables are pure HTML and CSS, so they cannot crash on a weak browser.
[Point to quadrant 2]
Top right, the vectorstore chunk inspector. If the knowledge engine ever gives a questionable answer, an engineer can open the exact chunk it retrieved, from which manual, and judge whether the source or the retrieval was at fault.
[Point to quadrant 3]
Bottom left, the retrieval sandbox. Type any question and see, side by side, what the dense index returned, what BM25 returned, and how Reciprocal Rank Fusion merged them. This is how we tune retrieval without guessing.
[Point to quadrant 4]
And bottom right, model telemetry: version, latency, and prediction distribution. If the model starts recommending one crop disproportionately, say because weather patterns shifted, we see the drift early.
[Pause 2s for emphasis]
For the investors, this is operational maturity: you can run this in production and know what it is doing. For the research directors, it is reproducibility. And for the auditors, it is accountability.
But observability tells us what the system is doing. It does not tell us whether it is doing the right thing. For that, we built a quality gate.
[Click to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in. Pause. Let the radar chart sit.]
I told you at the start that one number matters more than accuracy. Here it is.
[Point to the 100% badge]
A hundred percent, on agronomic safety.
[Pause 2s for emphasis]
Here is why. In most AI products, a wrong answer costs you a bad review. In agriculture, a wrong answer can mean a poisoned field, a failed crop, or a family's year of income. So we do not treat evaluation as a nice-to-have. We treat it as a gate.
[Point to the radar]
We built an evaluation framework on the principles of DeepEval and Ragas, with twenty-four golden test cases, each a carefully written scenario with a known-safe expected behavior. And we score six domain metrics.
Agronomic Safety: does the answer avoid dangerous doses, banned chemicals, or unsafe combinations? This is a hard gate. If any case fails, the release does not ship.
Faithfulness: is every claim supported by the retrieved ICAR or MANAGE passage?
Relevance: did we actually answer the question that was asked?
SQL Grounding: when the assistant quotes a yield or a profit, does it match the database row exactly?
Farmer Readability: we require answers between one hundred and one hundred eighty words, because a farmer reading on a small screen in the sun does not need an essay.
Context Precision: did retrieval surface the right passages, and rank them well?
[Look at the audience]
We pass the safety gate on all twenty-four cases. I want to be candid about what that means: it is a rigorous floor on a defined benchmark, and we will keep expanding the benchmark as we meet more regions, more crops, and more edge cases. The gate grows with the platform.
For the VCs and the judges: this is what separates a demo from a deployable system. For the government officials: this is the assurance that what reaches a farmer has been tested against what could hurt her.
Now, with the safety foundation in place, let's talk about what this changes in the field.
[Click to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in. Return to a warmer tone.]
Let's come back to Lakshmi, and let's talk about what changes for her.
[Point to the first card]
Twenty-two percent. That is the average yield improvement we are targeting, and it comes from three sources working together: choosing a crop that actually fits her soil and rainfall, treating disease in week one instead of week three, and keeping mandatory operations on schedule even when the weather interferes.
[Point to the second card]
Thirty-five percent. That is the reduction in unnecessary chemical fertilizer spending. Remember the two hundred to three hundred kilograms of urea per acre? When a farmer is shown, with an explanation, that her soil needs less, she saves money at the shop, and she avoids the lodging and blast outbreaks that over-fertilization causes.
[Pause 2s for emphasis]
[Point to the third card]
And the third card is resilience. The What-If simulator means that a delayed canal release is no longer a surprise. It is a scenario she has already planned for.
[Point to the footnote]
I want to be transparent with this audience: these are our pilot targets and projections, which we are validating through field trials with extension partners. We would rather show you honest numbers we can defend than inflated numbers we cannot.
[Point to the sidebar]
And look beyond the farm gate. Less nitrogen runoff into rivers. Healthier soil for the next generation. Farmers who can finally qualify for credit. Extension officers whose forty-village burden is multiplied by a tool that works while they sleep.
[Look at the audience]
Investors, this is a market of hundreds of millions of smallholders where each percentage point of input savings compounds across a very large base. Officials, this is productivity and sustainability pointing in the same direction, which is rare.
So where do we go from here?
[Click to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in. Step to center stage. Slow down.]
We began with a farmer standing in a field at five in the morning, making a decision on hearsay. Let me show you how we change her morning.
[Point to Phase 1]
Phase one: pilot and validate. We deploy in selected districts alongside extension officers, and we measure what matters: yield, input savings, and adoption. Real fields, real data, honest results.
[Point to Phase 2]
Phase two: scale and integrate. First, IoT soil sensors. Today a farmer enters her soil values; tomorrow a probe in the ground streams them, and the recommendations and the calendar update on their own. Second, a multi-lingual, voice-first interface. Lakshmi should not need to type. She should be able to ask a question in her own language and hear the answer. Technology should adapt to the farmer, not the other way around.
[Point to Phase 3]
Phase three: nationwide, and at the edge. We compress the models and local indexes so they run on-device, offline, in the villages the network has never reached. Every agro-climatic zone, every major crop, every language.
[Pause 2s for emphasis]
[Point to the CTA band]
And this is where I need you.
To the government officials: partner with us on district pilots. Bring your extension officers, your manuals, your data. We will bring the platform, and we will measure together.
To the investors: fund the scale-up. The unit economics of reaching a smallholder through software, rather than a physical visit, change the entire cost curve of agricultural extension.
To the researchers: help us validate, challenge, and extend. Expand our benchmark, break our assumptions, publish with us.
[Look slowly across the audience]
Remember Lakshmi. Five in the morning. A decision to make. A loan to repay. For the first time, she does not have to guess. She has a calibrated answer, an honest explanation, a plan that bends with the weather, and a record that a bank can trust.
[Pause 3s]
That is not a technology story. That is a livelihood story. And together, we can write it for every farmer in this country.
Thank you.
[Hold. Click to the final contact slide.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8FAF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4008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nvSpPr>
        <p:spPr>
          <a:xfrm>
            <a:off x="548640" y="6428232"/>
            <a:ext cx="4572000" cy="274320"/>
          </a:xfrm>
          <a:prstGeom prst="rect">
            <a:avLst/>
          </a:prstGeom>
          <a:noFill/>
          <a:ln/>
        </p:spPr>
        <p:txBody>
          <a:bodyPr wrap="square" lIns="0" tIns="0" rIns="0" bIns="0" rtlCol="0" anchor="ctr"/>
          <a:lstStyle/>
          <a:p>
            <a:pPr indent="0" marL="0">
              <a:buNone/>
            </a:pPr>
            <a:r>
              <a:rPr lang="en-US" sz="1000" dirty="0">
                <a:solidFill>
                  <a:srgbClr val="64748B"/>
                </a:solidFill>
              </a:rPr>
              <a:t>Crop Advisory AI Platform</a:t>
            </a:r>
            <a:endParaRPr lang="en-US" sz="1000" dirty="0"/>
          </a:p>
        </p:txBody>
      </p:sp>
      <p:sp>
        <p:nvSpPr>
          <p:cNvPr id="25" name="Slide Number Placeholder 0"/>
          <p:cNvSpPr>
            <a:spLocks noGrp="1"/>
          </p:cNvSpPr>
          <p:nvPr>
            <p:ph type="sldNum" sz="quarter" idx="4294967295"/>
          </p:nvPr>
        </p:nvSpPr>
        <p:spPr>
          <a:xfrm>
            <a:off x="10972800" y="642823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B4D3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822960"/>
            <a:ext cx="6949440" cy="283464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731520" y="3794760"/>
            <a:ext cx="6949440" cy="914400"/>
          </a:xfrm>
          <a:prstGeom prst="rect">
            <a:avLst/>
          </a:prstGeom>
          <a:noFill/>
          <a:ln/>
        </p:spPr>
        <p:txBody>
          <a:bodyPr wrap="square" rtlCol="0"/>
          <a:lstStyle>
            <a:lvl1pPr algn="l" indent="0" marL="0">
              <a:buNone/>
              <a:defRPr lang="en-US" sz="1800" dirty="0">
                <a:solidFill>
                  <a:schemeClr val="accent3"/>
                </a:solidFill>
              </a:defRPr>
            </a:lvl1pPr>
          </a:lstStyle>
          <a:p>
            <a:pPr algn="l"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1B4D3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4008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nvSpPr>
        <p:spPr>
          <a:xfrm>
            <a:off x="548640" y="6428232"/>
            <a:ext cx="4572000" cy="274320"/>
          </a:xfrm>
          <a:prstGeom prst="rect">
            <a:avLst/>
          </a:prstGeom>
          <a:noFill/>
          <a:ln/>
        </p:spPr>
        <p:txBody>
          <a:bodyPr wrap="square" lIns="0" tIns="0" rIns="0" bIns="0" rtlCol="0" anchor="ctr"/>
          <a:lstStyle/>
          <a:p>
            <a:pPr indent="0" marL="0">
              <a:buNone/>
            </a:pPr>
            <a:r>
              <a:rPr lang="en-US" sz="1000" dirty="0">
                <a:solidFill>
                  <a:srgbClr val="B7E4C7"/>
                </a:solidFill>
              </a:rPr>
              <a:t>Crop Advisory AI Platform</a:t>
            </a:r>
            <a:endParaRPr lang="en-US" sz="1000" dirty="0"/>
          </a:p>
        </p:txBody>
      </p:sp>
      <p:sp>
        <p:nvSpPr>
          <p:cNvPr id="25" name="Slide Number Placeholder 0"/>
          <p:cNvSpPr>
            <a:spLocks noGrp="1"/>
          </p:cNvSpPr>
          <p:nvPr>
            <p:ph type="sldNum" sz="quarter" idx="4294967295"/>
          </p:nvPr>
        </p:nvSpPr>
        <p:spPr>
          <a:xfrm>
            <a:off x="10972800" y="642823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7E4C7"/>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2823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822960"/>
            <a:ext cx="6949440" cy="2834640"/>
          </a:xfrm>
          <a:prstGeom prst="rect">
            <a:avLst/>
          </a:prstGeom>
          <a:noFill/>
          <a:ln/>
        </p:spPr>
        <p:txBody>
          <a:bodyPr wrap="square" lIns="0" tIns="0" rIns="0" bIns="0" rtlCol="0" anchor="b"/>
          <a:lstStyle/>
          <a:p>
            <a:pPr algn="l" indent="0" marL="0">
              <a:buNone/>
            </a:pPr>
            <a:r>
              <a:rPr lang="en-US" sz="3800" b="1" dirty="0">
                <a:solidFill>
                  <a:schemeClr val="bg1"/>
                </a:solidFill>
              </a:rPr>
              <a:t>Transforming Smallholder Agriculture with Calibrated AI &amp; Precision Agronomy</a:t>
            </a:r>
            <a:endParaRPr lang="en-US" sz="3800" dirty="0"/>
          </a:p>
        </p:txBody>
      </p:sp>
      <p:sp>
        <p:nvSpPr>
          <p:cNvPr id="4" name="Text 0"/>
          <p:cNvSpPr/>
          <p:nvPr>
            <p:ph idx="101" type="body" hasCustomPrompt="1"/>
          </p:nvPr>
        </p:nvSpPr>
        <p:spPr>
          <a:xfrm>
            <a:off x="731520" y="3794760"/>
            <a:ext cx="6949440" cy="914400"/>
          </a:xfrm>
          <a:prstGeom prst="rect">
            <a:avLst/>
          </a:prstGeom>
          <a:noFill/>
          <a:ln/>
        </p:spPr>
        <p:txBody>
          <a:bodyPr wrap="square" lIns="0" tIns="0" rIns="0" bIns="0" rtlCol="0" anchor="t"/>
          <a:lstStyle/>
          <a:p>
            <a:pPr algn="l" indent="0" marL="0">
              <a:buNone/>
            </a:pPr>
            <a:r>
              <a:rPr lang="en-US" sz="1800" dirty="0">
                <a:solidFill>
                  <a:schemeClr val="accent3"/>
                </a:solidFill>
              </a:rPr>
              <a:t>A decision-support system farmers can trust, question, and carry offline</a:t>
            </a:r>
            <a:endParaRPr lang="en-US" sz="1800" dirty="0"/>
          </a:p>
        </p:txBody>
      </p:sp>
      <p:sp>
        <p:nvSpPr>
          <p:cNvPr id="5" name="deco-circle-1"/>
          <p:cNvSpPr/>
          <p:nvPr/>
        </p:nvSpPr>
        <p:spPr>
          <a:xfrm>
            <a:off x="7680960" y="-548640"/>
            <a:ext cx="5120640" cy="5120640"/>
          </a:xfrm>
          <a:prstGeom prst="ellipse">
            <a:avLst/>
          </a:prstGeom>
          <a:solidFill>
            <a:schemeClr val="accent1">
              <a:alpha val="45000"/>
            </a:schemeClr>
          </a:solidFill>
          <a:ln/>
        </p:spPr>
      </p:sp>
      <p:sp>
        <p:nvSpPr>
          <p:cNvPr id="6" name="deco-circle-2"/>
          <p:cNvSpPr/>
          <p:nvPr/>
        </p:nvSpPr>
        <p:spPr>
          <a:xfrm>
            <a:off x="9966960" y="4206240"/>
            <a:ext cx="3291840" cy="3291840"/>
          </a:xfrm>
          <a:prstGeom prst="ellipse">
            <a:avLst/>
          </a:prstGeom>
          <a:solidFill>
            <a:schemeClr val="accent2">
              <a:alpha val="30000"/>
            </a:schemeClr>
          </a:solidFill>
          <a:ln/>
        </p:spPr>
      </p:sp>
      <p:sp>
        <p:nvSpPr>
          <p:cNvPr id="7" name="phone-body"/>
          <p:cNvSpPr/>
          <p:nvPr/>
        </p:nvSpPr>
        <p:spPr>
          <a:xfrm>
            <a:off x="8275320" y="822960"/>
            <a:ext cx="3108960" cy="5212080"/>
          </a:xfrm>
          <a:prstGeom prst="roundRect">
            <a:avLst>
              <a:gd name="adj" fmla="val 8824"/>
            </a:avLst>
          </a:prstGeom>
          <a:solidFill>
            <a:schemeClr val="tx1"/>
          </a:solidFill>
          <a:ln/>
        </p:spPr>
      </p:sp>
      <p:sp>
        <p:nvSpPr>
          <p:cNvPr id="8" name="phone-screen"/>
          <p:cNvSpPr/>
          <p:nvPr/>
        </p:nvSpPr>
        <p:spPr>
          <a:xfrm>
            <a:off x="8458200" y="1051560"/>
            <a:ext cx="2743200" cy="4754880"/>
          </a:xfrm>
          <a:prstGeom prst="roundRect">
            <a:avLst>
              <a:gd name="adj" fmla="val 6667"/>
            </a:avLst>
          </a:prstGeom>
          <a:solidFill>
            <a:schemeClr val="bg2"/>
          </a:solidFill>
          <a:ln/>
        </p:spPr>
      </p:sp>
      <p:sp>
        <p:nvSpPr>
          <p:cNvPr id="9" name="Text 6"/>
          <p:cNvSpPr txBox="1"/>
          <p:nvPr/>
        </p:nvSpPr>
        <p:spPr>
          <a:xfrm>
            <a:off x="8686800" y="1325880"/>
            <a:ext cx="2286000" cy="228600"/>
          </a:xfrm>
          <a:prstGeom prst="rect">
            <a:avLst/>
          </a:prstGeom>
          <a:noFill/>
          <a:ln/>
        </p:spPr>
        <p:txBody>
          <a:bodyPr wrap="square" lIns="0" tIns="0" rIns="0" bIns="0" rtlCol="0" anchor="t"/>
          <a:lstStyle/>
          <a:p>
            <a:pPr indent="0" marL="0">
              <a:buNone/>
            </a:pPr>
            <a:r>
              <a:rPr lang="en-US" sz="1100" b="1" dirty="0">
                <a:solidFill>
                  <a:schemeClr val="accent1"/>
                </a:solidFill>
              </a:rPr>
              <a:t>RECOMMENDED CROP</a:t>
            </a:r>
            <a:endParaRPr lang="en-US" sz="1100" dirty="0"/>
          </a:p>
        </p:txBody>
      </p:sp>
      <p:sp>
        <p:nvSpPr>
          <p:cNvPr id="10" name="Text 7"/>
          <p:cNvSpPr txBox="1"/>
          <p:nvPr/>
        </p:nvSpPr>
        <p:spPr>
          <a:xfrm>
            <a:off x="8686800" y="1600200"/>
            <a:ext cx="2286000" cy="548640"/>
          </a:xfrm>
          <a:prstGeom prst="rect">
            <a:avLst/>
          </a:prstGeom>
          <a:noFill/>
          <a:ln/>
        </p:spPr>
        <p:txBody>
          <a:bodyPr wrap="square" lIns="0" tIns="0" rIns="0" bIns="0" rtlCol="0" anchor="t"/>
          <a:lstStyle/>
          <a:p>
            <a:pPr indent="0" marL="0">
              <a:buNone/>
            </a:pPr>
            <a:r>
              <a:rPr lang="en-US" sz="3000" b="1" dirty="0">
                <a:solidFill>
                  <a:schemeClr val="tx2"/>
                </a:solidFill>
              </a:rPr>
              <a:t>Rice</a:t>
            </a:r>
            <a:endParaRPr lang="en-US" sz="3000" dirty="0"/>
          </a:p>
        </p:txBody>
      </p:sp>
      <p:sp>
        <p:nvSpPr>
          <p:cNvPr id="11" name="Text 8"/>
          <p:cNvSpPr txBox="1"/>
          <p:nvPr/>
        </p:nvSpPr>
        <p:spPr>
          <a:xfrm>
            <a:off x="8686800" y="2194560"/>
            <a:ext cx="2286000" cy="274320"/>
          </a:xfrm>
          <a:prstGeom prst="rect">
            <a:avLst/>
          </a:prstGeom>
          <a:noFill/>
          <a:ln/>
        </p:spPr>
        <p:txBody>
          <a:bodyPr wrap="square" lIns="0" tIns="0" rIns="0" bIns="0" rtlCol="0" anchor="t"/>
          <a:lstStyle/>
          <a:p>
            <a:pPr indent="0" marL="0">
              <a:buNone/>
            </a:pPr>
            <a:r>
              <a:rPr lang="en-US" sz="1200" dirty="0">
                <a:solidFill>
                  <a:schemeClr val="accent6"/>
                </a:solidFill>
              </a:rPr>
              <a:t>Calibrated confidence</a:t>
            </a:r>
            <a:endParaRPr lang="en-US" sz="1200" dirty="0"/>
          </a:p>
        </p:txBody>
      </p:sp>
      <p:sp>
        <p:nvSpPr>
          <p:cNvPr id="12" name="Text 9"/>
          <p:cNvSpPr txBox="1"/>
          <p:nvPr/>
        </p:nvSpPr>
        <p:spPr>
          <a:xfrm>
            <a:off x="8686800" y="2743200"/>
            <a:ext cx="2286000" cy="228600"/>
          </a:xfrm>
          <a:prstGeom prst="rect">
            <a:avLst/>
          </a:prstGeom>
          <a:noFill/>
          <a:ln/>
        </p:spPr>
        <p:txBody>
          <a:bodyPr wrap="square" lIns="0" tIns="0" rIns="0" bIns="0" rtlCol="0" anchor="t"/>
          <a:lstStyle/>
          <a:p>
            <a:pPr indent="0" marL="0">
              <a:buNone/>
            </a:pPr>
            <a:r>
              <a:rPr lang="en-US" sz="1200" dirty="0">
                <a:solidFill>
                  <a:schemeClr val="tx1"/>
                </a:solidFill>
              </a:rPr>
              <a:t>Rice</a:t>
            </a:r>
            <a:endParaRPr lang="en-US" sz="1200" dirty="0"/>
          </a:p>
        </p:txBody>
      </p:sp>
      <p:sp>
        <p:nvSpPr>
          <p:cNvPr id="13" name="bar-track-Rice"/>
          <p:cNvSpPr/>
          <p:nvPr/>
        </p:nvSpPr>
        <p:spPr>
          <a:xfrm>
            <a:off x="8686800" y="3017520"/>
            <a:ext cx="2286000" cy="146304"/>
          </a:xfrm>
          <a:prstGeom prst="roundRect">
            <a:avLst>
              <a:gd name="adj" fmla="val 31250"/>
            </a:avLst>
          </a:prstGeom>
          <a:solidFill>
            <a:schemeClr val="accent3">
              <a:alpha val="60000"/>
            </a:schemeClr>
          </a:solidFill>
          <a:ln/>
        </p:spPr>
      </p:sp>
      <p:sp>
        <p:nvSpPr>
          <p:cNvPr id="14" name="bar-fill-Rice"/>
          <p:cNvSpPr/>
          <p:nvPr/>
        </p:nvSpPr>
        <p:spPr>
          <a:xfrm>
            <a:off x="8686800" y="3017520"/>
            <a:ext cx="2080260" cy="146304"/>
          </a:xfrm>
          <a:prstGeom prst="roundRect">
            <a:avLst>
              <a:gd name="adj" fmla="val 31250"/>
            </a:avLst>
          </a:prstGeom>
          <a:solidFill>
            <a:schemeClr val="accent1"/>
          </a:solidFill>
          <a:ln/>
        </p:spPr>
      </p:sp>
      <p:sp>
        <p:nvSpPr>
          <p:cNvPr id="15" name="Text 12"/>
          <p:cNvSpPr txBox="1"/>
          <p:nvPr/>
        </p:nvSpPr>
        <p:spPr>
          <a:xfrm>
            <a:off x="8686800" y="3383280"/>
            <a:ext cx="2286000" cy="228600"/>
          </a:xfrm>
          <a:prstGeom prst="rect">
            <a:avLst/>
          </a:prstGeom>
          <a:noFill/>
          <a:ln/>
        </p:spPr>
        <p:txBody>
          <a:bodyPr wrap="square" lIns="0" tIns="0" rIns="0" bIns="0" rtlCol="0" anchor="t"/>
          <a:lstStyle/>
          <a:p>
            <a:pPr indent="0" marL="0">
              <a:buNone/>
            </a:pPr>
            <a:r>
              <a:rPr lang="en-US" sz="1200" dirty="0">
                <a:solidFill>
                  <a:schemeClr val="tx1"/>
                </a:solidFill>
              </a:rPr>
              <a:t>Maize</a:t>
            </a:r>
            <a:endParaRPr lang="en-US" sz="1200" dirty="0"/>
          </a:p>
        </p:txBody>
      </p:sp>
      <p:sp>
        <p:nvSpPr>
          <p:cNvPr id="16" name="bar-track-Maize"/>
          <p:cNvSpPr/>
          <p:nvPr/>
        </p:nvSpPr>
        <p:spPr>
          <a:xfrm>
            <a:off x="8686800" y="3657600"/>
            <a:ext cx="2286000" cy="146304"/>
          </a:xfrm>
          <a:prstGeom prst="roundRect">
            <a:avLst>
              <a:gd name="adj" fmla="val 31250"/>
            </a:avLst>
          </a:prstGeom>
          <a:solidFill>
            <a:schemeClr val="accent3">
              <a:alpha val="60000"/>
            </a:schemeClr>
          </a:solidFill>
          <a:ln/>
        </p:spPr>
      </p:sp>
      <p:sp>
        <p:nvSpPr>
          <p:cNvPr id="17" name="bar-fill-Maize"/>
          <p:cNvSpPr/>
          <p:nvPr/>
        </p:nvSpPr>
        <p:spPr>
          <a:xfrm>
            <a:off x="8686800" y="3657600"/>
            <a:ext cx="137160" cy="146304"/>
          </a:xfrm>
          <a:prstGeom prst="roundRect">
            <a:avLst>
              <a:gd name="adj" fmla="val 33333"/>
            </a:avLst>
          </a:prstGeom>
          <a:solidFill>
            <a:schemeClr val="accent2"/>
          </a:solidFill>
          <a:ln/>
        </p:spPr>
      </p:sp>
      <p:sp>
        <p:nvSpPr>
          <p:cNvPr id="18" name="Text 15"/>
          <p:cNvSpPr txBox="1"/>
          <p:nvPr/>
        </p:nvSpPr>
        <p:spPr>
          <a:xfrm>
            <a:off x="8686800" y="4023360"/>
            <a:ext cx="2286000" cy="228600"/>
          </a:xfrm>
          <a:prstGeom prst="rect">
            <a:avLst/>
          </a:prstGeom>
          <a:noFill/>
          <a:ln/>
        </p:spPr>
        <p:txBody>
          <a:bodyPr wrap="square" lIns="0" tIns="0" rIns="0" bIns="0" rtlCol="0" anchor="t"/>
          <a:lstStyle/>
          <a:p>
            <a:pPr indent="0" marL="0">
              <a:buNone/>
            </a:pPr>
            <a:r>
              <a:rPr lang="en-US" sz="1200" dirty="0">
                <a:solidFill>
                  <a:schemeClr val="tx1"/>
                </a:solidFill>
              </a:rPr>
              <a:t>Groundnut</a:t>
            </a:r>
            <a:endParaRPr lang="en-US" sz="1200" dirty="0"/>
          </a:p>
        </p:txBody>
      </p:sp>
      <p:sp>
        <p:nvSpPr>
          <p:cNvPr id="19" name="bar-track-Groundnut"/>
          <p:cNvSpPr/>
          <p:nvPr/>
        </p:nvSpPr>
        <p:spPr>
          <a:xfrm>
            <a:off x="8686800" y="4297680"/>
            <a:ext cx="2286000" cy="146304"/>
          </a:xfrm>
          <a:prstGeom prst="roundRect">
            <a:avLst>
              <a:gd name="adj" fmla="val 31250"/>
            </a:avLst>
          </a:prstGeom>
          <a:solidFill>
            <a:schemeClr val="accent3">
              <a:alpha val="60000"/>
            </a:schemeClr>
          </a:solidFill>
          <a:ln/>
        </p:spPr>
      </p:sp>
      <p:sp>
        <p:nvSpPr>
          <p:cNvPr id="20" name="bar-fill-Groundnut"/>
          <p:cNvSpPr/>
          <p:nvPr/>
        </p:nvSpPr>
        <p:spPr>
          <a:xfrm>
            <a:off x="8686800" y="4297680"/>
            <a:ext cx="73152" cy="146304"/>
          </a:xfrm>
          <a:prstGeom prst="roundRect">
            <a:avLst>
              <a:gd name="adj" fmla="val 62500"/>
            </a:avLst>
          </a:prstGeom>
          <a:solidFill>
            <a:schemeClr val="accent2"/>
          </a:solidFill>
          <a:ln/>
        </p:spPr>
      </p:sp>
      <p:sp>
        <p:nvSpPr>
          <p:cNvPr id="21" name="Text 18"/>
          <p:cNvSpPr txBox="1"/>
          <p:nvPr/>
        </p:nvSpPr>
        <p:spPr>
          <a:xfrm>
            <a:off x="8686800" y="5349240"/>
            <a:ext cx="2286000" cy="228600"/>
          </a:xfrm>
          <a:prstGeom prst="rect">
            <a:avLst/>
          </a:prstGeom>
          <a:noFill/>
          <a:ln/>
        </p:spPr>
        <p:txBody>
          <a:bodyPr wrap="square" lIns="0" tIns="0" rIns="0" bIns="0" rtlCol="0" anchor="t"/>
          <a:lstStyle/>
          <a:p>
            <a:pPr indent="0" marL="0">
              <a:buNone/>
            </a:pPr>
            <a:r>
              <a:rPr lang="en-US" sz="1000" i="1" dirty="0">
                <a:solidFill>
                  <a:schemeClr val="accent6"/>
                </a:solidFill>
              </a:rPr>
              <a:t>Illustrative screen</a:t>
            </a:r>
            <a:endParaRPr lang="en-US" sz="1000" dirty="0"/>
          </a:p>
        </p:txBody>
      </p:sp>
      <p:sp>
        <p:nvSpPr>
          <p:cNvPr id="22" name="badge-0"/>
          <p:cNvSpPr/>
          <p:nvPr/>
        </p:nvSpPr>
        <p:spPr>
          <a:xfrm>
            <a:off x="731520" y="4983480"/>
            <a:ext cx="1645920" cy="1143000"/>
          </a:xfrm>
          <a:prstGeom prst="roundRect">
            <a:avLst>
              <a:gd name="adj" fmla="val 9600"/>
            </a:avLst>
          </a:prstGeom>
          <a:solidFill>
            <a:schemeClr val="bg1">
              <a:alpha val="12000"/>
            </a:schemeClr>
          </a:solidFill>
          <a:ln w="12700">
            <a:solidFill>
              <a:schemeClr val="accent2"/>
            </a:solidFill>
            <a:prstDash val="solid"/>
          </a:ln>
        </p:spPr>
      </p:sp>
      <p:sp>
        <p:nvSpPr>
          <p:cNvPr id="23" name="Text 20"/>
          <p:cNvSpPr txBox="1"/>
          <p:nvPr/>
        </p:nvSpPr>
        <p:spPr>
          <a:xfrm>
            <a:off x="731520" y="5120640"/>
            <a:ext cx="1645920" cy="548640"/>
          </a:xfrm>
          <a:prstGeom prst="rect">
            <a:avLst/>
          </a:prstGeom>
          <a:noFill/>
          <a:ln/>
        </p:spPr>
        <p:txBody>
          <a:bodyPr wrap="square" lIns="0" tIns="0" rIns="0" bIns="0" rtlCol="0" anchor="t"/>
          <a:lstStyle/>
          <a:p>
            <a:pPr algn="ctr" indent="0" marL="0">
              <a:buNone/>
            </a:pPr>
            <a:r>
              <a:rPr lang="en-US" sz="2800" b="1" dirty="0">
                <a:solidFill>
                  <a:schemeClr val="bg1"/>
                </a:solidFill>
              </a:rPr>
              <a:t>19,689</a:t>
            </a:r>
            <a:endParaRPr lang="en-US" sz="2800" dirty="0"/>
          </a:p>
        </p:txBody>
      </p:sp>
      <p:sp>
        <p:nvSpPr>
          <p:cNvPr id="24" name="Text 21"/>
          <p:cNvSpPr txBox="1"/>
          <p:nvPr/>
        </p:nvSpPr>
        <p:spPr>
          <a:xfrm>
            <a:off x="731520" y="5687568"/>
            <a:ext cx="1645920" cy="274320"/>
          </a:xfrm>
          <a:prstGeom prst="rect">
            <a:avLst/>
          </a:prstGeom>
          <a:noFill/>
          <a:ln/>
        </p:spPr>
        <p:txBody>
          <a:bodyPr wrap="square" lIns="0" tIns="0" rIns="0" bIns="0" rtlCol="0" anchor="t"/>
          <a:lstStyle/>
          <a:p>
            <a:pPr algn="ctr" indent="0" marL="0">
              <a:buNone/>
            </a:pPr>
            <a:r>
              <a:rPr lang="en-US" sz="1200" dirty="0">
                <a:solidFill>
                  <a:schemeClr val="accent3"/>
                </a:solidFill>
              </a:rPr>
              <a:t>training records</a:t>
            </a:r>
            <a:endParaRPr lang="en-US" sz="1200" dirty="0"/>
          </a:p>
        </p:txBody>
      </p:sp>
      <p:sp>
        <p:nvSpPr>
          <p:cNvPr id="25" name="badge-1"/>
          <p:cNvSpPr/>
          <p:nvPr/>
        </p:nvSpPr>
        <p:spPr>
          <a:xfrm>
            <a:off x="2560320" y="4983480"/>
            <a:ext cx="1645920" cy="1143000"/>
          </a:xfrm>
          <a:prstGeom prst="roundRect">
            <a:avLst>
              <a:gd name="adj" fmla="val 9600"/>
            </a:avLst>
          </a:prstGeom>
          <a:solidFill>
            <a:schemeClr val="bg1">
              <a:alpha val="12000"/>
            </a:schemeClr>
          </a:solidFill>
          <a:ln w="12700">
            <a:solidFill>
              <a:schemeClr val="accent2"/>
            </a:solidFill>
            <a:prstDash val="solid"/>
          </a:ln>
        </p:spPr>
      </p:sp>
      <p:sp>
        <p:nvSpPr>
          <p:cNvPr id="26" name="Text 23"/>
          <p:cNvSpPr txBox="1"/>
          <p:nvPr/>
        </p:nvSpPr>
        <p:spPr>
          <a:xfrm>
            <a:off x="2560320" y="5120640"/>
            <a:ext cx="1645920" cy="548640"/>
          </a:xfrm>
          <a:prstGeom prst="rect">
            <a:avLst/>
          </a:prstGeom>
          <a:noFill/>
          <a:ln/>
        </p:spPr>
        <p:txBody>
          <a:bodyPr wrap="square" lIns="0" tIns="0" rIns="0" bIns="0" rtlCol="0" anchor="t"/>
          <a:lstStyle/>
          <a:p>
            <a:pPr algn="ctr" indent="0" marL="0">
              <a:buNone/>
            </a:pPr>
            <a:r>
              <a:rPr lang="en-US" sz="2800" b="1" dirty="0">
                <a:solidFill>
                  <a:schemeClr val="bg1"/>
                </a:solidFill>
              </a:rPr>
              <a:t>25</a:t>
            </a:r>
            <a:endParaRPr lang="en-US" sz="2800" dirty="0"/>
          </a:p>
        </p:txBody>
      </p:sp>
      <p:sp>
        <p:nvSpPr>
          <p:cNvPr id="27" name="Text 24"/>
          <p:cNvSpPr txBox="1"/>
          <p:nvPr/>
        </p:nvSpPr>
        <p:spPr>
          <a:xfrm>
            <a:off x="2560320" y="5687568"/>
            <a:ext cx="1645920" cy="274320"/>
          </a:xfrm>
          <a:prstGeom prst="rect">
            <a:avLst/>
          </a:prstGeom>
          <a:noFill/>
          <a:ln/>
        </p:spPr>
        <p:txBody>
          <a:bodyPr wrap="square" lIns="0" tIns="0" rIns="0" bIns="0" rtlCol="0" anchor="t"/>
          <a:lstStyle/>
          <a:p>
            <a:pPr algn="ctr" indent="0" marL="0">
              <a:buNone/>
            </a:pPr>
            <a:r>
              <a:rPr lang="en-US" sz="1200" dirty="0">
                <a:solidFill>
                  <a:schemeClr val="accent3"/>
                </a:solidFill>
              </a:rPr>
              <a:t>crop classes</a:t>
            </a:r>
            <a:endParaRPr lang="en-US" sz="1200" dirty="0"/>
          </a:p>
        </p:txBody>
      </p:sp>
      <p:sp>
        <p:nvSpPr>
          <p:cNvPr id="28" name="badge-2"/>
          <p:cNvSpPr/>
          <p:nvPr/>
        </p:nvSpPr>
        <p:spPr>
          <a:xfrm>
            <a:off x="4389120" y="4983480"/>
            <a:ext cx="1645920" cy="1143000"/>
          </a:xfrm>
          <a:prstGeom prst="roundRect">
            <a:avLst>
              <a:gd name="adj" fmla="val 9600"/>
            </a:avLst>
          </a:prstGeom>
          <a:solidFill>
            <a:schemeClr val="bg1">
              <a:alpha val="12000"/>
            </a:schemeClr>
          </a:solidFill>
          <a:ln w="12700">
            <a:solidFill>
              <a:schemeClr val="accent2"/>
            </a:solidFill>
            <a:prstDash val="solid"/>
          </a:ln>
        </p:spPr>
      </p:sp>
      <p:sp>
        <p:nvSpPr>
          <p:cNvPr id="29" name="Text 26"/>
          <p:cNvSpPr txBox="1"/>
          <p:nvPr/>
        </p:nvSpPr>
        <p:spPr>
          <a:xfrm>
            <a:off x="4389120" y="5120640"/>
            <a:ext cx="1645920" cy="548640"/>
          </a:xfrm>
          <a:prstGeom prst="rect">
            <a:avLst/>
          </a:prstGeom>
          <a:noFill/>
          <a:ln/>
        </p:spPr>
        <p:txBody>
          <a:bodyPr wrap="square" lIns="0" tIns="0" rIns="0" bIns="0" rtlCol="0" anchor="t"/>
          <a:lstStyle/>
          <a:p>
            <a:pPr algn="ctr" indent="0" marL="0">
              <a:buNone/>
            </a:pPr>
            <a:r>
              <a:rPr lang="en-US" sz="2800" b="1" dirty="0">
                <a:solidFill>
                  <a:schemeClr val="bg1"/>
                </a:solidFill>
              </a:rPr>
              <a:t>7</a:t>
            </a:r>
            <a:endParaRPr lang="en-US" sz="2800" dirty="0"/>
          </a:p>
        </p:txBody>
      </p:sp>
      <p:sp>
        <p:nvSpPr>
          <p:cNvPr id="30" name="Text 27"/>
          <p:cNvSpPr txBox="1"/>
          <p:nvPr/>
        </p:nvSpPr>
        <p:spPr>
          <a:xfrm>
            <a:off x="4389120" y="5687568"/>
            <a:ext cx="1645920" cy="274320"/>
          </a:xfrm>
          <a:prstGeom prst="rect">
            <a:avLst/>
          </a:prstGeom>
          <a:noFill/>
          <a:ln/>
        </p:spPr>
        <p:txBody>
          <a:bodyPr wrap="square" lIns="0" tIns="0" rIns="0" bIns="0" rtlCol="0" anchor="t"/>
          <a:lstStyle/>
          <a:p>
            <a:pPr algn="ctr" indent="0" marL="0">
              <a:buNone/>
            </a:pPr>
            <a:r>
              <a:rPr lang="en-US" sz="1200" dirty="0">
                <a:solidFill>
                  <a:schemeClr val="accent3"/>
                </a:solidFill>
              </a:rPr>
              <a:t>AI pillars</a:t>
            </a:r>
            <a:endParaRPr lang="en-US" sz="1200" dirty="0"/>
          </a:p>
        </p:txBody>
      </p:sp>
      <p:sp>
        <p:nvSpPr>
          <p:cNvPr id="31" name="badge-3"/>
          <p:cNvSpPr/>
          <p:nvPr/>
        </p:nvSpPr>
        <p:spPr>
          <a:xfrm>
            <a:off x="6217920" y="4983480"/>
            <a:ext cx="1645920" cy="1143000"/>
          </a:xfrm>
          <a:prstGeom prst="roundRect">
            <a:avLst>
              <a:gd name="adj" fmla="val 9600"/>
            </a:avLst>
          </a:prstGeom>
          <a:solidFill>
            <a:schemeClr val="bg1">
              <a:alpha val="12000"/>
            </a:schemeClr>
          </a:solidFill>
          <a:ln w="12700">
            <a:solidFill>
              <a:schemeClr val="accent2"/>
            </a:solidFill>
            <a:prstDash val="solid"/>
          </a:ln>
        </p:spPr>
      </p:sp>
      <p:sp>
        <p:nvSpPr>
          <p:cNvPr id="32" name="Text 29"/>
          <p:cNvSpPr txBox="1"/>
          <p:nvPr/>
        </p:nvSpPr>
        <p:spPr>
          <a:xfrm>
            <a:off x="6217920" y="5120640"/>
            <a:ext cx="1645920" cy="548640"/>
          </a:xfrm>
          <a:prstGeom prst="rect">
            <a:avLst/>
          </a:prstGeom>
          <a:noFill/>
          <a:ln/>
        </p:spPr>
        <p:txBody>
          <a:bodyPr wrap="square" lIns="0" tIns="0" rIns="0" bIns="0" rtlCol="0" anchor="t"/>
          <a:lstStyle/>
          <a:p>
            <a:pPr algn="ctr" indent="0" marL="0">
              <a:buNone/>
            </a:pPr>
            <a:r>
              <a:rPr lang="en-US" sz="2800" b="1" dirty="0">
                <a:solidFill>
                  <a:schemeClr val="bg1"/>
                </a:solidFill>
              </a:rPr>
              <a:t>100%</a:t>
            </a:r>
            <a:endParaRPr lang="en-US" sz="2800" dirty="0"/>
          </a:p>
        </p:txBody>
      </p:sp>
      <p:sp>
        <p:nvSpPr>
          <p:cNvPr id="33" name="Text 30"/>
          <p:cNvSpPr txBox="1"/>
          <p:nvPr/>
        </p:nvSpPr>
        <p:spPr>
          <a:xfrm>
            <a:off x="6217920" y="5687568"/>
            <a:ext cx="1645920" cy="274320"/>
          </a:xfrm>
          <a:prstGeom prst="rect">
            <a:avLst/>
          </a:prstGeom>
          <a:noFill/>
          <a:ln/>
        </p:spPr>
        <p:txBody>
          <a:bodyPr wrap="square" lIns="0" tIns="0" rIns="0" bIns="0" rtlCol="0" anchor="t"/>
          <a:lstStyle/>
          <a:p>
            <a:pPr algn="ctr" indent="0" marL="0">
              <a:buNone/>
            </a:pPr>
            <a:r>
              <a:rPr lang="en-US" sz="1200" dirty="0">
                <a:solidFill>
                  <a:schemeClr val="accent3"/>
                </a:solidFill>
              </a:rPr>
              <a:t>safety gate pass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40080"/>
          </a:xfrm>
          <a:prstGeom prst="rect">
            <a:avLst/>
          </a:prstGeom>
          <a:noFill/>
          <a:ln/>
        </p:spPr>
        <p:txBody>
          <a:bodyPr wrap="square" lIns="0" tIns="0" rIns="0" bIns="0" rtlCol="0" anchor="ctr"/>
          <a:lstStyle/>
          <a:p>
            <a:pPr algn="l" indent="0" marL="0">
              <a:buNone/>
            </a:pPr>
            <a:r>
              <a:rPr lang="en-US" sz="3400" b="1" dirty="0">
                <a:solidFill>
                  <a:schemeClr val="tx2"/>
                </a:solidFill>
              </a:rPr>
              <a:t>Four Failures Keep Smallholders Guessing</a:t>
            </a:r>
            <a:endParaRPr lang="en-US" sz="3400" dirty="0"/>
          </a:p>
        </p:txBody>
      </p:sp>
      <p:sp>
        <p:nvSpPr>
          <p:cNvPr id="4" name="Text 1"/>
          <p:cNvSpPr txBox="1"/>
          <p:nvPr/>
        </p:nvSpPr>
        <p:spPr>
          <a:xfrm>
            <a:off x="548640" y="932688"/>
            <a:ext cx="11091672" cy="365760"/>
          </a:xfrm>
          <a:prstGeom prst="rect">
            <a:avLst/>
          </a:prstGeom>
          <a:noFill/>
          <a:ln/>
        </p:spPr>
        <p:txBody>
          <a:bodyPr wrap="square" lIns="0" tIns="0" rIns="0" bIns="0" rtlCol="0" anchor="t"/>
          <a:lstStyle/>
          <a:p>
            <a:pPr indent="0" marL="0">
              <a:buNone/>
            </a:pPr>
            <a:r>
              <a:rPr lang="en-US" sz="1600" i="1" dirty="0">
                <a:solidFill>
                  <a:schemeClr val="accent6"/>
                </a:solidFill>
              </a:rPr>
              <a:t>Guesswork, over-fertilization, water uncertainty, and zero farm memory compound each season</a:t>
            </a:r>
            <a:endParaRPr lang="en-US" sz="1600" dirty="0"/>
          </a:p>
        </p:txBody>
      </p:sp>
      <p:sp>
        <p:nvSpPr>
          <p:cNvPr id="5" name="problem-card-1"/>
          <p:cNvSpPr/>
          <p:nvPr/>
        </p:nvSpPr>
        <p:spPr>
          <a:xfrm>
            <a:off x="548640" y="1508760"/>
            <a:ext cx="4846320" cy="2103120"/>
          </a:xfrm>
          <a:prstGeom prst="roundRect">
            <a:avLst>
              <a:gd name="adj" fmla="val 5217"/>
            </a:avLst>
          </a:prstGeom>
          <a:solidFill>
            <a:schemeClr val="bg1"/>
          </a:solidFill>
          <a:ln w="9525">
            <a:solidFill>
              <a:schemeClr val="accent3"/>
            </a:solidFill>
            <a:prstDash val="solid"/>
          </a:ln>
          <a:effectLst>
            <a:outerShdw sx="100000" sy="100000" kx="0" ky="0" algn="bl" rotWithShape="0" blurRad="76200" dist="25400" dir="5400000">
              <a:srgbClr val="000000">
                <a:alpha val="12000"/>
              </a:srgbClr>
            </a:outerShdw>
          </a:effectLst>
        </p:spPr>
      </p:sp>
      <p:sp>
        <p:nvSpPr>
          <p:cNvPr id="6" name="icon-bg-FaBook"/>
          <p:cNvSpPr/>
          <p:nvPr/>
        </p:nvSpPr>
        <p:spPr>
          <a:xfrm>
            <a:off x="822960" y="1828800"/>
            <a:ext cx="640080" cy="640080"/>
          </a:xfrm>
          <a:prstGeom prst="ellipse">
            <a:avLst/>
          </a:prstGeom>
          <a:solidFill>
            <a:schemeClr val="accent1"/>
          </a:solidFill>
          <a:ln/>
        </p:spPr>
      </p:sp>
      <p:pic>
        <p:nvPicPr>
          <p:cNvPr id="7" name="Image 0" descr="Book icon">    </p:cNvPr>
          <p:cNvPicPr>
            <a:picLocks noChangeAspect="1"/>
          </p:cNvPicPr>
          <p:nvPr/>
        </p:nvPicPr>
        <p:blipFill>
          <a:blip r:embed="rId1"/>
          <a:stretch>
            <a:fillRect/>
          </a:stretch>
        </p:blipFill>
        <p:spPr>
          <a:xfrm>
            <a:off x="982980" y="1988820"/>
            <a:ext cx="320040" cy="320040"/>
          </a:xfrm>
          <a:prstGeom prst="rect">
            <a:avLst/>
          </a:prstGeom>
        </p:spPr>
      </p:pic>
      <p:sp>
        <p:nvSpPr>
          <p:cNvPr id="8" name="Text 4"/>
          <p:cNvSpPr txBox="1"/>
          <p:nvPr/>
        </p:nvSpPr>
        <p:spPr>
          <a:xfrm>
            <a:off x="1691640" y="1783080"/>
            <a:ext cx="3474720" cy="365760"/>
          </a:xfrm>
          <a:prstGeom prst="rect">
            <a:avLst/>
          </a:prstGeom>
          <a:noFill/>
          <a:ln/>
        </p:spPr>
        <p:txBody>
          <a:bodyPr wrap="square" lIns="0" tIns="0" rIns="0" bIns="0" rtlCol="0" anchor="t"/>
          <a:lstStyle/>
          <a:p>
            <a:pPr indent="0" marL="0">
              <a:buNone/>
            </a:pPr>
            <a:r>
              <a:rPr lang="en-US" sz="2000" b="1" dirty="0">
                <a:solidFill>
                  <a:schemeClr val="tx2"/>
                </a:solidFill>
              </a:rPr>
              <a:t>Decision Gap</a:t>
            </a:r>
            <a:endParaRPr lang="en-US" sz="2000" dirty="0"/>
          </a:p>
        </p:txBody>
      </p:sp>
      <p:sp>
        <p:nvSpPr>
          <p:cNvPr id="9" name="Text 5"/>
          <p:cNvSpPr txBox="1"/>
          <p:nvPr/>
        </p:nvSpPr>
        <p:spPr>
          <a:xfrm>
            <a:off x="1691640" y="2240280"/>
            <a:ext cx="3474720" cy="1188720"/>
          </a:xfrm>
          <a:prstGeom prst="rect">
            <a:avLst/>
          </a:prstGeom>
          <a:noFill/>
          <a:ln/>
        </p:spPr>
        <p:txBody>
          <a:bodyPr wrap="square" lIns="0" tIns="0" rIns="0" bIns="0" rtlCol="0" anchor="t"/>
          <a:lstStyle/>
          <a:p>
            <a:pPr indent="0" marL="0">
              <a:buNone/>
            </a:pPr>
            <a:r>
              <a:rPr lang="en-US" sz="1500" dirty="0">
                <a:solidFill>
                  <a:schemeClr val="tx1"/>
                </a:solidFill>
              </a:rPr>
              <a:t>82% of smallholders rely on hearsay or extension visits that arrive too late.</a:t>
            </a:r>
            <a:endParaRPr lang="en-US" sz="1500" dirty="0"/>
          </a:p>
        </p:txBody>
      </p:sp>
      <p:sp>
        <p:nvSpPr>
          <p:cNvPr id="10" name="problem-card-2"/>
          <p:cNvSpPr/>
          <p:nvPr/>
        </p:nvSpPr>
        <p:spPr>
          <a:xfrm>
            <a:off x="6793992" y="1508760"/>
            <a:ext cx="4846320" cy="2103120"/>
          </a:xfrm>
          <a:prstGeom prst="roundRect">
            <a:avLst>
              <a:gd name="adj" fmla="val 5217"/>
            </a:avLst>
          </a:prstGeom>
          <a:solidFill>
            <a:schemeClr val="bg1"/>
          </a:solidFill>
          <a:ln w="9525">
            <a:solidFill>
              <a:schemeClr val="accent3"/>
            </a:solidFill>
            <a:prstDash val="solid"/>
          </a:ln>
          <a:effectLst>
            <a:outerShdw sx="100000" sy="100000" kx="0" ky="0" algn="bl" rotWithShape="0" blurRad="76200" dist="25400" dir="5400000">
              <a:srgbClr val="000000">
                <a:alpha val="12000"/>
              </a:srgbClr>
            </a:outerShdw>
          </a:effectLst>
        </p:spPr>
      </p:sp>
      <p:sp>
        <p:nvSpPr>
          <p:cNvPr id="11" name="icon-bg-FaFlask"/>
          <p:cNvSpPr/>
          <p:nvPr/>
        </p:nvSpPr>
        <p:spPr>
          <a:xfrm>
            <a:off x="7068312" y="1828800"/>
            <a:ext cx="640080" cy="640080"/>
          </a:xfrm>
          <a:prstGeom prst="ellipse">
            <a:avLst/>
          </a:prstGeom>
          <a:solidFill>
            <a:schemeClr val="accent1"/>
          </a:solidFill>
          <a:ln/>
        </p:spPr>
      </p:sp>
      <p:pic>
        <p:nvPicPr>
          <p:cNvPr id="12" name="Image 1" descr="Flask icon">    </p:cNvPr>
          <p:cNvPicPr>
            <a:picLocks noChangeAspect="1"/>
          </p:cNvPicPr>
          <p:nvPr/>
        </p:nvPicPr>
        <p:blipFill>
          <a:blip r:embed="rId2"/>
          <a:stretch>
            <a:fillRect/>
          </a:stretch>
        </p:blipFill>
        <p:spPr>
          <a:xfrm>
            <a:off x="7228332" y="1988820"/>
            <a:ext cx="320040" cy="320040"/>
          </a:xfrm>
          <a:prstGeom prst="rect">
            <a:avLst/>
          </a:prstGeom>
        </p:spPr>
      </p:pic>
      <p:sp>
        <p:nvSpPr>
          <p:cNvPr id="13" name="Text 8"/>
          <p:cNvSpPr txBox="1"/>
          <p:nvPr/>
        </p:nvSpPr>
        <p:spPr>
          <a:xfrm>
            <a:off x="7936992" y="1783080"/>
            <a:ext cx="3474720" cy="365760"/>
          </a:xfrm>
          <a:prstGeom prst="rect">
            <a:avLst/>
          </a:prstGeom>
          <a:noFill/>
          <a:ln/>
        </p:spPr>
        <p:txBody>
          <a:bodyPr wrap="square" lIns="0" tIns="0" rIns="0" bIns="0" rtlCol="0" anchor="t"/>
          <a:lstStyle/>
          <a:p>
            <a:pPr indent="0" marL="0">
              <a:buNone/>
            </a:pPr>
            <a:r>
              <a:rPr lang="en-US" sz="2000" b="1" dirty="0">
                <a:solidFill>
                  <a:schemeClr val="tx2"/>
                </a:solidFill>
              </a:rPr>
              <a:t>Over-Fertilization</a:t>
            </a:r>
            <a:endParaRPr lang="en-US" sz="2000" dirty="0"/>
          </a:p>
        </p:txBody>
      </p:sp>
      <p:sp>
        <p:nvSpPr>
          <p:cNvPr id="14" name="Text 9"/>
          <p:cNvSpPr txBox="1"/>
          <p:nvPr/>
        </p:nvSpPr>
        <p:spPr>
          <a:xfrm>
            <a:off x="7936992" y="2240280"/>
            <a:ext cx="3474720" cy="1188720"/>
          </a:xfrm>
          <a:prstGeom prst="rect">
            <a:avLst/>
          </a:prstGeom>
          <a:noFill/>
          <a:ln/>
        </p:spPr>
        <p:txBody>
          <a:bodyPr wrap="square" lIns="0" tIns="0" rIns="0" bIns="0" rtlCol="0" anchor="t"/>
          <a:lstStyle/>
          <a:p>
            <a:pPr indent="0" marL="0">
              <a:buNone/>
            </a:pPr>
            <a:r>
              <a:rPr lang="en-US" sz="1500" dirty="0">
                <a:solidFill>
                  <a:schemeClr val="tx1"/>
                </a:solidFill>
              </a:rPr>
              <a:t>200–300 kg/acre of urea brings lodging, Blast epidemics, acidified soil and high costs.</a:t>
            </a:r>
            <a:endParaRPr lang="en-US" sz="1500" dirty="0"/>
          </a:p>
        </p:txBody>
      </p:sp>
      <p:sp>
        <p:nvSpPr>
          <p:cNvPr id="15" name="problem-card-3"/>
          <p:cNvSpPr/>
          <p:nvPr/>
        </p:nvSpPr>
        <p:spPr>
          <a:xfrm>
            <a:off x="548640" y="4023360"/>
            <a:ext cx="4846320" cy="2103120"/>
          </a:xfrm>
          <a:prstGeom prst="roundRect">
            <a:avLst>
              <a:gd name="adj" fmla="val 5217"/>
            </a:avLst>
          </a:prstGeom>
          <a:solidFill>
            <a:schemeClr val="bg1"/>
          </a:solidFill>
          <a:ln w="9525">
            <a:solidFill>
              <a:schemeClr val="accent3"/>
            </a:solidFill>
            <a:prstDash val="solid"/>
          </a:ln>
          <a:effectLst>
            <a:outerShdw sx="100000" sy="100000" kx="0" ky="0" algn="bl" rotWithShape="0" blurRad="76200" dist="25400" dir="5400000">
              <a:srgbClr val="000000">
                <a:alpha val="12000"/>
              </a:srgbClr>
            </a:outerShdw>
          </a:effectLst>
        </p:spPr>
      </p:sp>
      <p:sp>
        <p:nvSpPr>
          <p:cNvPr id="16" name="icon-bg-FaTint"/>
          <p:cNvSpPr/>
          <p:nvPr/>
        </p:nvSpPr>
        <p:spPr>
          <a:xfrm>
            <a:off x="822960" y="4343400"/>
            <a:ext cx="640080" cy="640080"/>
          </a:xfrm>
          <a:prstGeom prst="ellipse">
            <a:avLst/>
          </a:prstGeom>
          <a:solidFill>
            <a:schemeClr val="accent1"/>
          </a:solidFill>
          <a:ln/>
        </p:spPr>
      </p:sp>
      <p:pic>
        <p:nvPicPr>
          <p:cNvPr id="17" name="Image 2" descr="Tint icon">    </p:cNvPr>
          <p:cNvPicPr>
            <a:picLocks noChangeAspect="1"/>
          </p:cNvPicPr>
          <p:nvPr/>
        </p:nvPicPr>
        <p:blipFill>
          <a:blip r:embed="rId3"/>
          <a:stretch>
            <a:fillRect/>
          </a:stretch>
        </p:blipFill>
        <p:spPr>
          <a:xfrm>
            <a:off x="982980" y="4503420"/>
            <a:ext cx="320040" cy="320040"/>
          </a:xfrm>
          <a:prstGeom prst="rect">
            <a:avLst/>
          </a:prstGeom>
        </p:spPr>
      </p:pic>
      <p:sp>
        <p:nvSpPr>
          <p:cNvPr id="18" name="Text 12"/>
          <p:cNvSpPr txBox="1"/>
          <p:nvPr/>
        </p:nvSpPr>
        <p:spPr>
          <a:xfrm>
            <a:off x="1691640" y="4297680"/>
            <a:ext cx="3474720" cy="365760"/>
          </a:xfrm>
          <a:prstGeom prst="rect">
            <a:avLst/>
          </a:prstGeom>
          <a:noFill/>
          <a:ln/>
        </p:spPr>
        <p:txBody>
          <a:bodyPr wrap="square" lIns="0" tIns="0" rIns="0" bIns="0" rtlCol="0" anchor="t"/>
          <a:lstStyle/>
          <a:p>
            <a:pPr indent="0" marL="0">
              <a:buNone/>
            </a:pPr>
            <a:r>
              <a:rPr lang="en-US" sz="2000" b="1" dirty="0">
                <a:solidFill>
                  <a:schemeClr val="tx2"/>
                </a:solidFill>
              </a:rPr>
              <a:t>Water Stress</a:t>
            </a:r>
            <a:endParaRPr lang="en-US" sz="2000" dirty="0"/>
          </a:p>
        </p:txBody>
      </p:sp>
      <p:sp>
        <p:nvSpPr>
          <p:cNvPr id="19" name="Text 13"/>
          <p:cNvSpPr txBox="1"/>
          <p:nvPr/>
        </p:nvSpPr>
        <p:spPr>
          <a:xfrm>
            <a:off x="1691640" y="4754880"/>
            <a:ext cx="3474720" cy="1188720"/>
          </a:xfrm>
          <a:prstGeom prst="rect">
            <a:avLst/>
          </a:prstGeom>
          <a:noFill/>
          <a:ln/>
        </p:spPr>
        <p:txBody>
          <a:bodyPr wrap="square" lIns="0" tIns="0" rIns="0" bIns="0" rtlCol="0" anchor="t"/>
          <a:lstStyle/>
          <a:p>
            <a:pPr indent="0" marL="0">
              <a:buNone/>
            </a:pPr>
            <a:r>
              <a:rPr lang="en-US" sz="1500" dirty="0">
                <a:solidFill>
                  <a:schemeClr val="tx1"/>
                </a:solidFill>
              </a:rPr>
              <a:t>Delayed canal releases leave farmers with no drought contingency plan.</a:t>
            </a:r>
            <a:endParaRPr lang="en-US" sz="1500" dirty="0"/>
          </a:p>
        </p:txBody>
      </p:sp>
      <p:sp>
        <p:nvSpPr>
          <p:cNvPr id="20" name="problem-card-4"/>
          <p:cNvSpPr/>
          <p:nvPr/>
        </p:nvSpPr>
        <p:spPr>
          <a:xfrm>
            <a:off x="6793992" y="4023360"/>
            <a:ext cx="4846320" cy="2103120"/>
          </a:xfrm>
          <a:prstGeom prst="roundRect">
            <a:avLst>
              <a:gd name="adj" fmla="val 5217"/>
            </a:avLst>
          </a:prstGeom>
          <a:solidFill>
            <a:schemeClr val="bg1"/>
          </a:solidFill>
          <a:ln w="9525">
            <a:solidFill>
              <a:schemeClr val="accent3"/>
            </a:solidFill>
            <a:prstDash val="solid"/>
          </a:ln>
          <a:effectLst>
            <a:outerShdw sx="100000" sy="100000" kx="0" ky="0" algn="bl" rotWithShape="0" blurRad="76200" dist="25400" dir="5400000">
              <a:srgbClr val="000000">
                <a:alpha val="12000"/>
              </a:srgbClr>
            </a:outerShdw>
          </a:effectLst>
        </p:spPr>
      </p:sp>
      <p:sp>
        <p:nvSpPr>
          <p:cNvPr id="21" name="icon-bg-FaClipboardList"/>
          <p:cNvSpPr/>
          <p:nvPr/>
        </p:nvSpPr>
        <p:spPr>
          <a:xfrm>
            <a:off x="7068312" y="4343400"/>
            <a:ext cx="640080" cy="640080"/>
          </a:xfrm>
          <a:prstGeom prst="ellipse">
            <a:avLst/>
          </a:prstGeom>
          <a:solidFill>
            <a:schemeClr val="accent1"/>
          </a:solidFill>
          <a:ln/>
        </p:spPr>
      </p:sp>
      <p:pic>
        <p:nvPicPr>
          <p:cNvPr id="22" name="Image 3" descr="ClipboardList icon">    </p:cNvPr>
          <p:cNvPicPr>
            <a:picLocks noChangeAspect="1"/>
          </p:cNvPicPr>
          <p:nvPr/>
        </p:nvPicPr>
        <p:blipFill>
          <a:blip r:embed="rId4"/>
          <a:stretch>
            <a:fillRect/>
          </a:stretch>
        </p:blipFill>
        <p:spPr>
          <a:xfrm>
            <a:off x="7228332" y="4503420"/>
            <a:ext cx="320040" cy="320040"/>
          </a:xfrm>
          <a:prstGeom prst="rect">
            <a:avLst/>
          </a:prstGeom>
        </p:spPr>
      </p:pic>
      <p:sp>
        <p:nvSpPr>
          <p:cNvPr id="23" name="Text 16"/>
          <p:cNvSpPr txBox="1"/>
          <p:nvPr/>
        </p:nvSpPr>
        <p:spPr>
          <a:xfrm>
            <a:off x="7936992" y="4297680"/>
            <a:ext cx="3474720" cy="365760"/>
          </a:xfrm>
          <a:prstGeom prst="rect">
            <a:avLst/>
          </a:prstGeom>
          <a:noFill/>
          <a:ln/>
        </p:spPr>
        <p:txBody>
          <a:bodyPr wrap="square" lIns="0" tIns="0" rIns="0" bIns="0" rtlCol="0" anchor="t"/>
          <a:lstStyle/>
          <a:p>
            <a:pPr indent="0" marL="0">
              <a:buNone/>
            </a:pPr>
            <a:r>
              <a:rPr lang="en-US" sz="2000" b="1" dirty="0">
                <a:solidFill>
                  <a:schemeClr val="tx2"/>
                </a:solidFill>
              </a:rPr>
              <a:t>Zero Farm Memory</a:t>
            </a:r>
            <a:endParaRPr lang="en-US" sz="2000" dirty="0"/>
          </a:p>
        </p:txBody>
      </p:sp>
      <p:sp>
        <p:nvSpPr>
          <p:cNvPr id="24" name="Text 17"/>
          <p:cNvSpPr txBox="1"/>
          <p:nvPr/>
        </p:nvSpPr>
        <p:spPr>
          <a:xfrm>
            <a:off x="7936992" y="4754880"/>
            <a:ext cx="3474720" cy="1188720"/>
          </a:xfrm>
          <a:prstGeom prst="rect">
            <a:avLst/>
          </a:prstGeom>
          <a:noFill/>
          <a:ln/>
        </p:spPr>
        <p:txBody>
          <a:bodyPr wrap="square" lIns="0" tIns="0" rIns="0" bIns="0" rtlCol="0" anchor="t"/>
          <a:lstStyle/>
          <a:p>
            <a:pPr indent="0" marL="0">
              <a:buNone/>
            </a:pPr>
            <a:r>
              <a:rPr lang="en-US" sz="1500" dirty="0">
                <a:solidFill>
                  <a:schemeClr val="tx1"/>
                </a:solidFill>
              </a:rPr>
              <a:t>No digital yield or profit records means no bank credit and no rotation insight.</a:t>
            </a:r>
            <a:endParaRPr lang="en-US" sz="1500" dirty="0"/>
          </a:p>
        </p:txBody>
      </p:sp>
      <p:sp>
        <p:nvSpPr>
          <p:cNvPr id="25" name="stat-82-circle"/>
          <p:cNvSpPr/>
          <p:nvPr/>
        </p:nvSpPr>
        <p:spPr>
          <a:xfrm>
            <a:off x="5408676" y="3131820"/>
            <a:ext cx="1371600" cy="1371600"/>
          </a:xfrm>
          <a:prstGeom prst="ellipse">
            <a:avLst/>
          </a:prstGeom>
          <a:solidFill>
            <a:schemeClr val="tx2"/>
          </a:solidFill>
          <a:ln/>
        </p:spPr>
      </p:sp>
      <p:sp>
        <p:nvSpPr>
          <p:cNvPr id="26" name="Text 19"/>
          <p:cNvSpPr txBox="1"/>
          <p:nvPr/>
        </p:nvSpPr>
        <p:spPr>
          <a:xfrm>
            <a:off x="5408676" y="3337560"/>
            <a:ext cx="1371600" cy="548640"/>
          </a:xfrm>
          <a:prstGeom prst="rect">
            <a:avLst/>
          </a:prstGeom>
          <a:noFill/>
          <a:ln/>
        </p:spPr>
        <p:txBody>
          <a:bodyPr wrap="square" lIns="0" tIns="0" rIns="0" bIns="0" rtlCol="0" anchor="t"/>
          <a:lstStyle/>
          <a:p>
            <a:pPr algn="ctr" indent="0" marL="0">
              <a:buNone/>
            </a:pPr>
            <a:r>
              <a:rPr lang="en-US" sz="3200" b="1" dirty="0">
                <a:solidFill>
                  <a:schemeClr val="bg1"/>
                </a:solidFill>
              </a:rPr>
              <a:t>82%</a:t>
            </a:r>
            <a:endParaRPr lang="en-US" sz="3200" dirty="0"/>
          </a:p>
        </p:txBody>
      </p:sp>
      <p:sp>
        <p:nvSpPr>
          <p:cNvPr id="27" name="Text 20"/>
          <p:cNvSpPr txBox="1"/>
          <p:nvPr/>
        </p:nvSpPr>
        <p:spPr>
          <a:xfrm>
            <a:off x="5408676" y="3886200"/>
            <a:ext cx="1371600" cy="274320"/>
          </a:xfrm>
          <a:prstGeom prst="rect">
            <a:avLst/>
          </a:prstGeom>
          <a:noFill/>
          <a:ln/>
        </p:spPr>
        <p:txBody>
          <a:bodyPr wrap="square" lIns="0" tIns="0" rIns="0" bIns="0" rtlCol="0" anchor="t"/>
          <a:lstStyle/>
          <a:p>
            <a:pPr algn="ctr" indent="0" marL="0">
              <a:buNone/>
            </a:pPr>
            <a:r>
              <a:rPr lang="en-US" sz="1100" dirty="0">
                <a:solidFill>
                  <a:schemeClr val="accent3"/>
                </a:solidFill>
              </a:rPr>
              <a:t>hearsay-driven</a:t>
            </a:r>
            <a:endParaRPr lang="en-US" sz="1100" dirty="0"/>
          </a:p>
        </p:txBody>
      </p:sp>
      <p:sp>
        <p:nvSpPr>
          <p:cNvPr id="25" name="Slide Number Placeholder 0"/>
          <p:cNvSpPr>
            <a:spLocks noGrp="1"/>
          </p:cNvSpPr>
          <p:nvPr>
            <p:ph type="sldNum" sz="quarter" idx="4294967295"/>
          </p:nvPr>
        </p:nvSpPr>
        <p:spPr>
          <a:xfrm>
            <a:off x="10972800" y="642823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40080"/>
          </a:xfrm>
          <a:prstGeom prst="rect">
            <a:avLst/>
          </a:prstGeom>
          <a:noFill/>
          <a:ln/>
        </p:spPr>
        <p:txBody>
          <a:bodyPr wrap="square" lIns="0" tIns="0" rIns="0" bIns="0" rtlCol="0" anchor="ctr"/>
          <a:lstStyle/>
          <a:p>
            <a:pPr algn="l" indent="0" marL="0">
              <a:buNone/>
            </a:pPr>
            <a:r>
              <a:rPr lang="en-US" sz="3400" b="1" dirty="0">
                <a:solidFill>
                  <a:schemeClr val="tx2"/>
                </a:solidFill>
              </a:rPr>
              <a:t>Four Tiers, One Platform, Sub-Second Answers</a:t>
            </a:r>
            <a:endParaRPr lang="en-US" sz="3400" dirty="0"/>
          </a:p>
        </p:txBody>
      </p:sp>
      <p:sp>
        <p:nvSpPr>
          <p:cNvPr id="4" name="Text 1"/>
          <p:cNvSpPr txBox="1"/>
          <p:nvPr/>
        </p:nvSpPr>
        <p:spPr>
          <a:xfrm>
            <a:off x="548640" y="932688"/>
            <a:ext cx="11091672" cy="365760"/>
          </a:xfrm>
          <a:prstGeom prst="rect">
            <a:avLst/>
          </a:prstGeom>
          <a:noFill/>
          <a:ln/>
        </p:spPr>
        <p:txBody>
          <a:bodyPr wrap="square" lIns="0" tIns="0" rIns="0" bIns="0" rtlCol="0" anchor="t"/>
          <a:lstStyle/>
          <a:p>
            <a:pPr indent="0" marL="0">
              <a:buNone/>
            </a:pPr>
            <a:r>
              <a:rPr lang="en-US" sz="1600" i="1" dirty="0">
                <a:solidFill>
                  <a:schemeClr val="accent6"/>
                </a:solidFill>
              </a:rPr>
              <a:t>Each tier solves a specific failure mode and can be tested, swapped and observed independently</a:t>
            </a:r>
            <a:endParaRPr lang="en-US" sz="1600" dirty="0"/>
          </a:p>
        </p:txBody>
      </p:sp>
      <p:sp>
        <p:nvSpPr>
          <p:cNvPr id="5" name="tier-band-1"/>
          <p:cNvSpPr/>
          <p:nvPr/>
        </p:nvSpPr>
        <p:spPr>
          <a:xfrm>
            <a:off x="548640" y="1508760"/>
            <a:ext cx="11091672" cy="1005840"/>
          </a:xfrm>
          <a:prstGeom prst="roundRect">
            <a:avLst>
              <a:gd name="adj" fmla="val 9091"/>
            </a:avLst>
          </a:prstGeom>
          <a:solidFill>
            <a:schemeClr val="tx2"/>
          </a:solidFill>
          <a:ln/>
        </p:spPr>
      </p:sp>
      <p:sp>
        <p:nvSpPr>
          <p:cNvPr id="6" name="Text 3"/>
          <p:cNvSpPr txBox="1"/>
          <p:nvPr/>
        </p:nvSpPr>
        <p:spPr>
          <a:xfrm>
            <a:off x="777240" y="1709928"/>
            <a:ext cx="2286000" cy="640080"/>
          </a:xfrm>
          <a:prstGeom prst="rect">
            <a:avLst/>
          </a:prstGeom>
          <a:noFill/>
          <a:ln/>
        </p:spPr>
        <p:txBody>
          <a:bodyPr wrap="square" lIns="0" tIns="0" rIns="0" bIns="0" rtlCol="0" anchor="ctr"/>
          <a:lstStyle/>
          <a:p>
            <a:pPr indent="0" marL="0">
              <a:buNone/>
            </a:pPr>
            <a:r>
              <a:rPr lang="en-US" sz="1700" b="1" dirty="0">
                <a:solidFill>
                  <a:schemeClr val="bg1"/>
                </a:solidFill>
              </a:rPr>
              <a:t>1  Presentation</a:t>
            </a:r>
            <a:endParaRPr lang="en-US" sz="1400" dirty="0"/>
          </a:p>
          <a:p>
            <a:pPr indent="0" marL="0">
              <a:buNone/>
            </a:pPr>
            <a:r>
              <a:rPr lang="en-US" sz="1200" dirty="0">
                <a:solidFill>
                  <a:schemeClr val="bg1"/>
                </a:solidFill>
              </a:rPr>
              <a:t>Streamlit · Zero-JS tables</a:t>
            </a:r>
            <a:endParaRPr lang="en-US" sz="1400" dirty="0"/>
          </a:p>
        </p:txBody>
      </p:sp>
      <p:sp>
        <p:nvSpPr>
          <p:cNvPr id="7" name="tile-1-1"/>
          <p:cNvSpPr/>
          <p:nvPr/>
        </p:nvSpPr>
        <p:spPr>
          <a:xfrm>
            <a:off x="3108960" y="1691640"/>
            <a:ext cx="1295400" cy="640080"/>
          </a:xfrm>
          <a:prstGeom prst="roundRect">
            <a:avLst>
              <a:gd name="adj" fmla="val 11429"/>
            </a:avLst>
          </a:prstGeom>
          <a:solidFill>
            <a:schemeClr val="bg1">
              <a:alpha val="15000"/>
            </a:schemeClr>
          </a:solidFill>
          <a:ln/>
        </p:spPr>
      </p:sp>
      <p:sp>
        <p:nvSpPr>
          <p:cNvPr id="8" name="Text 5"/>
          <p:cNvSpPr txBox="1"/>
          <p:nvPr/>
        </p:nvSpPr>
        <p:spPr>
          <a:xfrm>
            <a:off x="3182112" y="1691640"/>
            <a:ext cx="1149096" cy="640080"/>
          </a:xfrm>
          <a:prstGeom prst="rect">
            <a:avLst/>
          </a:prstGeom>
          <a:noFill/>
          <a:ln/>
        </p:spPr>
        <p:txBody>
          <a:bodyPr wrap="square" lIns="0" tIns="0" rIns="0" bIns="0" rtlCol="0" anchor="ctr"/>
          <a:lstStyle/>
          <a:p>
            <a:pPr algn="ctr" indent="0" marL="0">
              <a:buNone/>
            </a:pPr>
            <a:r>
              <a:rPr lang="en-US" sz="1300" b="1" dirty="0">
                <a:solidFill>
                  <a:schemeClr val="bg1"/>
                </a:solidFill>
              </a:rPr>
              <a:t>Crop Recommender</a:t>
            </a:r>
            <a:endParaRPr lang="en-US" sz="1300" dirty="0"/>
          </a:p>
        </p:txBody>
      </p:sp>
      <p:sp>
        <p:nvSpPr>
          <p:cNvPr id="9" name="tile-1-2"/>
          <p:cNvSpPr/>
          <p:nvPr/>
        </p:nvSpPr>
        <p:spPr>
          <a:xfrm>
            <a:off x="4514088" y="1691640"/>
            <a:ext cx="1295400" cy="640080"/>
          </a:xfrm>
          <a:prstGeom prst="roundRect">
            <a:avLst>
              <a:gd name="adj" fmla="val 11429"/>
            </a:avLst>
          </a:prstGeom>
          <a:solidFill>
            <a:schemeClr val="bg1">
              <a:alpha val="15000"/>
            </a:schemeClr>
          </a:solidFill>
          <a:ln/>
        </p:spPr>
      </p:sp>
      <p:sp>
        <p:nvSpPr>
          <p:cNvPr id="10" name="Text 7"/>
          <p:cNvSpPr txBox="1"/>
          <p:nvPr/>
        </p:nvSpPr>
        <p:spPr>
          <a:xfrm>
            <a:off x="4587240" y="1691640"/>
            <a:ext cx="1149096" cy="640080"/>
          </a:xfrm>
          <a:prstGeom prst="rect">
            <a:avLst/>
          </a:prstGeom>
          <a:noFill/>
          <a:ln/>
        </p:spPr>
        <p:txBody>
          <a:bodyPr wrap="square" lIns="0" tIns="0" rIns="0" bIns="0" rtlCol="0" anchor="ctr"/>
          <a:lstStyle/>
          <a:p>
            <a:pPr algn="ctr" indent="0" marL="0">
              <a:buNone/>
            </a:pPr>
            <a:r>
              <a:rPr lang="en-US" sz="1300" b="1" dirty="0">
                <a:solidFill>
                  <a:schemeClr val="bg1"/>
                </a:solidFill>
              </a:rPr>
              <a:t>Cropping Calendar</a:t>
            </a:r>
            <a:endParaRPr lang="en-US" sz="1300" dirty="0"/>
          </a:p>
        </p:txBody>
      </p:sp>
      <p:sp>
        <p:nvSpPr>
          <p:cNvPr id="11" name="tile-1-3"/>
          <p:cNvSpPr/>
          <p:nvPr/>
        </p:nvSpPr>
        <p:spPr>
          <a:xfrm>
            <a:off x="5919216" y="1691640"/>
            <a:ext cx="1295400" cy="640080"/>
          </a:xfrm>
          <a:prstGeom prst="roundRect">
            <a:avLst>
              <a:gd name="adj" fmla="val 11429"/>
            </a:avLst>
          </a:prstGeom>
          <a:solidFill>
            <a:schemeClr val="bg1">
              <a:alpha val="15000"/>
            </a:schemeClr>
          </a:solidFill>
          <a:ln/>
        </p:spPr>
      </p:sp>
      <p:sp>
        <p:nvSpPr>
          <p:cNvPr id="12" name="Text 9"/>
          <p:cNvSpPr txBox="1"/>
          <p:nvPr/>
        </p:nvSpPr>
        <p:spPr>
          <a:xfrm>
            <a:off x="5992368" y="1691640"/>
            <a:ext cx="1149096" cy="640080"/>
          </a:xfrm>
          <a:prstGeom prst="rect">
            <a:avLst/>
          </a:prstGeom>
          <a:noFill/>
          <a:ln/>
        </p:spPr>
        <p:txBody>
          <a:bodyPr wrap="square" lIns="0" tIns="0" rIns="0" bIns="0" rtlCol="0" anchor="ctr"/>
          <a:lstStyle/>
          <a:p>
            <a:pPr algn="ctr" indent="0" marL="0">
              <a:buNone/>
            </a:pPr>
            <a:r>
              <a:rPr lang="en-US" sz="1300" b="1" dirty="0">
                <a:solidFill>
                  <a:schemeClr val="bg1"/>
                </a:solidFill>
              </a:rPr>
              <a:t>Plant Doctor</a:t>
            </a:r>
            <a:endParaRPr lang="en-US" sz="1300" dirty="0"/>
          </a:p>
        </p:txBody>
      </p:sp>
      <p:sp>
        <p:nvSpPr>
          <p:cNvPr id="13" name="tile-1-4"/>
          <p:cNvSpPr/>
          <p:nvPr/>
        </p:nvSpPr>
        <p:spPr>
          <a:xfrm>
            <a:off x="7324344" y="1691640"/>
            <a:ext cx="1295400" cy="640080"/>
          </a:xfrm>
          <a:prstGeom prst="roundRect">
            <a:avLst>
              <a:gd name="adj" fmla="val 11429"/>
            </a:avLst>
          </a:prstGeom>
          <a:solidFill>
            <a:schemeClr val="bg1">
              <a:alpha val="15000"/>
            </a:schemeClr>
          </a:solidFill>
          <a:ln/>
        </p:spPr>
      </p:sp>
      <p:sp>
        <p:nvSpPr>
          <p:cNvPr id="14" name="Text 11"/>
          <p:cNvSpPr txBox="1"/>
          <p:nvPr/>
        </p:nvSpPr>
        <p:spPr>
          <a:xfrm>
            <a:off x="7397496" y="1691640"/>
            <a:ext cx="1149096" cy="640080"/>
          </a:xfrm>
          <a:prstGeom prst="rect">
            <a:avLst/>
          </a:prstGeom>
          <a:noFill/>
          <a:ln/>
        </p:spPr>
        <p:txBody>
          <a:bodyPr wrap="square" lIns="0" tIns="0" rIns="0" bIns="0" rtlCol="0" anchor="ctr"/>
          <a:lstStyle/>
          <a:p>
            <a:pPr algn="ctr" indent="0" marL="0">
              <a:buNone/>
            </a:pPr>
            <a:r>
              <a:rPr lang="en-US" sz="1300" b="1" dirty="0">
                <a:solidFill>
                  <a:schemeClr val="bg1"/>
                </a:solidFill>
              </a:rPr>
              <a:t>Farm Assistant</a:t>
            </a:r>
            <a:endParaRPr lang="en-US" sz="1300" dirty="0"/>
          </a:p>
        </p:txBody>
      </p:sp>
      <p:sp>
        <p:nvSpPr>
          <p:cNvPr id="15" name="tile-1-5"/>
          <p:cNvSpPr/>
          <p:nvPr/>
        </p:nvSpPr>
        <p:spPr>
          <a:xfrm>
            <a:off x="8729472" y="1691640"/>
            <a:ext cx="1295400" cy="640080"/>
          </a:xfrm>
          <a:prstGeom prst="roundRect">
            <a:avLst>
              <a:gd name="adj" fmla="val 11429"/>
            </a:avLst>
          </a:prstGeom>
          <a:solidFill>
            <a:schemeClr val="bg1">
              <a:alpha val="15000"/>
            </a:schemeClr>
          </a:solidFill>
          <a:ln/>
        </p:spPr>
      </p:sp>
      <p:sp>
        <p:nvSpPr>
          <p:cNvPr id="16" name="Text 13"/>
          <p:cNvSpPr txBox="1"/>
          <p:nvPr/>
        </p:nvSpPr>
        <p:spPr>
          <a:xfrm>
            <a:off x="8802624" y="1691640"/>
            <a:ext cx="1149096" cy="640080"/>
          </a:xfrm>
          <a:prstGeom prst="rect">
            <a:avLst/>
          </a:prstGeom>
          <a:noFill/>
          <a:ln/>
        </p:spPr>
        <p:txBody>
          <a:bodyPr wrap="square" lIns="0" tIns="0" rIns="0" bIns="0" rtlCol="0" anchor="ctr"/>
          <a:lstStyle/>
          <a:p>
            <a:pPr algn="ctr" indent="0" marL="0">
              <a:buNone/>
            </a:pPr>
            <a:r>
              <a:rPr lang="en-US" sz="1300" b="1" dirty="0">
                <a:solidFill>
                  <a:schemeClr val="bg1"/>
                </a:solidFill>
              </a:rPr>
              <a:t>PDF Dossier</a:t>
            </a:r>
            <a:endParaRPr lang="en-US" sz="1300" dirty="0"/>
          </a:p>
        </p:txBody>
      </p:sp>
      <p:sp>
        <p:nvSpPr>
          <p:cNvPr id="17" name="tile-1-6"/>
          <p:cNvSpPr/>
          <p:nvPr/>
        </p:nvSpPr>
        <p:spPr>
          <a:xfrm>
            <a:off x="10134600" y="1691640"/>
            <a:ext cx="1295400" cy="640080"/>
          </a:xfrm>
          <a:prstGeom prst="roundRect">
            <a:avLst>
              <a:gd name="adj" fmla="val 11429"/>
            </a:avLst>
          </a:prstGeom>
          <a:solidFill>
            <a:schemeClr val="bg1">
              <a:alpha val="15000"/>
            </a:schemeClr>
          </a:solidFill>
          <a:ln/>
        </p:spPr>
      </p:sp>
      <p:sp>
        <p:nvSpPr>
          <p:cNvPr id="18" name="Text 15"/>
          <p:cNvSpPr txBox="1"/>
          <p:nvPr/>
        </p:nvSpPr>
        <p:spPr>
          <a:xfrm>
            <a:off x="10207752" y="1691640"/>
            <a:ext cx="1149096" cy="640080"/>
          </a:xfrm>
          <a:prstGeom prst="rect">
            <a:avLst/>
          </a:prstGeom>
          <a:noFill/>
          <a:ln/>
        </p:spPr>
        <p:txBody>
          <a:bodyPr wrap="square" lIns="0" tIns="0" rIns="0" bIns="0" rtlCol="0" anchor="ctr"/>
          <a:lstStyle/>
          <a:p>
            <a:pPr algn="ctr" indent="0" marL="0">
              <a:buNone/>
            </a:pPr>
            <a:r>
              <a:rPr lang="en-US" sz="1300" b="1" dirty="0">
                <a:solidFill>
                  <a:schemeClr val="bg1"/>
                </a:solidFill>
              </a:rPr>
              <a:t>Observability Hub</a:t>
            </a:r>
            <a:endParaRPr lang="en-US" sz="1300" dirty="0"/>
          </a:p>
        </p:txBody>
      </p:sp>
      <p:sp>
        <p:nvSpPr>
          <p:cNvPr id="19" name="tier-band-2"/>
          <p:cNvSpPr/>
          <p:nvPr/>
        </p:nvSpPr>
        <p:spPr>
          <a:xfrm>
            <a:off x="548640" y="2697480"/>
            <a:ext cx="11091672" cy="1005840"/>
          </a:xfrm>
          <a:prstGeom prst="roundRect">
            <a:avLst>
              <a:gd name="adj" fmla="val 9091"/>
            </a:avLst>
          </a:prstGeom>
          <a:solidFill>
            <a:schemeClr val="accent1"/>
          </a:solidFill>
          <a:ln/>
        </p:spPr>
      </p:sp>
      <p:sp>
        <p:nvSpPr>
          <p:cNvPr id="20" name="Text 17"/>
          <p:cNvSpPr txBox="1"/>
          <p:nvPr/>
        </p:nvSpPr>
        <p:spPr>
          <a:xfrm>
            <a:off x="777240" y="2898648"/>
            <a:ext cx="2286000" cy="640080"/>
          </a:xfrm>
          <a:prstGeom prst="rect">
            <a:avLst/>
          </a:prstGeom>
          <a:noFill/>
          <a:ln/>
        </p:spPr>
        <p:txBody>
          <a:bodyPr wrap="square" lIns="0" tIns="0" rIns="0" bIns="0" rtlCol="0" anchor="ctr"/>
          <a:lstStyle/>
          <a:p>
            <a:pPr indent="0" marL="0">
              <a:buNone/>
            </a:pPr>
            <a:r>
              <a:rPr lang="en-US" sz="1700" b="1" dirty="0">
                <a:solidFill>
                  <a:schemeClr val="bg1"/>
                </a:solidFill>
              </a:rPr>
              <a:t>2  API Gateway</a:t>
            </a:r>
            <a:endParaRPr lang="en-US" sz="1400" dirty="0"/>
          </a:p>
          <a:p>
            <a:pPr indent="0" marL="0">
              <a:buNone/>
            </a:pPr>
            <a:r>
              <a:rPr lang="en-US" sz="1200" dirty="0">
                <a:solidFill>
                  <a:schemeClr val="bg1"/>
                </a:solidFill>
              </a:rPr>
              <a:t>FastAPI · cached singletons</a:t>
            </a:r>
            <a:endParaRPr lang="en-US" sz="1400" dirty="0"/>
          </a:p>
        </p:txBody>
      </p:sp>
      <p:sp>
        <p:nvSpPr>
          <p:cNvPr id="21" name="tile-2-1"/>
          <p:cNvSpPr/>
          <p:nvPr/>
        </p:nvSpPr>
        <p:spPr>
          <a:xfrm>
            <a:off x="3108960" y="2880360"/>
            <a:ext cx="2700528" cy="640080"/>
          </a:xfrm>
          <a:prstGeom prst="roundRect">
            <a:avLst>
              <a:gd name="adj" fmla="val 11429"/>
            </a:avLst>
          </a:prstGeom>
          <a:solidFill>
            <a:schemeClr val="bg1">
              <a:alpha val="15000"/>
            </a:schemeClr>
          </a:solidFill>
          <a:ln/>
        </p:spPr>
      </p:sp>
      <p:sp>
        <p:nvSpPr>
          <p:cNvPr id="22" name="Text 19"/>
          <p:cNvSpPr txBox="1"/>
          <p:nvPr/>
        </p:nvSpPr>
        <p:spPr>
          <a:xfrm>
            <a:off x="3182112" y="2880360"/>
            <a:ext cx="2554224" cy="640080"/>
          </a:xfrm>
          <a:prstGeom prst="rect">
            <a:avLst/>
          </a:prstGeom>
          <a:noFill/>
          <a:ln/>
        </p:spPr>
        <p:txBody>
          <a:bodyPr wrap="square" lIns="0" tIns="0" rIns="0" bIns="0" rtlCol="0" anchor="ctr"/>
          <a:lstStyle/>
          <a:p>
            <a:pPr algn="ctr" indent="0" marL="0">
              <a:buNone/>
            </a:pPr>
            <a:r>
              <a:rPr lang="en-US" sz="1300" b="1" dirty="0">
                <a:solidFill>
                  <a:schemeClr val="bg1"/>
                </a:solidFill>
              </a:rPr>
              <a:t>Request validation and routing</a:t>
            </a:r>
            <a:endParaRPr lang="en-US" sz="1300" dirty="0"/>
          </a:p>
        </p:txBody>
      </p:sp>
      <p:sp>
        <p:nvSpPr>
          <p:cNvPr id="23" name="tile-2-2"/>
          <p:cNvSpPr/>
          <p:nvPr/>
        </p:nvSpPr>
        <p:spPr>
          <a:xfrm>
            <a:off x="5919216" y="2880360"/>
            <a:ext cx="2700528" cy="640080"/>
          </a:xfrm>
          <a:prstGeom prst="roundRect">
            <a:avLst>
              <a:gd name="adj" fmla="val 11429"/>
            </a:avLst>
          </a:prstGeom>
          <a:solidFill>
            <a:schemeClr val="bg1">
              <a:alpha val="15000"/>
            </a:schemeClr>
          </a:solidFill>
          <a:ln/>
        </p:spPr>
      </p:sp>
      <p:sp>
        <p:nvSpPr>
          <p:cNvPr id="24" name="Text 21"/>
          <p:cNvSpPr txBox="1"/>
          <p:nvPr/>
        </p:nvSpPr>
        <p:spPr>
          <a:xfrm>
            <a:off x="5992368" y="2880360"/>
            <a:ext cx="2554224" cy="640080"/>
          </a:xfrm>
          <a:prstGeom prst="rect">
            <a:avLst/>
          </a:prstGeom>
          <a:noFill/>
          <a:ln/>
        </p:spPr>
        <p:txBody>
          <a:bodyPr wrap="square" lIns="0" tIns="0" rIns="0" bIns="0" rtlCol="0" anchor="ctr"/>
          <a:lstStyle/>
          <a:p>
            <a:pPr algn="ctr" indent="0" marL="0">
              <a:buNone/>
            </a:pPr>
            <a:r>
              <a:rPr lang="en-US" sz="1300" b="1" dirty="0">
                <a:solidFill>
                  <a:schemeClr val="bg1"/>
                </a:solidFill>
              </a:rPr>
              <a:t>Models and indexes loaded once in memory</a:t>
            </a:r>
            <a:endParaRPr lang="en-US" sz="1300" dirty="0"/>
          </a:p>
        </p:txBody>
      </p:sp>
      <p:sp>
        <p:nvSpPr>
          <p:cNvPr id="25" name="tile-2-3"/>
          <p:cNvSpPr/>
          <p:nvPr/>
        </p:nvSpPr>
        <p:spPr>
          <a:xfrm>
            <a:off x="8729472" y="2880360"/>
            <a:ext cx="2700528" cy="640080"/>
          </a:xfrm>
          <a:prstGeom prst="roundRect">
            <a:avLst>
              <a:gd name="adj" fmla="val 11429"/>
            </a:avLst>
          </a:prstGeom>
          <a:solidFill>
            <a:schemeClr val="bg1">
              <a:alpha val="15000"/>
            </a:schemeClr>
          </a:solidFill>
          <a:ln/>
        </p:spPr>
      </p:sp>
      <p:sp>
        <p:nvSpPr>
          <p:cNvPr id="26" name="Text 23"/>
          <p:cNvSpPr txBox="1"/>
          <p:nvPr/>
        </p:nvSpPr>
        <p:spPr>
          <a:xfrm>
            <a:off x="8802624" y="2880360"/>
            <a:ext cx="2554224" cy="640080"/>
          </a:xfrm>
          <a:prstGeom prst="rect">
            <a:avLst/>
          </a:prstGeom>
          <a:noFill/>
          <a:ln/>
        </p:spPr>
        <p:txBody>
          <a:bodyPr wrap="square" lIns="0" tIns="0" rIns="0" bIns="0" rtlCol="0" anchor="ctr"/>
          <a:lstStyle/>
          <a:p>
            <a:pPr algn="ctr" indent="0" marL="0">
              <a:buNone/>
            </a:pPr>
            <a:r>
              <a:rPr lang="en-US" sz="1300" b="1" dirty="0">
                <a:solidFill>
                  <a:schemeClr val="bg1"/>
                </a:solidFill>
              </a:rPr>
              <a:t>Sub-second inference</a:t>
            </a:r>
            <a:endParaRPr lang="en-US" sz="1300" dirty="0"/>
          </a:p>
        </p:txBody>
      </p:sp>
      <p:sp>
        <p:nvSpPr>
          <p:cNvPr id="27" name="tier-band-3"/>
          <p:cNvSpPr/>
          <p:nvPr/>
        </p:nvSpPr>
        <p:spPr>
          <a:xfrm>
            <a:off x="548640" y="3886200"/>
            <a:ext cx="11091672" cy="1005840"/>
          </a:xfrm>
          <a:prstGeom prst="roundRect">
            <a:avLst>
              <a:gd name="adj" fmla="val 9091"/>
            </a:avLst>
          </a:prstGeom>
          <a:solidFill>
            <a:schemeClr val="accent3"/>
          </a:solidFill>
          <a:ln/>
        </p:spPr>
      </p:sp>
      <p:sp>
        <p:nvSpPr>
          <p:cNvPr id="28" name="Text 25"/>
          <p:cNvSpPr txBox="1"/>
          <p:nvPr/>
        </p:nvSpPr>
        <p:spPr>
          <a:xfrm>
            <a:off x="777240" y="4087368"/>
            <a:ext cx="2286000" cy="640080"/>
          </a:xfrm>
          <a:prstGeom prst="rect">
            <a:avLst/>
          </a:prstGeom>
          <a:noFill/>
          <a:ln/>
        </p:spPr>
        <p:txBody>
          <a:bodyPr wrap="square" lIns="0" tIns="0" rIns="0" bIns="0" rtlCol="0" anchor="ctr"/>
          <a:lstStyle/>
          <a:p>
            <a:pPr indent="0" marL="0">
              <a:buNone/>
            </a:pPr>
            <a:r>
              <a:rPr lang="en-US" sz="1700" b="1" dirty="0">
                <a:solidFill>
                  <a:schemeClr val="tx2"/>
                </a:solidFill>
              </a:rPr>
              <a:t>3  Core AI Engines</a:t>
            </a:r>
            <a:endParaRPr lang="en-US" sz="1400" dirty="0"/>
          </a:p>
          <a:p>
            <a:pPr indent="0" marL="0">
              <a:buNone/>
            </a:pPr>
            <a:r>
              <a:rPr lang="en-US" sz="1200" dirty="0">
                <a:solidFill>
                  <a:schemeClr val="tx2"/>
                </a:solidFill>
              </a:rPr>
              <a:t>ML · Vision · RAG · SQL</a:t>
            </a:r>
            <a:endParaRPr lang="en-US" sz="1400" dirty="0"/>
          </a:p>
        </p:txBody>
      </p:sp>
      <p:sp>
        <p:nvSpPr>
          <p:cNvPr id="29" name="tile-3-1"/>
          <p:cNvSpPr/>
          <p:nvPr/>
        </p:nvSpPr>
        <p:spPr>
          <a:xfrm>
            <a:off x="3108960" y="4069080"/>
            <a:ext cx="1997964" cy="640080"/>
          </a:xfrm>
          <a:prstGeom prst="roundRect">
            <a:avLst>
              <a:gd name="adj" fmla="val 11429"/>
            </a:avLst>
          </a:prstGeom>
          <a:solidFill>
            <a:schemeClr val="bg1"/>
          </a:solidFill>
          <a:ln/>
        </p:spPr>
      </p:sp>
      <p:sp>
        <p:nvSpPr>
          <p:cNvPr id="30" name="Text 27"/>
          <p:cNvSpPr txBox="1"/>
          <p:nvPr/>
        </p:nvSpPr>
        <p:spPr>
          <a:xfrm>
            <a:off x="3182112" y="4069080"/>
            <a:ext cx="1851660" cy="640080"/>
          </a:xfrm>
          <a:prstGeom prst="rect">
            <a:avLst/>
          </a:prstGeom>
          <a:noFill/>
          <a:ln/>
        </p:spPr>
        <p:txBody>
          <a:bodyPr wrap="square" lIns="0" tIns="0" rIns="0" bIns="0" rtlCol="0" anchor="ctr"/>
          <a:lstStyle/>
          <a:p>
            <a:pPr algn="ctr" indent="0" marL="0">
              <a:buNone/>
            </a:pPr>
            <a:r>
              <a:rPr lang="en-US" sz="1300" b="1" dirty="0">
                <a:solidFill>
                  <a:schemeClr val="tx2"/>
                </a:solidFill>
              </a:rPr>
              <a:t>ExtraTrees + SHAP</a:t>
            </a:r>
            <a:endParaRPr lang="en-US" sz="1300" dirty="0"/>
          </a:p>
        </p:txBody>
      </p:sp>
      <p:sp>
        <p:nvSpPr>
          <p:cNvPr id="31" name="tile-3-2"/>
          <p:cNvSpPr/>
          <p:nvPr/>
        </p:nvSpPr>
        <p:spPr>
          <a:xfrm>
            <a:off x="5216652" y="4069080"/>
            <a:ext cx="1997964" cy="640080"/>
          </a:xfrm>
          <a:prstGeom prst="roundRect">
            <a:avLst>
              <a:gd name="adj" fmla="val 11429"/>
            </a:avLst>
          </a:prstGeom>
          <a:solidFill>
            <a:schemeClr val="bg1"/>
          </a:solidFill>
          <a:ln/>
        </p:spPr>
      </p:sp>
      <p:sp>
        <p:nvSpPr>
          <p:cNvPr id="32" name="Text 29"/>
          <p:cNvSpPr txBox="1"/>
          <p:nvPr/>
        </p:nvSpPr>
        <p:spPr>
          <a:xfrm>
            <a:off x="5289804" y="4069080"/>
            <a:ext cx="1851660" cy="640080"/>
          </a:xfrm>
          <a:prstGeom prst="rect">
            <a:avLst/>
          </a:prstGeom>
          <a:noFill/>
          <a:ln/>
        </p:spPr>
        <p:txBody>
          <a:bodyPr wrap="square" lIns="0" tIns="0" rIns="0" bIns="0" rtlCol="0" anchor="ctr"/>
          <a:lstStyle/>
          <a:p>
            <a:pPr algn="ctr" indent="0" marL="0">
              <a:buNone/>
            </a:pPr>
            <a:r>
              <a:rPr lang="en-US" sz="1300" b="1" dirty="0">
                <a:solidFill>
                  <a:schemeClr val="tx2"/>
                </a:solidFill>
              </a:rPr>
              <a:t>MobileNetV2 / ResNet50</a:t>
            </a:r>
            <a:endParaRPr lang="en-US" sz="1300" dirty="0"/>
          </a:p>
        </p:txBody>
      </p:sp>
      <p:sp>
        <p:nvSpPr>
          <p:cNvPr id="33" name="tile-3-3"/>
          <p:cNvSpPr/>
          <p:nvPr/>
        </p:nvSpPr>
        <p:spPr>
          <a:xfrm>
            <a:off x="7324344" y="4069080"/>
            <a:ext cx="1997964" cy="640080"/>
          </a:xfrm>
          <a:prstGeom prst="roundRect">
            <a:avLst>
              <a:gd name="adj" fmla="val 11429"/>
            </a:avLst>
          </a:prstGeom>
          <a:solidFill>
            <a:schemeClr val="bg1"/>
          </a:solidFill>
          <a:ln/>
        </p:spPr>
      </p:sp>
      <p:sp>
        <p:nvSpPr>
          <p:cNvPr id="34" name="Text 31"/>
          <p:cNvSpPr txBox="1"/>
          <p:nvPr/>
        </p:nvSpPr>
        <p:spPr>
          <a:xfrm>
            <a:off x="7397496" y="4069080"/>
            <a:ext cx="1851660" cy="640080"/>
          </a:xfrm>
          <a:prstGeom prst="rect">
            <a:avLst/>
          </a:prstGeom>
          <a:noFill/>
          <a:ln/>
        </p:spPr>
        <p:txBody>
          <a:bodyPr wrap="square" lIns="0" tIns="0" rIns="0" bIns="0" rtlCol="0" anchor="ctr"/>
          <a:lstStyle/>
          <a:p>
            <a:pPr algn="ctr" indent="0" marL="0">
              <a:buNone/>
            </a:pPr>
            <a:r>
              <a:rPr lang="en-US" sz="1300" b="1" dirty="0">
                <a:solidFill>
                  <a:schemeClr val="tx2"/>
                </a:solidFill>
              </a:rPr>
              <a:t>ChromaDB + BM25 + RRF</a:t>
            </a:r>
            <a:endParaRPr lang="en-US" sz="1300" dirty="0"/>
          </a:p>
        </p:txBody>
      </p:sp>
      <p:sp>
        <p:nvSpPr>
          <p:cNvPr id="35" name="tile-3-4"/>
          <p:cNvSpPr/>
          <p:nvPr/>
        </p:nvSpPr>
        <p:spPr>
          <a:xfrm>
            <a:off x="9432036" y="4069080"/>
            <a:ext cx="1997964" cy="640080"/>
          </a:xfrm>
          <a:prstGeom prst="roundRect">
            <a:avLst>
              <a:gd name="adj" fmla="val 11429"/>
            </a:avLst>
          </a:prstGeom>
          <a:solidFill>
            <a:schemeClr val="bg1"/>
          </a:solidFill>
          <a:ln/>
        </p:spPr>
      </p:sp>
      <p:sp>
        <p:nvSpPr>
          <p:cNvPr id="36" name="Text 33"/>
          <p:cNvSpPr txBox="1"/>
          <p:nvPr/>
        </p:nvSpPr>
        <p:spPr>
          <a:xfrm>
            <a:off x="9505188" y="4069080"/>
            <a:ext cx="1851660" cy="640080"/>
          </a:xfrm>
          <a:prstGeom prst="rect">
            <a:avLst/>
          </a:prstGeom>
          <a:noFill/>
          <a:ln/>
        </p:spPr>
        <p:txBody>
          <a:bodyPr wrap="square" lIns="0" tIns="0" rIns="0" bIns="0" rtlCol="0" anchor="ctr"/>
          <a:lstStyle/>
          <a:p>
            <a:pPr algn="ctr" indent="0" marL="0">
              <a:buNone/>
            </a:pPr>
            <a:r>
              <a:rPr lang="en-US" sz="1300" b="1" dirty="0">
                <a:solidFill>
                  <a:schemeClr val="tx2"/>
                </a:solidFill>
              </a:rPr>
              <a:t>AST-guarded SQL agent</a:t>
            </a:r>
            <a:endParaRPr lang="en-US" sz="1300" dirty="0"/>
          </a:p>
        </p:txBody>
      </p:sp>
      <p:sp>
        <p:nvSpPr>
          <p:cNvPr id="37" name="tier-band-4"/>
          <p:cNvSpPr/>
          <p:nvPr/>
        </p:nvSpPr>
        <p:spPr>
          <a:xfrm>
            <a:off x="548640" y="5074920"/>
            <a:ext cx="11091672" cy="1005840"/>
          </a:xfrm>
          <a:prstGeom prst="roundRect">
            <a:avLst>
              <a:gd name="adj" fmla="val 9091"/>
            </a:avLst>
          </a:prstGeom>
          <a:solidFill>
            <a:schemeClr val="tx1"/>
          </a:solidFill>
          <a:ln/>
        </p:spPr>
      </p:sp>
      <p:sp>
        <p:nvSpPr>
          <p:cNvPr id="38" name="Text 35"/>
          <p:cNvSpPr txBox="1"/>
          <p:nvPr/>
        </p:nvSpPr>
        <p:spPr>
          <a:xfrm>
            <a:off x="777240" y="5276088"/>
            <a:ext cx="2286000" cy="640080"/>
          </a:xfrm>
          <a:prstGeom prst="rect">
            <a:avLst/>
          </a:prstGeom>
          <a:noFill/>
          <a:ln/>
        </p:spPr>
        <p:txBody>
          <a:bodyPr wrap="square" lIns="0" tIns="0" rIns="0" bIns="0" rtlCol="0" anchor="ctr"/>
          <a:lstStyle/>
          <a:p>
            <a:pPr indent="0" marL="0">
              <a:buNone/>
            </a:pPr>
            <a:r>
              <a:rPr lang="en-US" sz="1700" b="1" dirty="0">
                <a:solidFill>
                  <a:schemeClr val="bg1"/>
                </a:solidFill>
              </a:rPr>
              <a:t>4  Storage &amp; Evaluation</a:t>
            </a:r>
            <a:endParaRPr lang="en-US" sz="1400" dirty="0"/>
          </a:p>
          <a:p>
            <a:pPr indent="0" marL="0">
              <a:buNone/>
            </a:pPr>
            <a:r>
              <a:rPr lang="en-US" sz="1200" dirty="0">
                <a:solidFill>
                  <a:schemeClr val="bg1"/>
                </a:solidFill>
              </a:rPr>
              <a:t>Data, vectors, quality gates</a:t>
            </a:r>
            <a:endParaRPr lang="en-US" sz="1400" dirty="0"/>
          </a:p>
        </p:txBody>
      </p:sp>
      <p:sp>
        <p:nvSpPr>
          <p:cNvPr id="39" name="tile-4-1"/>
          <p:cNvSpPr/>
          <p:nvPr/>
        </p:nvSpPr>
        <p:spPr>
          <a:xfrm>
            <a:off x="3108960" y="5257800"/>
            <a:ext cx="1997964" cy="640080"/>
          </a:xfrm>
          <a:prstGeom prst="roundRect">
            <a:avLst>
              <a:gd name="adj" fmla="val 11429"/>
            </a:avLst>
          </a:prstGeom>
          <a:solidFill>
            <a:schemeClr val="bg1">
              <a:alpha val="15000"/>
            </a:schemeClr>
          </a:solidFill>
          <a:ln/>
        </p:spPr>
      </p:sp>
      <p:sp>
        <p:nvSpPr>
          <p:cNvPr id="40" name="Text 37"/>
          <p:cNvSpPr txBox="1"/>
          <p:nvPr/>
        </p:nvSpPr>
        <p:spPr>
          <a:xfrm>
            <a:off x="3182112" y="5257800"/>
            <a:ext cx="1851660" cy="640080"/>
          </a:xfrm>
          <a:prstGeom prst="rect">
            <a:avLst/>
          </a:prstGeom>
          <a:noFill/>
          <a:ln/>
        </p:spPr>
        <p:txBody>
          <a:bodyPr wrap="square" lIns="0" tIns="0" rIns="0" bIns="0" rtlCol="0" anchor="ctr"/>
          <a:lstStyle/>
          <a:p>
            <a:pPr algn="ctr" indent="0" marL="0">
              <a:buNone/>
            </a:pPr>
            <a:r>
              <a:rPr lang="en-US" sz="1300" b="1" dirty="0">
                <a:solidFill>
                  <a:schemeClr val="bg1"/>
                </a:solidFill>
              </a:rPr>
              <a:t>farmer_profile.db</a:t>
            </a:r>
            <a:endParaRPr lang="en-US" sz="1300" dirty="0"/>
          </a:p>
        </p:txBody>
      </p:sp>
      <p:sp>
        <p:nvSpPr>
          <p:cNvPr id="41" name="tile-4-2"/>
          <p:cNvSpPr/>
          <p:nvPr/>
        </p:nvSpPr>
        <p:spPr>
          <a:xfrm>
            <a:off x="5216652" y="5257800"/>
            <a:ext cx="1997964" cy="640080"/>
          </a:xfrm>
          <a:prstGeom prst="roundRect">
            <a:avLst>
              <a:gd name="adj" fmla="val 11429"/>
            </a:avLst>
          </a:prstGeom>
          <a:solidFill>
            <a:schemeClr val="bg1">
              <a:alpha val="15000"/>
            </a:schemeClr>
          </a:solidFill>
          <a:ln/>
        </p:spPr>
      </p:sp>
      <p:sp>
        <p:nvSpPr>
          <p:cNvPr id="42" name="Text 39"/>
          <p:cNvSpPr txBox="1"/>
          <p:nvPr/>
        </p:nvSpPr>
        <p:spPr>
          <a:xfrm>
            <a:off x="5289804" y="5257800"/>
            <a:ext cx="1851660" cy="640080"/>
          </a:xfrm>
          <a:prstGeom prst="rect">
            <a:avLst/>
          </a:prstGeom>
          <a:noFill/>
          <a:ln/>
        </p:spPr>
        <p:txBody>
          <a:bodyPr wrap="square" lIns="0" tIns="0" rIns="0" bIns="0" rtlCol="0" anchor="ctr"/>
          <a:lstStyle/>
          <a:p>
            <a:pPr algn="ctr" indent="0" marL="0">
              <a:buNone/>
            </a:pPr>
            <a:r>
              <a:rPr lang="en-US" sz="1300" b="1" dirty="0">
                <a:solidFill>
                  <a:schemeClr val="bg1"/>
                </a:solidFill>
              </a:rPr>
              <a:t>ChromaDB vectorstore</a:t>
            </a:r>
            <a:endParaRPr lang="en-US" sz="1300" dirty="0"/>
          </a:p>
        </p:txBody>
      </p:sp>
      <p:sp>
        <p:nvSpPr>
          <p:cNvPr id="43" name="tile-4-3"/>
          <p:cNvSpPr/>
          <p:nvPr/>
        </p:nvSpPr>
        <p:spPr>
          <a:xfrm>
            <a:off x="7324344" y="5257800"/>
            <a:ext cx="1997964" cy="640080"/>
          </a:xfrm>
          <a:prstGeom prst="roundRect">
            <a:avLst>
              <a:gd name="adj" fmla="val 11429"/>
            </a:avLst>
          </a:prstGeom>
          <a:solidFill>
            <a:schemeClr val="bg1">
              <a:alpha val="15000"/>
            </a:schemeClr>
          </a:solidFill>
          <a:ln/>
        </p:spPr>
      </p:sp>
      <p:sp>
        <p:nvSpPr>
          <p:cNvPr id="44" name="Text 41"/>
          <p:cNvSpPr txBox="1"/>
          <p:nvPr/>
        </p:nvSpPr>
        <p:spPr>
          <a:xfrm>
            <a:off x="7397496" y="5257800"/>
            <a:ext cx="1851660" cy="640080"/>
          </a:xfrm>
          <a:prstGeom prst="rect">
            <a:avLst/>
          </a:prstGeom>
          <a:noFill/>
          <a:ln/>
        </p:spPr>
        <p:txBody>
          <a:bodyPr wrap="square" lIns="0" tIns="0" rIns="0" bIns="0" rtlCol="0" anchor="ctr"/>
          <a:lstStyle/>
          <a:p>
            <a:pPr algn="ctr" indent="0" marL="0">
              <a:buNone/>
            </a:pPr>
            <a:r>
              <a:rPr lang="en-US" sz="1300" b="1" dirty="0">
                <a:solidFill>
                  <a:schemeClr val="bg1"/>
                </a:solidFill>
              </a:rPr>
              <a:t>Model artifacts</a:t>
            </a:r>
            <a:endParaRPr lang="en-US" sz="1300" dirty="0"/>
          </a:p>
        </p:txBody>
      </p:sp>
      <p:sp>
        <p:nvSpPr>
          <p:cNvPr id="45" name="tile-4-4"/>
          <p:cNvSpPr/>
          <p:nvPr/>
        </p:nvSpPr>
        <p:spPr>
          <a:xfrm>
            <a:off x="9432036" y="5257800"/>
            <a:ext cx="1997964" cy="640080"/>
          </a:xfrm>
          <a:prstGeom prst="roundRect">
            <a:avLst>
              <a:gd name="adj" fmla="val 11429"/>
            </a:avLst>
          </a:prstGeom>
          <a:solidFill>
            <a:schemeClr val="bg1">
              <a:alpha val="15000"/>
            </a:schemeClr>
          </a:solidFill>
          <a:ln/>
        </p:spPr>
      </p:sp>
      <p:sp>
        <p:nvSpPr>
          <p:cNvPr id="46" name="Text 43"/>
          <p:cNvSpPr txBox="1"/>
          <p:nvPr/>
        </p:nvSpPr>
        <p:spPr>
          <a:xfrm>
            <a:off x="9505188" y="5257800"/>
            <a:ext cx="1851660" cy="640080"/>
          </a:xfrm>
          <a:prstGeom prst="rect">
            <a:avLst/>
          </a:prstGeom>
          <a:noFill/>
          <a:ln/>
        </p:spPr>
        <p:txBody>
          <a:bodyPr wrap="square" lIns="0" tIns="0" rIns="0" bIns="0" rtlCol="0" anchor="ctr"/>
          <a:lstStyle/>
          <a:p>
            <a:pPr algn="ctr" indent="0" marL="0">
              <a:buNone/>
            </a:pPr>
            <a:r>
              <a:rPr lang="en-US" sz="1300" b="1" dirty="0">
                <a:solidFill>
                  <a:schemeClr val="bg1"/>
                </a:solidFill>
              </a:rPr>
              <a:t>DeepEval / Ragas suite</a:t>
            </a:r>
            <a:endParaRPr lang="en-US" sz="1300" dirty="0"/>
          </a:p>
        </p:txBody>
      </p:sp>
      <p:sp>
        <p:nvSpPr>
          <p:cNvPr id="25" name="Slide Number Placeholder 0"/>
          <p:cNvSpPr>
            <a:spLocks noGrp="1"/>
          </p:cNvSpPr>
          <p:nvPr>
            <p:ph type="sldNum" sz="quarter" idx="4294967295"/>
          </p:nvPr>
        </p:nvSpPr>
        <p:spPr>
          <a:xfrm>
            <a:off x="10972800" y="642823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40080"/>
          </a:xfrm>
          <a:prstGeom prst="rect">
            <a:avLst/>
          </a:prstGeom>
          <a:noFill/>
          <a:ln/>
        </p:spPr>
        <p:txBody>
          <a:bodyPr wrap="square" lIns="0" tIns="0" rIns="0" bIns="0" rtlCol="0" anchor="ctr"/>
          <a:lstStyle/>
          <a:p>
            <a:pPr algn="l" indent="0" marL="0">
              <a:buNone/>
            </a:pPr>
            <a:r>
              <a:rPr lang="en-US" sz="3400" b="1" dirty="0">
                <a:solidFill>
                  <a:schemeClr val="tx2"/>
                </a:solidFill>
              </a:rPr>
              <a:t>Calibrated Crop Recommendations You Can Trust</a:t>
            </a:r>
            <a:endParaRPr lang="en-US" sz="3400" dirty="0"/>
          </a:p>
        </p:txBody>
      </p:sp>
      <p:sp>
        <p:nvSpPr>
          <p:cNvPr id="4" name="Text 1"/>
          <p:cNvSpPr txBox="1"/>
          <p:nvPr/>
        </p:nvSpPr>
        <p:spPr>
          <a:xfrm>
            <a:off x="548640" y="932688"/>
            <a:ext cx="11091672" cy="365760"/>
          </a:xfrm>
          <a:prstGeom prst="rect">
            <a:avLst/>
          </a:prstGeom>
          <a:noFill/>
          <a:ln/>
        </p:spPr>
        <p:txBody>
          <a:bodyPr wrap="square" lIns="0" tIns="0" rIns="0" bIns="0" rtlCol="0" anchor="t"/>
          <a:lstStyle/>
          <a:p>
            <a:pPr indent="0" marL="0">
              <a:buNone/>
            </a:pPr>
            <a:r>
              <a:rPr lang="en-US" sz="1600" i="1" dirty="0">
                <a:solidFill>
                  <a:schemeClr val="accent6"/>
                </a:solidFill>
              </a:rPr>
              <a:t>ExtraTrees with sigmoid calibration, so a stated 90% behaves like 90%</a:t>
            </a:r>
            <a:endParaRPr lang="en-US" sz="1600" dirty="0"/>
          </a:p>
        </p:txBody>
      </p:sp>
      <p:sp>
        <p:nvSpPr>
          <p:cNvPr id="5" name="data-chip-1"/>
          <p:cNvSpPr/>
          <p:nvPr/>
        </p:nvSpPr>
        <p:spPr>
          <a:xfrm>
            <a:off x="548640" y="1508760"/>
            <a:ext cx="1700784" cy="640080"/>
          </a:xfrm>
          <a:prstGeom prst="roundRect">
            <a:avLst>
              <a:gd name="adj" fmla="val 11429"/>
            </a:avLst>
          </a:prstGeom>
          <a:solidFill>
            <a:schemeClr val="accent3">
              <a:alpha val="65000"/>
            </a:schemeClr>
          </a:solidFill>
          <a:ln/>
        </p:spPr>
      </p:sp>
      <p:sp>
        <p:nvSpPr>
          <p:cNvPr id="6" name="Text 3"/>
          <p:cNvSpPr txBox="1"/>
          <p:nvPr/>
        </p:nvSpPr>
        <p:spPr>
          <a:xfrm>
            <a:off x="621792" y="1508760"/>
            <a:ext cx="1554480" cy="640080"/>
          </a:xfrm>
          <a:prstGeom prst="rect">
            <a:avLst/>
          </a:prstGeom>
          <a:noFill/>
          <a:ln/>
        </p:spPr>
        <p:txBody>
          <a:bodyPr wrap="square" lIns="0" tIns="0" rIns="0" bIns="0" rtlCol="0" anchor="ctr"/>
          <a:lstStyle/>
          <a:p>
            <a:pPr algn="ctr" indent="0" marL="0">
              <a:buNone/>
            </a:pPr>
            <a:r>
              <a:rPr lang="en-US" sz="1100" b="1" dirty="0">
                <a:solidFill>
                  <a:schemeClr val="tx2"/>
                </a:solidFill>
              </a:rPr>
              <a:t>crop_yield.csv</a:t>
            </a:r>
            <a:endParaRPr lang="en-US" sz="1100" dirty="0"/>
          </a:p>
        </p:txBody>
      </p:sp>
      <p:sp>
        <p:nvSpPr>
          <p:cNvPr id="7" name="data-chip-2"/>
          <p:cNvSpPr/>
          <p:nvPr/>
        </p:nvSpPr>
        <p:spPr>
          <a:xfrm>
            <a:off x="2377440" y="1508760"/>
            <a:ext cx="1700784" cy="640080"/>
          </a:xfrm>
          <a:prstGeom prst="roundRect">
            <a:avLst>
              <a:gd name="adj" fmla="val 11429"/>
            </a:avLst>
          </a:prstGeom>
          <a:solidFill>
            <a:schemeClr val="accent3">
              <a:alpha val="65000"/>
            </a:schemeClr>
          </a:solidFill>
          <a:ln/>
        </p:spPr>
      </p:sp>
      <p:sp>
        <p:nvSpPr>
          <p:cNvPr id="8" name="Text 5"/>
          <p:cNvSpPr txBox="1"/>
          <p:nvPr/>
        </p:nvSpPr>
        <p:spPr>
          <a:xfrm>
            <a:off x="2450592" y="1508760"/>
            <a:ext cx="1554480" cy="640080"/>
          </a:xfrm>
          <a:prstGeom prst="rect">
            <a:avLst/>
          </a:prstGeom>
          <a:noFill/>
          <a:ln/>
        </p:spPr>
        <p:txBody>
          <a:bodyPr wrap="square" lIns="0" tIns="0" rIns="0" bIns="0" rtlCol="0" anchor="ctr"/>
          <a:lstStyle/>
          <a:p>
            <a:pPr algn="ctr" indent="0" marL="0">
              <a:buNone/>
            </a:pPr>
            <a:r>
              <a:rPr lang="en-US" sz="1100" b="1" dirty="0">
                <a:solidFill>
                  <a:schemeClr val="tx2"/>
                </a:solidFill>
              </a:rPr>
              <a:t>state_soil_data.csv</a:t>
            </a:r>
            <a:endParaRPr lang="en-US" sz="1100" dirty="0"/>
          </a:p>
        </p:txBody>
      </p:sp>
      <p:sp>
        <p:nvSpPr>
          <p:cNvPr id="9" name="data-chip-3"/>
          <p:cNvSpPr/>
          <p:nvPr/>
        </p:nvSpPr>
        <p:spPr>
          <a:xfrm>
            <a:off x="4206240" y="1508760"/>
            <a:ext cx="1700784" cy="640080"/>
          </a:xfrm>
          <a:prstGeom prst="roundRect">
            <a:avLst>
              <a:gd name="adj" fmla="val 11429"/>
            </a:avLst>
          </a:prstGeom>
          <a:solidFill>
            <a:schemeClr val="accent3">
              <a:alpha val="65000"/>
            </a:schemeClr>
          </a:solidFill>
          <a:ln/>
        </p:spPr>
      </p:sp>
      <p:sp>
        <p:nvSpPr>
          <p:cNvPr id="10" name="Text 7"/>
          <p:cNvSpPr txBox="1"/>
          <p:nvPr/>
        </p:nvSpPr>
        <p:spPr>
          <a:xfrm>
            <a:off x="4279392" y="1508760"/>
            <a:ext cx="1554480" cy="640080"/>
          </a:xfrm>
          <a:prstGeom prst="rect">
            <a:avLst/>
          </a:prstGeom>
          <a:noFill/>
          <a:ln/>
        </p:spPr>
        <p:txBody>
          <a:bodyPr wrap="square" lIns="0" tIns="0" rIns="0" bIns="0" rtlCol="0" anchor="ctr"/>
          <a:lstStyle/>
          <a:p>
            <a:pPr algn="ctr" indent="0" marL="0">
              <a:buNone/>
            </a:pPr>
            <a:r>
              <a:rPr lang="en-US" sz="1100" b="1" dirty="0">
                <a:solidFill>
                  <a:schemeClr val="tx2"/>
                </a:solidFill>
              </a:rPr>
              <a:t>state_weather_data_1997_2020.csv</a:t>
            </a:r>
            <a:endParaRPr lang="en-US" sz="1100" dirty="0"/>
          </a:p>
        </p:txBody>
      </p:sp>
      <p:sp>
        <p:nvSpPr>
          <p:cNvPr id="11" name="Shape 8"/>
          <p:cNvSpPr/>
          <p:nvPr/>
        </p:nvSpPr>
        <p:spPr>
          <a:xfrm>
            <a:off x="2880360" y="2240280"/>
            <a:ext cx="274320" cy="201168"/>
          </a:xfrm>
          <a:prstGeom prst="downArrow">
            <a:avLst/>
          </a:prstGeom>
          <a:solidFill>
            <a:schemeClr val="accent1"/>
          </a:solidFill>
          <a:ln/>
        </p:spPr>
      </p:sp>
      <p:sp>
        <p:nvSpPr>
          <p:cNvPr id="12" name="model-box"/>
          <p:cNvSpPr/>
          <p:nvPr/>
        </p:nvSpPr>
        <p:spPr>
          <a:xfrm>
            <a:off x="548640" y="2487168"/>
            <a:ext cx="5212080" cy="594360"/>
          </a:xfrm>
          <a:prstGeom prst="roundRect">
            <a:avLst>
              <a:gd name="adj" fmla="val 15385"/>
            </a:avLst>
          </a:prstGeom>
          <a:solidFill>
            <a:schemeClr val="tx2"/>
          </a:solidFill>
          <a:ln/>
        </p:spPr>
      </p:sp>
      <p:sp>
        <p:nvSpPr>
          <p:cNvPr id="13" name="Text 10"/>
          <p:cNvSpPr txBox="1"/>
          <p:nvPr/>
        </p:nvSpPr>
        <p:spPr>
          <a:xfrm>
            <a:off x="548640" y="2487168"/>
            <a:ext cx="5212080" cy="594360"/>
          </a:xfrm>
          <a:prstGeom prst="rect">
            <a:avLst/>
          </a:prstGeom>
          <a:noFill/>
          <a:ln/>
        </p:spPr>
        <p:txBody>
          <a:bodyPr wrap="square" lIns="0" tIns="0" rIns="0" bIns="0" rtlCol="0" anchor="ctr"/>
          <a:lstStyle/>
          <a:p>
            <a:pPr algn="ctr" indent="0" marL="0">
              <a:buNone/>
            </a:pPr>
            <a:r>
              <a:rPr lang="en-US" sz="1600" b="1" dirty="0">
                <a:solidFill>
                  <a:schemeClr val="bg1"/>
                </a:solidFill>
              </a:rPr>
              <a:t>ExtraTrees classifier · 100 estimators</a:t>
            </a:r>
            <a:endParaRPr lang="en-US" sz="1600" dirty="0"/>
          </a:p>
        </p:txBody>
      </p:sp>
      <p:sp>
        <p:nvSpPr>
          <p:cNvPr id="14" name="Shape 11"/>
          <p:cNvSpPr/>
          <p:nvPr/>
        </p:nvSpPr>
        <p:spPr>
          <a:xfrm>
            <a:off x="2880360" y="3154680"/>
            <a:ext cx="274320" cy="201168"/>
          </a:xfrm>
          <a:prstGeom prst="downArrow">
            <a:avLst/>
          </a:prstGeom>
          <a:solidFill>
            <a:schemeClr val="accent1"/>
          </a:solidFill>
          <a:ln/>
        </p:spPr>
      </p:sp>
      <p:sp>
        <p:nvSpPr>
          <p:cNvPr id="15" name="calib-box"/>
          <p:cNvSpPr/>
          <p:nvPr/>
        </p:nvSpPr>
        <p:spPr>
          <a:xfrm>
            <a:off x="548640" y="3401568"/>
            <a:ext cx="5212080" cy="594360"/>
          </a:xfrm>
          <a:prstGeom prst="roundRect">
            <a:avLst>
              <a:gd name="adj" fmla="val 15385"/>
            </a:avLst>
          </a:prstGeom>
          <a:solidFill>
            <a:schemeClr val="accent1"/>
          </a:solidFill>
          <a:ln/>
        </p:spPr>
      </p:sp>
      <p:sp>
        <p:nvSpPr>
          <p:cNvPr id="16" name="Text 13"/>
          <p:cNvSpPr txBox="1"/>
          <p:nvPr/>
        </p:nvSpPr>
        <p:spPr>
          <a:xfrm>
            <a:off x="548640" y="3401568"/>
            <a:ext cx="5212080" cy="594360"/>
          </a:xfrm>
          <a:prstGeom prst="rect">
            <a:avLst/>
          </a:prstGeom>
          <a:noFill/>
          <a:ln/>
        </p:spPr>
        <p:txBody>
          <a:bodyPr wrap="square" lIns="0" tIns="0" rIns="0" bIns="0" rtlCol="0" anchor="ctr"/>
          <a:lstStyle/>
          <a:p>
            <a:pPr algn="ctr" indent="0" marL="0">
              <a:buNone/>
            </a:pPr>
            <a:r>
              <a:rPr lang="en-US" sz="1600" b="1" dirty="0">
                <a:solidFill>
                  <a:schemeClr val="bg1"/>
                </a:solidFill>
              </a:rPr>
              <a:t>Sigmoid CalibratedClassifierCV</a:t>
            </a:r>
            <a:endParaRPr lang="en-US" sz="1600" dirty="0"/>
          </a:p>
        </p:txBody>
      </p:sp>
      <p:sp>
        <p:nvSpPr>
          <p:cNvPr id="17" name="Shape 14"/>
          <p:cNvSpPr/>
          <p:nvPr/>
        </p:nvSpPr>
        <p:spPr>
          <a:xfrm>
            <a:off x="2880360" y="4069080"/>
            <a:ext cx="274320" cy="201168"/>
          </a:xfrm>
          <a:prstGeom prst="downArrow">
            <a:avLst/>
          </a:prstGeom>
          <a:solidFill>
            <a:schemeClr val="accent1"/>
          </a:solidFill>
          <a:ln/>
        </p:spPr>
      </p:sp>
      <p:sp>
        <p:nvSpPr>
          <p:cNvPr id="18" name="output-box"/>
          <p:cNvSpPr/>
          <p:nvPr/>
        </p:nvSpPr>
        <p:spPr>
          <a:xfrm>
            <a:off x="548640" y="4315968"/>
            <a:ext cx="5212080" cy="594360"/>
          </a:xfrm>
          <a:prstGeom prst="roundRect">
            <a:avLst>
              <a:gd name="adj" fmla="val 15385"/>
            </a:avLst>
          </a:prstGeom>
          <a:solidFill>
            <a:schemeClr val="accent2"/>
          </a:solidFill>
          <a:ln/>
        </p:spPr>
      </p:sp>
      <p:sp>
        <p:nvSpPr>
          <p:cNvPr id="19" name="Text 16"/>
          <p:cNvSpPr txBox="1"/>
          <p:nvPr/>
        </p:nvSpPr>
        <p:spPr>
          <a:xfrm>
            <a:off x="548640" y="4315968"/>
            <a:ext cx="5212080" cy="594360"/>
          </a:xfrm>
          <a:prstGeom prst="rect">
            <a:avLst/>
          </a:prstGeom>
          <a:noFill/>
          <a:ln/>
        </p:spPr>
        <p:txBody>
          <a:bodyPr wrap="square" lIns="0" tIns="0" rIns="0" bIns="0" rtlCol="0" anchor="ctr"/>
          <a:lstStyle/>
          <a:p>
            <a:pPr algn="ctr" indent="0" marL="0">
              <a:buNone/>
            </a:pPr>
            <a:r>
              <a:rPr lang="en-US" sz="1600" b="1" dirty="0">
                <a:solidFill>
                  <a:schemeClr val="tx1"/>
                </a:solidFill>
              </a:rPr>
              <a:t>Ranked crops with calibrated probabilities</a:t>
            </a:r>
            <a:endParaRPr lang="en-US" sz="1600" dirty="0"/>
          </a:p>
        </p:txBody>
      </p:sp>
      <p:sp>
        <p:nvSpPr>
          <p:cNvPr id="20" name="chart-card"/>
          <p:cNvSpPr/>
          <p:nvPr/>
        </p:nvSpPr>
        <p:spPr>
          <a:xfrm>
            <a:off x="6309360" y="1508760"/>
            <a:ext cx="5330952" cy="3401568"/>
          </a:xfrm>
          <a:prstGeom prst="roundRect">
            <a:avLst>
              <a:gd name="adj" fmla="val 3226"/>
            </a:avLst>
          </a:prstGeom>
          <a:solidFill>
            <a:schemeClr val="bg1"/>
          </a:solidFill>
          <a:ln w="9525">
            <a:solidFill>
              <a:schemeClr val="accent3"/>
            </a:solidFill>
            <a:prstDash val="solid"/>
          </a:ln>
          <a:effectLst>
            <a:outerShdw sx="100000" sy="100000" kx="0" ky="0" algn="bl" rotWithShape="0" blurRad="76200" dist="25400" dir="5400000">
              <a:srgbClr val="000000">
                <a:alpha val="12000"/>
              </a:srgbClr>
            </a:outerShdw>
          </a:effectLst>
        </p:spPr>
      </p:sp>
      <p:sp>
        <p:nvSpPr>
          <p:cNvPr id="21" name="Text 18"/>
          <p:cNvSpPr txBox="1"/>
          <p:nvPr/>
        </p:nvSpPr>
        <p:spPr>
          <a:xfrm>
            <a:off x="6537960" y="1645920"/>
            <a:ext cx="4846320" cy="320040"/>
          </a:xfrm>
          <a:prstGeom prst="rect">
            <a:avLst/>
          </a:prstGeom>
          <a:noFill/>
          <a:ln/>
        </p:spPr>
        <p:txBody>
          <a:bodyPr wrap="square" lIns="0" tIns="0" rIns="0" bIns="0" rtlCol="0" anchor="t"/>
          <a:lstStyle/>
          <a:p>
            <a:pPr indent="0" marL="0">
              <a:buNone/>
            </a:pPr>
            <a:r>
              <a:rPr lang="en-US" sz="1600" b="1" dirty="0">
                <a:solidFill>
                  <a:schemeClr val="tx2"/>
                </a:solidFill>
              </a:rPr>
              <a:t>Example output: top crops for one farm</a:t>
            </a:r>
            <a:endParaRPr lang="en-US" sz="1600" dirty="0"/>
          </a:p>
        </p:txBody>
      </p:sp>
      <p:graphicFrame>
        <p:nvGraphicFramePr>
          <p:cNvPr id="22" name="Chart 0" descr=""/>
          <p:cNvGraphicFramePr/>
          <p:nvPr/>
        </p:nvGraphicFramePr>
        <p:xfrm>
          <a:off x="6446520" y="2011680"/>
          <a:ext cx="5029200" cy="2468880"/>
        </p:xfrm>
        <a:graphic xmlns:a="http://schemas.openxmlformats.org/drawingml/2006/main">
          <a:graphicData uri="http://schemas.openxmlformats.org/drawingml/2006/chart">
            <c:chart xmlns:c="http://schemas.openxmlformats.org/drawingml/2006/chart" r:id="rId1"/>
          </a:graphicData>
        </a:graphic>
      </p:graphicFrame>
      <p:sp>
        <p:nvSpPr>
          <p:cNvPr id="23" name="Text 19"/>
          <p:cNvSpPr txBox="1"/>
          <p:nvPr/>
        </p:nvSpPr>
        <p:spPr>
          <a:xfrm>
            <a:off x="6537960" y="4526280"/>
            <a:ext cx="4846320" cy="274320"/>
          </a:xfrm>
          <a:prstGeom prst="rect">
            <a:avLst/>
          </a:prstGeom>
          <a:noFill/>
          <a:ln/>
        </p:spPr>
        <p:txBody>
          <a:bodyPr wrap="square" lIns="0" tIns="0" rIns="0" bIns="0" rtlCol="0" anchor="t"/>
          <a:lstStyle/>
          <a:p>
            <a:pPr indent="0" marL="0">
              <a:buNone/>
            </a:pPr>
            <a:r>
              <a:rPr lang="en-US" sz="1000" i="1" dirty="0">
                <a:solidFill>
                  <a:schemeClr val="accent6"/>
                </a:solidFill>
              </a:rPr>
              <a:t>Illustrative values</a:t>
            </a:r>
            <a:endParaRPr lang="en-US" sz="1000" dirty="0"/>
          </a:p>
        </p:txBody>
      </p:sp>
      <p:sp>
        <p:nvSpPr>
          <p:cNvPr id="24" name="kpi-card-1"/>
          <p:cNvSpPr/>
          <p:nvPr/>
        </p:nvSpPr>
        <p:spPr>
          <a:xfrm>
            <a:off x="548640" y="5166360"/>
            <a:ext cx="3593592" cy="1051560"/>
          </a:xfrm>
          <a:prstGeom prst="roundRect">
            <a:avLst>
              <a:gd name="adj" fmla="val 8696"/>
            </a:avLst>
          </a:prstGeom>
          <a:solidFill>
            <a:schemeClr val="tx2"/>
          </a:solidFill>
          <a:ln/>
        </p:spPr>
      </p:sp>
      <p:sp>
        <p:nvSpPr>
          <p:cNvPr id="25" name="Text 21"/>
          <p:cNvSpPr txBox="1"/>
          <p:nvPr/>
        </p:nvSpPr>
        <p:spPr>
          <a:xfrm>
            <a:off x="777240" y="5166360"/>
            <a:ext cx="1417320" cy="1051560"/>
          </a:xfrm>
          <a:prstGeom prst="rect">
            <a:avLst/>
          </a:prstGeom>
          <a:noFill/>
          <a:ln/>
        </p:spPr>
        <p:txBody>
          <a:bodyPr wrap="square" lIns="0" tIns="0" rIns="0" bIns="0" rtlCol="0" anchor="ctr"/>
          <a:lstStyle/>
          <a:p>
            <a:pPr indent="0" marL="0">
              <a:buNone/>
            </a:pPr>
            <a:r>
              <a:rPr lang="en-US" sz="3400" b="1" dirty="0">
                <a:solidFill>
                  <a:schemeClr val="accent2"/>
                </a:solidFill>
              </a:rPr>
              <a:t>19,689</a:t>
            </a:r>
            <a:endParaRPr lang="en-US" sz="3400" dirty="0"/>
          </a:p>
        </p:txBody>
      </p:sp>
      <p:sp>
        <p:nvSpPr>
          <p:cNvPr id="26" name="Text 22"/>
          <p:cNvSpPr txBox="1"/>
          <p:nvPr/>
        </p:nvSpPr>
        <p:spPr>
          <a:xfrm>
            <a:off x="2194560" y="5166360"/>
            <a:ext cx="1828800" cy="1051560"/>
          </a:xfrm>
          <a:prstGeom prst="rect">
            <a:avLst/>
          </a:prstGeom>
          <a:noFill/>
          <a:ln/>
        </p:spPr>
        <p:txBody>
          <a:bodyPr wrap="square" lIns="0" tIns="0" rIns="0" bIns="0" rtlCol="0" anchor="ctr"/>
          <a:lstStyle/>
          <a:p>
            <a:pPr indent="0" marL="0">
              <a:buNone/>
            </a:pPr>
            <a:r>
              <a:rPr lang="en-US" sz="1300" dirty="0">
                <a:solidFill>
                  <a:schemeClr val="bg1"/>
                </a:solidFill>
              </a:rPr>
              <a:t>records from yield, soil and 1997–2020 weather data</a:t>
            </a:r>
            <a:endParaRPr lang="en-US" sz="1300" dirty="0"/>
          </a:p>
        </p:txBody>
      </p:sp>
      <p:sp>
        <p:nvSpPr>
          <p:cNvPr id="27" name="kpi-card-2"/>
          <p:cNvSpPr/>
          <p:nvPr/>
        </p:nvSpPr>
        <p:spPr>
          <a:xfrm>
            <a:off x="4297680" y="5166360"/>
            <a:ext cx="3593592" cy="1051560"/>
          </a:xfrm>
          <a:prstGeom prst="roundRect">
            <a:avLst>
              <a:gd name="adj" fmla="val 8696"/>
            </a:avLst>
          </a:prstGeom>
          <a:solidFill>
            <a:schemeClr val="tx2"/>
          </a:solidFill>
          <a:ln/>
        </p:spPr>
      </p:sp>
      <p:sp>
        <p:nvSpPr>
          <p:cNvPr id="28" name="Text 24"/>
          <p:cNvSpPr txBox="1"/>
          <p:nvPr/>
        </p:nvSpPr>
        <p:spPr>
          <a:xfrm>
            <a:off x="4526280" y="5166360"/>
            <a:ext cx="1417320" cy="1051560"/>
          </a:xfrm>
          <a:prstGeom prst="rect">
            <a:avLst/>
          </a:prstGeom>
          <a:noFill/>
          <a:ln/>
        </p:spPr>
        <p:txBody>
          <a:bodyPr wrap="square" lIns="0" tIns="0" rIns="0" bIns="0" rtlCol="0" anchor="ctr"/>
          <a:lstStyle/>
          <a:p>
            <a:pPr indent="0" marL="0">
              <a:buNone/>
            </a:pPr>
            <a:r>
              <a:rPr lang="en-US" sz="3400" b="1" dirty="0">
                <a:solidFill>
                  <a:schemeClr val="accent2"/>
                </a:solidFill>
              </a:rPr>
              <a:t>25</a:t>
            </a:r>
            <a:endParaRPr lang="en-US" sz="3400" dirty="0"/>
          </a:p>
        </p:txBody>
      </p:sp>
      <p:sp>
        <p:nvSpPr>
          <p:cNvPr id="29" name="Text 25"/>
          <p:cNvSpPr txBox="1"/>
          <p:nvPr/>
        </p:nvSpPr>
        <p:spPr>
          <a:xfrm>
            <a:off x="5943600" y="5166360"/>
            <a:ext cx="1828800" cy="1051560"/>
          </a:xfrm>
          <a:prstGeom prst="rect">
            <a:avLst/>
          </a:prstGeom>
          <a:noFill/>
          <a:ln/>
        </p:spPr>
        <p:txBody>
          <a:bodyPr wrap="square" lIns="0" tIns="0" rIns="0" bIns="0" rtlCol="0" anchor="ctr"/>
          <a:lstStyle/>
          <a:p>
            <a:pPr indent="0" marL="0">
              <a:buNone/>
            </a:pPr>
            <a:r>
              <a:rPr lang="en-US" sz="1300" dirty="0">
                <a:solidFill>
                  <a:schemeClr val="bg1"/>
                </a:solidFill>
              </a:rPr>
              <a:t>crop classes in the recommender</a:t>
            </a:r>
            <a:endParaRPr lang="en-US" sz="1300" dirty="0"/>
          </a:p>
        </p:txBody>
      </p:sp>
      <p:sp>
        <p:nvSpPr>
          <p:cNvPr id="30" name="kpi-card-3"/>
          <p:cNvSpPr/>
          <p:nvPr/>
        </p:nvSpPr>
        <p:spPr>
          <a:xfrm>
            <a:off x="8046720" y="5166360"/>
            <a:ext cx="3593592" cy="1051560"/>
          </a:xfrm>
          <a:prstGeom prst="roundRect">
            <a:avLst>
              <a:gd name="adj" fmla="val 8696"/>
            </a:avLst>
          </a:prstGeom>
          <a:solidFill>
            <a:schemeClr val="tx2"/>
          </a:solidFill>
          <a:ln/>
        </p:spPr>
      </p:sp>
      <p:sp>
        <p:nvSpPr>
          <p:cNvPr id="31" name="Text 27"/>
          <p:cNvSpPr txBox="1"/>
          <p:nvPr/>
        </p:nvSpPr>
        <p:spPr>
          <a:xfrm>
            <a:off x="8275320" y="5166360"/>
            <a:ext cx="1417320" cy="1051560"/>
          </a:xfrm>
          <a:prstGeom prst="rect">
            <a:avLst/>
          </a:prstGeom>
          <a:noFill/>
          <a:ln/>
        </p:spPr>
        <p:txBody>
          <a:bodyPr wrap="square" lIns="0" tIns="0" rIns="0" bIns="0" rtlCol="0" anchor="ctr"/>
          <a:lstStyle/>
          <a:p>
            <a:pPr indent="0" marL="0">
              <a:buNone/>
            </a:pPr>
            <a:r>
              <a:rPr lang="en-US" sz="3400" b="1" dirty="0">
                <a:solidFill>
                  <a:schemeClr val="accent2"/>
                </a:solidFill>
              </a:rPr>
              <a:t>100</a:t>
            </a:r>
            <a:endParaRPr lang="en-US" sz="3400" dirty="0"/>
          </a:p>
        </p:txBody>
      </p:sp>
      <p:sp>
        <p:nvSpPr>
          <p:cNvPr id="32" name="Text 28"/>
          <p:cNvSpPr txBox="1"/>
          <p:nvPr/>
        </p:nvSpPr>
        <p:spPr>
          <a:xfrm>
            <a:off x="9692640" y="5166360"/>
            <a:ext cx="1828800" cy="1051560"/>
          </a:xfrm>
          <a:prstGeom prst="rect">
            <a:avLst/>
          </a:prstGeom>
          <a:noFill/>
          <a:ln/>
        </p:spPr>
        <p:txBody>
          <a:bodyPr wrap="square" lIns="0" tIns="0" rIns="0" bIns="0" rtlCol="0" anchor="ctr"/>
          <a:lstStyle/>
          <a:p>
            <a:pPr indent="0" marL="0">
              <a:buNone/>
            </a:pPr>
            <a:r>
              <a:rPr lang="en-US" sz="1300" dirty="0">
                <a:solidFill>
                  <a:schemeClr val="bg1"/>
                </a:solidFill>
              </a:rPr>
              <a:t>estimators in the ensemble</a:t>
            </a:r>
            <a:endParaRPr lang="en-US" sz="1300" dirty="0"/>
          </a:p>
        </p:txBody>
      </p:sp>
      <p:sp>
        <p:nvSpPr>
          <p:cNvPr id="25" name="Slide Number Placeholder 0"/>
          <p:cNvSpPr>
            <a:spLocks noGrp="1"/>
          </p:cNvSpPr>
          <p:nvPr>
            <p:ph type="sldNum" sz="quarter" idx="4294967295"/>
          </p:nvPr>
        </p:nvSpPr>
        <p:spPr>
          <a:xfrm>
            <a:off x="10972800" y="642823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40080"/>
          </a:xfrm>
          <a:prstGeom prst="rect">
            <a:avLst/>
          </a:prstGeom>
          <a:noFill/>
          <a:ln/>
        </p:spPr>
        <p:txBody>
          <a:bodyPr wrap="square" lIns="0" tIns="0" rIns="0" bIns="0" rtlCol="0" anchor="ctr"/>
          <a:lstStyle/>
          <a:p>
            <a:pPr algn="l" indent="0" marL="0">
              <a:buNone/>
            </a:pPr>
            <a:r>
              <a:rPr lang="en-US" sz="3400" b="1" dirty="0">
                <a:solidFill>
                  <a:schemeClr val="tx2"/>
                </a:solidFill>
              </a:rPr>
              <a:t>Explainable AI and the What-If Simulator</a:t>
            </a:r>
            <a:endParaRPr lang="en-US" sz="3400" dirty="0"/>
          </a:p>
        </p:txBody>
      </p:sp>
      <p:sp>
        <p:nvSpPr>
          <p:cNvPr id="4" name="Text 1"/>
          <p:cNvSpPr txBox="1"/>
          <p:nvPr/>
        </p:nvSpPr>
        <p:spPr>
          <a:xfrm>
            <a:off x="548640" y="932688"/>
            <a:ext cx="11091672" cy="365760"/>
          </a:xfrm>
          <a:prstGeom prst="rect">
            <a:avLst/>
          </a:prstGeom>
          <a:noFill/>
          <a:ln/>
        </p:spPr>
        <p:txBody>
          <a:bodyPr wrap="square" lIns="0" tIns="0" rIns="0" bIns="0" rtlCol="0" anchor="t"/>
          <a:lstStyle/>
          <a:p>
            <a:pPr indent="0" marL="0">
              <a:buNone/>
            </a:pPr>
            <a:r>
              <a:rPr lang="en-US" sz="1600" i="1" dirty="0">
                <a:solidFill>
                  <a:schemeClr val="accent6"/>
                </a:solidFill>
              </a:rPr>
              <a:t>SHAP TreeExplainer shows why; the simulator shows what happens next</a:t>
            </a:r>
            <a:endParaRPr lang="en-US" sz="1600" dirty="0"/>
          </a:p>
        </p:txBody>
      </p:sp>
      <p:sp>
        <p:nvSpPr>
          <p:cNvPr id="5" name="xai-panel-1"/>
          <p:cNvSpPr/>
          <p:nvPr/>
        </p:nvSpPr>
        <p:spPr>
          <a:xfrm>
            <a:off x="548640" y="1508760"/>
            <a:ext cx="3502152" cy="3840480"/>
          </a:xfrm>
          <a:prstGeom prst="roundRect">
            <a:avLst>
              <a:gd name="adj" fmla="val 3133"/>
            </a:avLst>
          </a:prstGeom>
          <a:solidFill>
            <a:schemeClr val="bg1"/>
          </a:solidFill>
          <a:ln w="9525">
            <a:solidFill>
              <a:schemeClr val="accent3"/>
            </a:solidFill>
            <a:prstDash val="solid"/>
          </a:ln>
          <a:effectLst>
            <a:outerShdw sx="100000" sy="100000" kx="0" ky="0" algn="bl" rotWithShape="0" blurRad="76200" dist="25400" dir="5400000">
              <a:srgbClr val="000000">
                <a:alpha val="12000"/>
              </a:srgbClr>
            </a:outerShdw>
          </a:effectLst>
        </p:spPr>
      </p:sp>
      <p:sp>
        <p:nvSpPr>
          <p:cNvPr id="6" name="icon-bg-FaProjectDiagram"/>
          <p:cNvSpPr/>
          <p:nvPr/>
        </p:nvSpPr>
        <p:spPr>
          <a:xfrm>
            <a:off x="777240" y="1691640"/>
            <a:ext cx="457200" cy="457200"/>
          </a:xfrm>
          <a:prstGeom prst="ellipse">
            <a:avLst/>
          </a:prstGeom>
          <a:solidFill>
            <a:schemeClr val="accent1"/>
          </a:solidFill>
          <a:ln/>
        </p:spPr>
      </p:sp>
      <p:pic>
        <p:nvPicPr>
          <p:cNvPr id="7" name="Image 0" descr="ProjectDiagram icon">    </p:cNvPr>
          <p:cNvPicPr>
            <a:picLocks noChangeAspect="1"/>
          </p:cNvPicPr>
          <p:nvPr/>
        </p:nvPicPr>
        <p:blipFill>
          <a:blip r:embed="rId1"/>
          <a:stretch>
            <a:fillRect/>
          </a:stretch>
        </p:blipFill>
        <p:spPr>
          <a:xfrm>
            <a:off x="891540" y="1805940"/>
            <a:ext cx="228600" cy="228600"/>
          </a:xfrm>
          <a:prstGeom prst="rect">
            <a:avLst/>
          </a:prstGeom>
        </p:spPr>
      </p:pic>
      <p:sp>
        <p:nvSpPr>
          <p:cNvPr id="8" name="Text 4"/>
          <p:cNvSpPr txBox="1"/>
          <p:nvPr/>
        </p:nvSpPr>
        <p:spPr>
          <a:xfrm>
            <a:off x="1371600" y="1691640"/>
            <a:ext cx="2560320" cy="457200"/>
          </a:xfrm>
          <a:prstGeom prst="rect">
            <a:avLst/>
          </a:prstGeom>
          <a:noFill/>
          <a:ln/>
        </p:spPr>
        <p:txBody>
          <a:bodyPr wrap="square" lIns="0" tIns="0" rIns="0" bIns="0" rtlCol="0" anchor="ctr"/>
          <a:lstStyle/>
          <a:p>
            <a:pPr indent="0" marL="0">
              <a:buNone/>
            </a:pPr>
            <a:r>
              <a:rPr lang="en-US" sz="1700" b="1" dirty="0">
                <a:solidFill>
                  <a:schemeClr val="tx2"/>
                </a:solidFill>
              </a:rPr>
              <a:t>Global importance</a:t>
            </a:r>
            <a:endParaRPr lang="en-US" sz="1700" dirty="0"/>
          </a:p>
        </p:txBody>
      </p:sp>
      <p:sp>
        <p:nvSpPr>
          <p:cNvPr id="9" name="xai-panel-2"/>
          <p:cNvSpPr/>
          <p:nvPr/>
        </p:nvSpPr>
        <p:spPr>
          <a:xfrm>
            <a:off x="4343400" y="1508760"/>
            <a:ext cx="3502152" cy="3840480"/>
          </a:xfrm>
          <a:prstGeom prst="roundRect">
            <a:avLst>
              <a:gd name="adj" fmla="val 3133"/>
            </a:avLst>
          </a:prstGeom>
          <a:solidFill>
            <a:schemeClr val="bg1"/>
          </a:solidFill>
          <a:ln w="9525">
            <a:solidFill>
              <a:schemeClr val="accent3"/>
            </a:solidFill>
            <a:prstDash val="solid"/>
          </a:ln>
          <a:effectLst>
            <a:outerShdw sx="100000" sy="100000" kx="0" ky="0" algn="bl" rotWithShape="0" blurRad="76200" dist="25400" dir="5400000">
              <a:srgbClr val="000000">
                <a:alpha val="12000"/>
              </a:srgbClr>
            </a:outerShdw>
          </a:effectLst>
        </p:spPr>
      </p:sp>
      <p:sp>
        <p:nvSpPr>
          <p:cNvPr id="10" name="icon-bg-FaSearch"/>
          <p:cNvSpPr/>
          <p:nvPr/>
        </p:nvSpPr>
        <p:spPr>
          <a:xfrm>
            <a:off x="4572000" y="1691640"/>
            <a:ext cx="457200" cy="457200"/>
          </a:xfrm>
          <a:prstGeom prst="ellipse">
            <a:avLst/>
          </a:prstGeom>
          <a:solidFill>
            <a:schemeClr val="accent1"/>
          </a:solidFill>
          <a:ln/>
        </p:spPr>
      </p:sp>
      <p:pic>
        <p:nvPicPr>
          <p:cNvPr id="11" name="Image 1" descr="Search icon">    </p:cNvPr>
          <p:cNvPicPr>
            <a:picLocks noChangeAspect="1"/>
          </p:cNvPicPr>
          <p:nvPr/>
        </p:nvPicPr>
        <p:blipFill>
          <a:blip r:embed="rId2"/>
          <a:stretch>
            <a:fillRect/>
          </a:stretch>
        </p:blipFill>
        <p:spPr>
          <a:xfrm>
            <a:off x="4686300" y="1805940"/>
            <a:ext cx="228600" cy="228600"/>
          </a:xfrm>
          <a:prstGeom prst="rect">
            <a:avLst/>
          </a:prstGeom>
        </p:spPr>
      </p:pic>
      <p:sp>
        <p:nvSpPr>
          <p:cNvPr id="12" name="Text 7"/>
          <p:cNvSpPr txBox="1"/>
          <p:nvPr/>
        </p:nvSpPr>
        <p:spPr>
          <a:xfrm>
            <a:off x="5166360" y="1691640"/>
            <a:ext cx="2560320" cy="457200"/>
          </a:xfrm>
          <a:prstGeom prst="rect">
            <a:avLst/>
          </a:prstGeom>
          <a:noFill/>
          <a:ln/>
        </p:spPr>
        <p:txBody>
          <a:bodyPr wrap="square" lIns="0" tIns="0" rIns="0" bIns="0" rtlCol="0" anchor="ctr"/>
          <a:lstStyle/>
          <a:p>
            <a:pPr indent="0" marL="0">
              <a:buNone/>
            </a:pPr>
            <a:r>
              <a:rPr lang="en-US" sz="1700" b="1" dirty="0">
                <a:solidFill>
                  <a:schemeClr val="tx2"/>
                </a:solidFill>
              </a:rPr>
              <a:t>Local: why Rice here?</a:t>
            </a:r>
            <a:endParaRPr lang="en-US" sz="1700" dirty="0"/>
          </a:p>
        </p:txBody>
      </p:sp>
      <p:sp>
        <p:nvSpPr>
          <p:cNvPr id="13" name="xai-panel-3"/>
          <p:cNvSpPr/>
          <p:nvPr/>
        </p:nvSpPr>
        <p:spPr>
          <a:xfrm>
            <a:off x="8138160" y="1508760"/>
            <a:ext cx="3502152" cy="3840480"/>
          </a:xfrm>
          <a:prstGeom prst="roundRect">
            <a:avLst>
              <a:gd name="adj" fmla="val 3133"/>
            </a:avLst>
          </a:prstGeom>
          <a:solidFill>
            <a:schemeClr val="bg1"/>
          </a:solidFill>
          <a:ln w="9525">
            <a:solidFill>
              <a:schemeClr val="accent3"/>
            </a:solidFill>
            <a:prstDash val="solid"/>
          </a:ln>
          <a:effectLst>
            <a:outerShdw sx="100000" sy="100000" kx="0" ky="0" algn="bl" rotWithShape="0" blurRad="76200" dist="25400" dir="5400000">
              <a:srgbClr val="000000">
                <a:alpha val="12000"/>
              </a:srgbClr>
            </a:outerShdw>
          </a:effectLst>
        </p:spPr>
      </p:sp>
      <p:sp>
        <p:nvSpPr>
          <p:cNvPr id="14" name="icon-bg-FaCloudRain"/>
          <p:cNvSpPr/>
          <p:nvPr/>
        </p:nvSpPr>
        <p:spPr>
          <a:xfrm>
            <a:off x="8366760" y="1691640"/>
            <a:ext cx="457200" cy="457200"/>
          </a:xfrm>
          <a:prstGeom prst="ellipse">
            <a:avLst/>
          </a:prstGeom>
          <a:solidFill>
            <a:schemeClr val="accent1"/>
          </a:solidFill>
          <a:ln/>
        </p:spPr>
      </p:sp>
      <p:pic>
        <p:nvPicPr>
          <p:cNvPr id="15" name="Image 2" descr="CloudRain icon">    </p:cNvPr>
          <p:cNvPicPr>
            <a:picLocks noChangeAspect="1"/>
          </p:cNvPicPr>
          <p:nvPr/>
        </p:nvPicPr>
        <p:blipFill>
          <a:blip r:embed="rId3"/>
          <a:stretch>
            <a:fillRect/>
          </a:stretch>
        </p:blipFill>
        <p:spPr>
          <a:xfrm>
            <a:off x="8481060" y="1805940"/>
            <a:ext cx="228600" cy="228600"/>
          </a:xfrm>
          <a:prstGeom prst="rect">
            <a:avLst/>
          </a:prstGeom>
        </p:spPr>
      </p:pic>
      <p:sp>
        <p:nvSpPr>
          <p:cNvPr id="16" name="Text 10"/>
          <p:cNvSpPr txBox="1"/>
          <p:nvPr/>
        </p:nvSpPr>
        <p:spPr>
          <a:xfrm>
            <a:off x="8961120" y="1691640"/>
            <a:ext cx="2560320" cy="457200"/>
          </a:xfrm>
          <a:prstGeom prst="rect">
            <a:avLst/>
          </a:prstGeom>
          <a:noFill/>
          <a:ln/>
        </p:spPr>
        <p:txBody>
          <a:bodyPr wrap="square" lIns="0" tIns="0" rIns="0" bIns="0" rtlCol="0" anchor="ctr"/>
          <a:lstStyle/>
          <a:p>
            <a:pPr indent="0" marL="0">
              <a:buNone/>
            </a:pPr>
            <a:r>
              <a:rPr lang="en-US" sz="1700" b="1" dirty="0">
                <a:solidFill>
                  <a:schemeClr val="tx2"/>
                </a:solidFill>
              </a:rPr>
              <a:t>What-If simulator</a:t>
            </a:r>
            <a:endParaRPr lang="en-US" sz="1700" dirty="0"/>
          </a:p>
        </p:txBody>
      </p:sp>
      <p:sp>
        <p:nvSpPr>
          <p:cNvPr id="17" name="Text 11"/>
          <p:cNvSpPr txBox="1"/>
          <p:nvPr/>
        </p:nvSpPr>
        <p:spPr>
          <a:xfrm>
            <a:off x="777240" y="2377440"/>
            <a:ext cx="1097280" cy="292608"/>
          </a:xfrm>
          <a:prstGeom prst="rect">
            <a:avLst/>
          </a:prstGeom>
          <a:noFill/>
          <a:ln/>
        </p:spPr>
        <p:txBody>
          <a:bodyPr wrap="square" lIns="0" tIns="0" rIns="0" bIns="0" rtlCol="0" anchor="ctr"/>
          <a:lstStyle/>
          <a:p>
            <a:pPr indent="0" marL="0">
              <a:buNone/>
            </a:pPr>
            <a:r>
              <a:rPr lang="en-US" sz="1300" dirty="0">
                <a:solidFill>
                  <a:schemeClr val="tx1"/>
                </a:solidFill>
              </a:rPr>
              <a:t>Rainfall</a:t>
            </a:r>
            <a:endParaRPr lang="en-US" sz="1300" dirty="0"/>
          </a:p>
        </p:txBody>
      </p:sp>
      <p:sp>
        <p:nvSpPr>
          <p:cNvPr id="18" name="global-bar-1"/>
          <p:cNvSpPr/>
          <p:nvPr/>
        </p:nvSpPr>
        <p:spPr>
          <a:xfrm>
            <a:off x="1920240" y="2414016"/>
            <a:ext cx="1920240" cy="219456"/>
          </a:xfrm>
          <a:prstGeom prst="roundRect">
            <a:avLst>
              <a:gd name="adj" fmla="val 16667"/>
            </a:avLst>
          </a:prstGeom>
          <a:solidFill>
            <a:schemeClr val="accent1"/>
          </a:solidFill>
          <a:ln/>
        </p:spPr>
      </p:sp>
      <p:sp>
        <p:nvSpPr>
          <p:cNvPr id="19" name="Text 13"/>
          <p:cNvSpPr txBox="1"/>
          <p:nvPr/>
        </p:nvSpPr>
        <p:spPr>
          <a:xfrm>
            <a:off x="777240" y="2834640"/>
            <a:ext cx="1097280" cy="292608"/>
          </a:xfrm>
          <a:prstGeom prst="rect">
            <a:avLst/>
          </a:prstGeom>
          <a:noFill/>
          <a:ln/>
        </p:spPr>
        <p:txBody>
          <a:bodyPr wrap="square" lIns="0" tIns="0" rIns="0" bIns="0" rtlCol="0" anchor="ctr"/>
          <a:lstStyle/>
          <a:p>
            <a:pPr indent="0" marL="0">
              <a:buNone/>
            </a:pPr>
            <a:r>
              <a:rPr lang="en-US" sz="1300" dirty="0">
                <a:solidFill>
                  <a:schemeClr val="tx1"/>
                </a:solidFill>
              </a:rPr>
              <a:t>Nitrogen</a:t>
            </a:r>
            <a:endParaRPr lang="en-US" sz="1300" dirty="0"/>
          </a:p>
        </p:txBody>
      </p:sp>
      <p:sp>
        <p:nvSpPr>
          <p:cNvPr id="20" name="global-bar-2"/>
          <p:cNvSpPr/>
          <p:nvPr/>
        </p:nvSpPr>
        <p:spPr>
          <a:xfrm>
            <a:off x="1920240" y="2871216"/>
            <a:ext cx="1574597" cy="219456"/>
          </a:xfrm>
          <a:prstGeom prst="roundRect">
            <a:avLst>
              <a:gd name="adj" fmla="val 16667"/>
            </a:avLst>
          </a:prstGeom>
          <a:solidFill>
            <a:schemeClr val="accent1"/>
          </a:solidFill>
          <a:ln/>
        </p:spPr>
      </p:sp>
      <p:sp>
        <p:nvSpPr>
          <p:cNvPr id="21" name="Text 15"/>
          <p:cNvSpPr txBox="1"/>
          <p:nvPr/>
        </p:nvSpPr>
        <p:spPr>
          <a:xfrm>
            <a:off x="777240" y="3291840"/>
            <a:ext cx="1097280" cy="292608"/>
          </a:xfrm>
          <a:prstGeom prst="rect">
            <a:avLst/>
          </a:prstGeom>
          <a:noFill/>
          <a:ln/>
        </p:spPr>
        <p:txBody>
          <a:bodyPr wrap="square" lIns="0" tIns="0" rIns="0" bIns="0" rtlCol="0" anchor="ctr"/>
          <a:lstStyle/>
          <a:p>
            <a:pPr indent="0" marL="0">
              <a:buNone/>
            </a:pPr>
            <a:r>
              <a:rPr lang="en-US" sz="1300" dirty="0">
                <a:solidFill>
                  <a:schemeClr val="tx1"/>
                </a:solidFill>
              </a:rPr>
              <a:t>pH</a:t>
            </a:r>
            <a:endParaRPr lang="en-US" sz="1300" dirty="0"/>
          </a:p>
        </p:txBody>
      </p:sp>
      <p:sp>
        <p:nvSpPr>
          <p:cNvPr id="22" name="global-bar-3"/>
          <p:cNvSpPr/>
          <p:nvPr/>
        </p:nvSpPr>
        <p:spPr>
          <a:xfrm>
            <a:off x="1920240" y="3328416"/>
            <a:ext cx="1228954" cy="219456"/>
          </a:xfrm>
          <a:prstGeom prst="roundRect">
            <a:avLst>
              <a:gd name="adj" fmla="val 16667"/>
            </a:avLst>
          </a:prstGeom>
          <a:solidFill>
            <a:schemeClr val="accent1"/>
          </a:solidFill>
          <a:ln/>
        </p:spPr>
      </p:sp>
      <p:sp>
        <p:nvSpPr>
          <p:cNvPr id="23" name="Text 17"/>
          <p:cNvSpPr txBox="1"/>
          <p:nvPr/>
        </p:nvSpPr>
        <p:spPr>
          <a:xfrm>
            <a:off x="777240" y="3749040"/>
            <a:ext cx="1097280" cy="292608"/>
          </a:xfrm>
          <a:prstGeom prst="rect">
            <a:avLst/>
          </a:prstGeom>
          <a:noFill/>
          <a:ln/>
        </p:spPr>
        <p:txBody>
          <a:bodyPr wrap="square" lIns="0" tIns="0" rIns="0" bIns="0" rtlCol="0" anchor="ctr"/>
          <a:lstStyle/>
          <a:p>
            <a:pPr indent="0" marL="0">
              <a:buNone/>
            </a:pPr>
            <a:r>
              <a:rPr lang="en-US" sz="1300" dirty="0">
                <a:solidFill>
                  <a:schemeClr val="tx1"/>
                </a:solidFill>
              </a:rPr>
              <a:t>Temperature</a:t>
            </a:r>
            <a:endParaRPr lang="en-US" sz="1300" dirty="0"/>
          </a:p>
        </p:txBody>
      </p:sp>
      <p:sp>
        <p:nvSpPr>
          <p:cNvPr id="24" name="global-bar-4"/>
          <p:cNvSpPr/>
          <p:nvPr/>
        </p:nvSpPr>
        <p:spPr>
          <a:xfrm>
            <a:off x="1920240" y="3785616"/>
            <a:ext cx="960120" cy="219456"/>
          </a:xfrm>
          <a:prstGeom prst="roundRect">
            <a:avLst>
              <a:gd name="adj" fmla="val 16667"/>
            </a:avLst>
          </a:prstGeom>
          <a:solidFill>
            <a:schemeClr val="accent1"/>
          </a:solidFill>
          <a:ln/>
        </p:spPr>
      </p:sp>
      <p:sp>
        <p:nvSpPr>
          <p:cNvPr id="25" name="Text 19"/>
          <p:cNvSpPr txBox="1"/>
          <p:nvPr/>
        </p:nvSpPr>
        <p:spPr>
          <a:xfrm>
            <a:off x="777240" y="4206240"/>
            <a:ext cx="1097280" cy="292608"/>
          </a:xfrm>
          <a:prstGeom prst="rect">
            <a:avLst/>
          </a:prstGeom>
          <a:noFill/>
          <a:ln/>
        </p:spPr>
        <p:txBody>
          <a:bodyPr wrap="square" lIns="0" tIns="0" rIns="0" bIns="0" rtlCol="0" anchor="ctr"/>
          <a:lstStyle/>
          <a:p>
            <a:pPr indent="0" marL="0">
              <a:buNone/>
            </a:pPr>
            <a:r>
              <a:rPr lang="en-US" sz="1300" dirty="0">
                <a:solidFill>
                  <a:schemeClr val="tx1"/>
                </a:solidFill>
              </a:rPr>
              <a:t>Phosphorus</a:t>
            </a:r>
            <a:endParaRPr lang="en-US" sz="1300" dirty="0"/>
          </a:p>
        </p:txBody>
      </p:sp>
      <p:sp>
        <p:nvSpPr>
          <p:cNvPr id="26" name="global-bar-5"/>
          <p:cNvSpPr/>
          <p:nvPr/>
        </p:nvSpPr>
        <p:spPr>
          <a:xfrm>
            <a:off x="1920240" y="4242816"/>
            <a:ext cx="691286" cy="219456"/>
          </a:xfrm>
          <a:prstGeom prst="roundRect">
            <a:avLst>
              <a:gd name="adj" fmla="val 16667"/>
            </a:avLst>
          </a:prstGeom>
          <a:solidFill>
            <a:schemeClr val="accent1"/>
          </a:solidFill>
          <a:ln/>
        </p:spPr>
      </p:sp>
      <p:sp>
        <p:nvSpPr>
          <p:cNvPr id="27" name="Text 21"/>
          <p:cNvSpPr txBox="1"/>
          <p:nvPr/>
        </p:nvSpPr>
        <p:spPr>
          <a:xfrm>
            <a:off x="777240" y="4663440"/>
            <a:ext cx="1097280" cy="292608"/>
          </a:xfrm>
          <a:prstGeom prst="rect">
            <a:avLst/>
          </a:prstGeom>
          <a:noFill/>
          <a:ln/>
        </p:spPr>
        <p:txBody>
          <a:bodyPr wrap="square" lIns="0" tIns="0" rIns="0" bIns="0" rtlCol="0" anchor="ctr"/>
          <a:lstStyle/>
          <a:p>
            <a:pPr indent="0" marL="0">
              <a:buNone/>
            </a:pPr>
            <a:r>
              <a:rPr lang="en-US" sz="1300" dirty="0">
                <a:solidFill>
                  <a:schemeClr val="tx1"/>
                </a:solidFill>
              </a:rPr>
              <a:t>Potassium</a:t>
            </a:r>
            <a:endParaRPr lang="en-US" sz="1300" dirty="0"/>
          </a:p>
        </p:txBody>
      </p:sp>
      <p:sp>
        <p:nvSpPr>
          <p:cNvPr id="28" name="global-bar-6"/>
          <p:cNvSpPr/>
          <p:nvPr/>
        </p:nvSpPr>
        <p:spPr>
          <a:xfrm>
            <a:off x="1920240" y="4700016"/>
            <a:ext cx="499262" cy="219456"/>
          </a:xfrm>
          <a:prstGeom prst="roundRect">
            <a:avLst>
              <a:gd name="adj" fmla="val 16667"/>
            </a:avLst>
          </a:prstGeom>
          <a:solidFill>
            <a:schemeClr val="accent1"/>
          </a:solidFill>
          <a:ln/>
        </p:spPr>
      </p:sp>
      <p:sp>
        <p:nvSpPr>
          <p:cNvPr id="29" name="Text 23"/>
          <p:cNvSpPr txBox="1"/>
          <p:nvPr/>
        </p:nvSpPr>
        <p:spPr>
          <a:xfrm>
            <a:off x="777240" y="4937760"/>
            <a:ext cx="3063240" cy="365760"/>
          </a:xfrm>
          <a:prstGeom prst="rect">
            <a:avLst/>
          </a:prstGeom>
          <a:noFill/>
          <a:ln/>
        </p:spPr>
        <p:txBody>
          <a:bodyPr wrap="square" lIns="0" tIns="0" rIns="0" bIns="0" rtlCol="0" anchor="t"/>
          <a:lstStyle/>
          <a:p>
            <a:pPr indent="0" marL="0">
              <a:buNone/>
            </a:pPr>
            <a:r>
              <a:rPr lang="en-US" sz="1100" i="1" dirty="0">
                <a:solidFill>
                  <a:schemeClr val="accent6"/>
                </a:solidFill>
              </a:rPr>
              <a:t>Which factors drive recommendations across all crops</a:t>
            </a:r>
            <a:endParaRPr lang="en-US" sz="1100" dirty="0"/>
          </a:p>
        </p:txBody>
      </p:sp>
      <p:sp>
        <p:nvSpPr>
          <p:cNvPr id="30" name="Text 24"/>
          <p:cNvSpPr txBox="1"/>
          <p:nvPr/>
        </p:nvSpPr>
        <p:spPr>
          <a:xfrm>
            <a:off x="4572000" y="2377440"/>
            <a:ext cx="3017520" cy="228600"/>
          </a:xfrm>
          <a:prstGeom prst="rect">
            <a:avLst/>
          </a:prstGeom>
          <a:noFill/>
          <a:ln/>
        </p:spPr>
        <p:txBody>
          <a:bodyPr wrap="square" lIns="0" tIns="0" rIns="0" bIns="0" rtlCol="0" anchor="t"/>
          <a:lstStyle/>
          <a:p>
            <a:pPr indent="0" marL="0">
              <a:buNone/>
            </a:pPr>
            <a:r>
              <a:rPr lang="en-US" sz="1300" dirty="0">
                <a:solidFill>
                  <a:schemeClr val="tx1"/>
                </a:solidFill>
              </a:rPr>
              <a:t>Rainfall adequate</a:t>
            </a:r>
            <a:endParaRPr lang="en-US" sz="1300" dirty="0"/>
          </a:p>
        </p:txBody>
      </p:sp>
      <p:sp>
        <p:nvSpPr>
          <p:cNvPr id="31" name="local-bar-1"/>
          <p:cNvSpPr/>
          <p:nvPr/>
        </p:nvSpPr>
        <p:spPr>
          <a:xfrm>
            <a:off x="4572000" y="2633472"/>
            <a:ext cx="1316736" cy="182880"/>
          </a:xfrm>
          <a:prstGeom prst="roundRect">
            <a:avLst>
              <a:gd name="adj" fmla="val 20000"/>
            </a:avLst>
          </a:prstGeom>
          <a:solidFill>
            <a:schemeClr val="accent2"/>
          </a:solidFill>
          <a:ln/>
        </p:spPr>
      </p:sp>
      <p:sp>
        <p:nvSpPr>
          <p:cNvPr id="32" name="Text 26"/>
          <p:cNvSpPr txBox="1"/>
          <p:nvPr/>
        </p:nvSpPr>
        <p:spPr>
          <a:xfrm>
            <a:off x="5980176" y="2606040"/>
            <a:ext cx="1280160" cy="228600"/>
          </a:xfrm>
          <a:prstGeom prst="rect">
            <a:avLst/>
          </a:prstGeom>
          <a:noFill/>
          <a:ln/>
        </p:spPr>
        <p:txBody>
          <a:bodyPr wrap="square" lIns="0" tIns="0" rIns="0" bIns="0" rtlCol="0" anchor="t"/>
          <a:lstStyle/>
          <a:p>
            <a:pPr indent="0" marL="0">
              <a:buNone/>
            </a:pPr>
            <a:r>
              <a:rPr lang="en-US" sz="1100" dirty="0">
                <a:solidFill>
                  <a:schemeClr val="accent6"/>
                </a:solidFill>
              </a:rPr>
              <a:t>pushes up</a:t>
            </a:r>
            <a:endParaRPr lang="en-US" sz="1100" dirty="0"/>
          </a:p>
        </p:txBody>
      </p:sp>
      <p:sp>
        <p:nvSpPr>
          <p:cNvPr id="33" name="Text 27"/>
          <p:cNvSpPr txBox="1"/>
          <p:nvPr/>
        </p:nvSpPr>
        <p:spPr>
          <a:xfrm>
            <a:off x="4572000" y="2907792"/>
            <a:ext cx="3017520" cy="228600"/>
          </a:xfrm>
          <a:prstGeom prst="rect">
            <a:avLst/>
          </a:prstGeom>
          <a:noFill/>
          <a:ln/>
        </p:spPr>
        <p:txBody>
          <a:bodyPr wrap="square" lIns="0" tIns="0" rIns="0" bIns="0" rtlCol="0" anchor="t"/>
          <a:lstStyle/>
          <a:p>
            <a:pPr indent="0" marL="0">
              <a:buNone/>
            </a:pPr>
            <a:r>
              <a:rPr lang="en-US" sz="1300" dirty="0">
                <a:solidFill>
                  <a:schemeClr val="tx1"/>
                </a:solidFill>
              </a:rPr>
              <a:t>Nitrogen in range</a:t>
            </a:r>
            <a:endParaRPr lang="en-US" sz="1300" dirty="0"/>
          </a:p>
        </p:txBody>
      </p:sp>
      <p:sp>
        <p:nvSpPr>
          <p:cNvPr id="34" name="local-bar-2"/>
          <p:cNvSpPr/>
          <p:nvPr/>
        </p:nvSpPr>
        <p:spPr>
          <a:xfrm>
            <a:off x="4572000" y="3163824"/>
            <a:ext cx="877824" cy="182880"/>
          </a:xfrm>
          <a:prstGeom prst="roundRect">
            <a:avLst>
              <a:gd name="adj" fmla="val 20000"/>
            </a:avLst>
          </a:prstGeom>
          <a:solidFill>
            <a:schemeClr val="accent2"/>
          </a:solidFill>
          <a:ln/>
        </p:spPr>
      </p:sp>
      <p:sp>
        <p:nvSpPr>
          <p:cNvPr id="35" name="Text 29"/>
          <p:cNvSpPr txBox="1"/>
          <p:nvPr/>
        </p:nvSpPr>
        <p:spPr>
          <a:xfrm>
            <a:off x="5541264" y="3136392"/>
            <a:ext cx="1280160" cy="228600"/>
          </a:xfrm>
          <a:prstGeom prst="rect">
            <a:avLst/>
          </a:prstGeom>
          <a:noFill/>
          <a:ln/>
        </p:spPr>
        <p:txBody>
          <a:bodyPr wrap="square" lIns="0" tIns="0" rIns="0" bIns="0" rtlCol="0" anchor="t"/>
          <a:lstStyle/>
          <a:p>
            <a:pPr indent="0" marL="0">
              <a:buNone/>
            </a:pPr>
            <a:r>
              <a:rPr lang="en-US" sz="1100" dirty="0">
                <a:solidFill>
                  <a:schemeClr val="accent6"/>
                </a:solidFill>
              </a:rPr>
              <a:t>pushes up</a:t>
            </a:r>
            <a:endParaRPr lang="en-US" sz="1100" dirty="0"/>
          </a:p>
        </p:txBody>
      </p:sp>
      <p:sp>
        <p:nvSpPr>
          <p:cNvPr id="36" name="Text 30"/>
          <p:cNvSpPr txBox="1"/>
          <p:nvPr/>
        </p:nvSpPr>
        <p:spPr>
          <a:xfrm>
            <a:off x="4572000" y="3438144"/>
            <a:ext cx="3017520" cy="228600"/>
          </a:xfrm>
          <a:prstGeom prst="rect">
            <a:avLst/>
          </a:prstGeom>
          <a:noFill/>
          <a:ln/>
        </p:spPr>
        <p:txBody>
          <a:bodyPr wrap="square" lIns="0" tIns="0" rIns="0" bIns="0" rtlCol="0" anchor="t"/>
          <a:lstStyle/>
          <a:p>
            <a:pPr indent="0" marL="0">
              <a:buNone/>
            </a:pPr>
            <a:r>
              <a:rPr lang="en-US" sz="1300" dirty="0">
                <a:solidFill>
                  <a:schemeClr val="tx1"/>
                </a:solidFill>
              </a:rPr>
              <a:t>pH favourable</a:t>
            </a:r>
            <a:endParaRPr lang="en-US" sz="1300" dirty="0"/>
          </a:p>
        </p:txBody>
      </p:sp>
      <p:sp>
        <p:nvSpPr>
          <p:cNvPr id="37" name="local-bar-3"/>
          <p:cNvSpPr/>
          <p:nvPr/>
        </p:nvSpPr>
        <p:spPr>
          <a:xfrm>
            <a:off x="4572000" y="3694176"/>
            <a:ext cx="585216" cy="182880"/>
          </a:xfrm>
          <a:prstGeom prst="roundRect">
            <a:avLst>
              <a:gd name="adj" fmla="val 20000"/>
            </a:avLst>
          </a:prstGeom>
          <a:solidFill>
            <a:schemeClr val="accent2"/>
          </a:solidFill>
          <a:ln/>
        </p:spPr>
      </p:sp>
      <p:sp>
        <p:nvSpPr>
          <p:cNvPr id="38" name="Text 32"/>
          <p:cNvSpPr txBox="1"/>
          <p:nvPr/>
        </p:nvSpPr>
        <p:spPr>
          <a:xfrm>
            <a:off x="5248656" y="3666744"/>
            <a:ext cx="1280160" cy="228600"/>
          </a:xfrm>
          <a:prstGeom prst="rect">
            <a:avLst/>
          </a:prstGeom>
          <a:noFill/>
          <a:ln/>
        </p:spPr>
        <p:txBody>
          <a:bodyPr wrap="square" lIns="0" tIns="0" rIns="0" bIns="0" rtlCol="0" anchor="t"/>
          <a:lstStyle/>
          <a:p>
            <a:pPr indent="0" marL="0">
              <a:buNone/>
            </a:pPr>
            <a:r>
              <a:rPr lang="en-US" sz="1100" dirty="0">
                <a:solidFill>
                  <a:schemeClr val="accent6"/>
                </a:solidFill>
              </a:rPr>
              <a:t>pushes up</a:t>
            </a:r>
            <a:endParaRPr lang="en-US" sz="1100" dirty="0"/>
          </a:p>
        </p:txBody>
      </p:sp>
      <p:sp>
        <p:nvSpPr>
          <p:cNvPr id="39" name="Text 33"/>
          <p:cNvSpPr txBox="1"/>
          <p:nvPr/>
        </p:nvSpPr>
        <p:spPr>
          <a:xfrm>
            <a:off x="4572000" y="3968496"/>
            <a:ext cx="3017520" cy="228600"/>
          </a:xfrm>
          <a:prstGeom prst="rect">
            <a:avLst/>
          </a:prstGeom>
          <a:noFill/>
          <a:ln/>
        </p:spPr>
        <p:txBody>
          <a:bodyPr wrap="square" lIns="0" tIns="0" rIns="0" bIns="0" rtlCol="0" anchor="t"/>
          <a:lstStyle/>
          <a:p>
            <a:pPr indent="0" marL="0">
              <a:buNone/>
            </a:pPr>
            <a:r>
              <a:rPr lang="en-US" sz="1300" dirty="0">
                <a:solidFill>
                  <a:schemeClr val="tx1"/>
                </a:solidFill>
              </a:rPr>
              <a:t>Potassium low</a:t>
            </a:r>
            <a:endParaRPr lang="en-US" sz="1300" dirty="0"/>
          </a:p>
        </p:txBody>
      </p:sp>
      <p:sp>
        <p:nvSpPr>
          <p:cNvPr id="40" name="local-bar-4"/>
          <p:cNvSpPr/>
          <p:nvPr/>
        </p:nvSpPr>
        <p:spPr>
          <a:xfrm>
            <a:off x="4572000" y="4224528"/>
            <a:ext cx="658368" cy="182880"/>
          </a:xfrm>
          <a:prstGeom prst="roundRect">
            <a:avLst>
              <a:gd name="adj" fmla="val 20000"/>
            </a:avLst>
          </a:prstGeom>
          <a:solidFill>
            <a:schemeClr val="accent5"/>
          </a:solidFill>
          <a:ln/>
        </p:spPr>
      </p:sp>
      <p:sp>
        <p:nvSpPr>
          <p:cNvPr id="41" name="Text 35"/>
          <p:cNvSpPr txBox="1"/>
          <p:nvPr/>
        </p:nvSpPr>
        <p:spPr>
          <a:xfrm>
            <a:off x="5321808" y="4197096"/>
            <a:ext cx="1280160" cy="228600"/>
          </a:xfrm>
          <a:prstGeom prst="rect">
            <a:avLst/>
          </a:prstGeom>
          <a:noFill/>
          <a:ln/>
        </p:spPr>
        <p:txBody>
          <a:bodyPr wrap="square" lIns="0" tIns="0" rIns="0" bIns="0" rtlCol="0" anchor="t"/>
          <a:lstStyle/>
          <a:p>
            <a:pPr indent="0" marL="0">
              <a:buNone/>
            </a:pPr>
            <a:r>
              <a:rPr lang="en-US" sz="1100" dirty="0">
                <a:solidFill>
                  <a:schemeClr val="accent6"/>
                </a:solidFill>
              </a:rPr>
              <a:t>pulls down</a:t>
            </a:r>
            <a:endParaRPr lang="en-US" sz="1100" dirty="0"/>
          </a:p>
        </p:txBody>
      </p:sp>
      <p:sp>
        <p:nvSpPr>
          <p:cNvPr id="42" name="Text 36"/>
          <p:cNvSpPr txBox="1"/>
          <p:nvPr/>
        </p:nvSpPr>
        <p:spPr>
          <a:xfrm>
            <a:off x="4572000" y="4498848"/>
            <a:ext cx="3017520" cy="228600"/>
          </a:xfrm>
          <a:prstGeom prst="rect">
            <a:avLst/>
          </a:prstGeom>
          <a:noFill/>
          <a:ln/>
        </p:spPr>
        <p:txBody>
          <a:bodyPr wrap="square" lIns="0" tIns="0" rIns="0" bIns="0" rtlCol="0" anchor="t"/>
          <a:lstStyle/>
          <a:p>
            <a:pPr indent="0" marL="0">
              <a:buNone/>
            </a:pPr>
            <a:r>
              <a:rPr lang="en-US" sz="1300" dirty="0">
                <a:solidFill>
                  <a:schemeClr val="tx1"/>
                </a:solidFill>
              </a:rPr>
              <a:t>Temperature</a:t>
            </a:r>
            <a:endParaRPr lang="en-US" sz="1300" dirty="0"/>
          </a:p>
        </p:txBody>
      </p:sp>
      <p:sp>
        <p:nvSpPr>
          <p:cNvPr id="43" name="local-bar-5"/>
          <p:cNvSpPr/>
          <p:nvPr/>
        </p:nvSpPr>
        <p:spPr>
          <a:xfrm>
            <a:off x="4572000" y="4754880"/>
            <a:ext cx="219456" cy="182880"/>
          </a:xfrm>
          <a:prstGeom prst="roundRect">
            <a:avLst>
              <a:gd name="adj" fmla="val 20000"/>
            </a:avLst>
          </a:prstGeom>
          <a:solidFill>
            <a:schemeClr val="accent2"/>
          </a:solidFill>
          <a:ln/>
        </p:spPr>
      </p:sp>
      <p:sp>
        <p:nvSpPr>
          <p:cNvPr id="44" name="Text 38"/>
          <p:cNvSpPr txBox="1"/>
          <p:nvPr/>
        </p:nvSpPr>
        <p:spPr>
          <a:xfrm>
            <a:off x="4882896" y="4727448"/>
            <a:ext cx="1280160" cy="228600"/>
          </a:xfrm>
          <a:prstGeom prst="rect">
            <a:avLst/>
          </a:prstGeom>
          <a:noFill/>
          <a:ln/>
        </p:spPr>
        <p:txBody>
          <a:bodyPr wrap="square" lIns="0" tIns="0" rIns="0" bIns="0" rtlCol="0" anchor="t"/>
          <a:lstStyle/>
          <a:p>
            <a:pPr indent="0" marL="0">
              <a:buNone/>
            </a:pPr>
            <a:r>
              <a:rPr lang="en-US" sz="1100" dirty="0">
                <a:solidFill>
                  <a:schemeClr val="accent6"/>
                </a:solidFill>
              </a:rPr>
              <a:t>pushes up</a:t>
            </a:r>
            <a:endParaRPr lang="en-US" sz="1100" dirty="0"/>
          </a:p>
        </p:txBody>
      </p:sp>
      <p:sp>
        <p:nvSpPr>
          <p:cNvPr id="45" name="Text 39"/>
          <p:cNvSpPr txBox="1"/>
          <p:nvPr/>
        </p:nvSpPr>
        <p:spPr>
          <a:xfrm>
            <a:off x="4572000" y="4937760"/>
            <a:ext cx="3063240" cy="365760"/>
          </a:xfrm>
          <a:prstGeom prst="rect">
            <a:avLst/>
          </a:prstGeom>
          <a:noFill/>
          <a:ln/>
        </p:spPr>
        <p:txBody>
          <a:bodyPr wrap="square" lIns="0" tIns="0" rIns="0" bIns="0" rtlCol="0" anchor="t"/>
          <a:lstStyle/>
          <a:p>
            <a:pPr indent="0" marL="0">
              <a:buNone/>
            </a:pPr>
            <a:r>
              <a:rPr lang="en-US" sz="1100" i="1" dirty="0">
                <a:solidFill>
                  <a:schemeClr val="accent6"/>
                </a:solidFill>
              </a:rPr>
              <a:t>Reasons for and against, for this farm</a:t>
            </a:r>
            <a:endParaRPr lang="en-US" sz="1100" dirty="0"/>
          </a:p>
        </p:txBody>
      </p:sp>
      <p:sp>
        <p:nvSpPr>
          <p:cNvPr id="46" name="Text 40"/>
          <p:cNvSpPr txBox="1"/>
          <p:nvPr/>
        </p:nvSpPr>
        <p:spPr>
          <a:xfrm>
            <a:off x="8366760" y="2377440"/>
            <a:ext cx="914400" cy="274320"/>
          </a:xfrm>
          <a:prstGeom prst="rect">
            <a:avLst/>
          </a:prstGeom>
          <a:noFill/>
          <a:ln/>
        </p:spPr>
        <p:txBody>
          <a:bodyPr wrap="square" lIns="0" tIns="0" rIns="0" bIns="0" rtlCol="0" anchor="ctr"/>
          <a:lstStyle/>
          <a:p>
            <a:pPr indent="0" marL="0">
              <a:buNone/>
            </a:pPr>
            <a:r>
              <a:rPr lang="en-US" sz="1300" dirty="0">
                <a:solidFill>
                  <a:schemeClr val="tx1"/>
                </a:solidFill>
              </a:rPr>
              <a:t>N</a:t>
            </a:r>
            <a:endParaRPr lang="en-US" sz="1300" dirty="0"/>
          </a:p>
        </p:txBody>
      </p:sp>
      <p:sp>
        <p:nvSpPr>
          <p:cNvPr id="47" name="slider-track-1"/>
          <p:cNvSpPr/>
          <p:nvPr/>
        </p:nvSpPr>
        <p:spPr>
          <a:xfrm>
            <a:off x="9281160" y="2487168"/>
            <a:ext cx="2103120" cy="64008"/>
          </a:xfrm>
          <a:prstGeom prst="roundRect">
            <a:avLst>
              <a:gd name="adj" fmla="val 42857"/>
            </a:avLst>
          </a:prstGeom>
          <a:solidFill>
            <a:schemeClr val="accent3"/>
          </a:solidFill>
          <a:ln/>
        </p:spPr>
      </p:sp>
      <p:sp>
        <p:nvSpPr>
          <p:cNvPr id="48" name="slider-knob-1"/>
          <p:cNvSpPr/>
          <p:nvPr/>
        </p:nvSpPr>
        <p:spPr>
          <a:xfrm>
            <a:off x="10319004" y="2400300"/>
            <a:ext cx="237744" cy="237744"/>
          </a:xfrm>
          <a:prstGeom prst="ellipse">
            <a:avLst/>
          </a:prstGeom>
          <a:solidFill>
            <a:schemeClr val="accent1"/>
          </a:solidFill>
          <a:ln/>
        </p:spPr>
      </p:sp>
      <p:sp>
        <p:nvSpPr>
          <p:cNvPr id="49" name="Text 43"/>
          <p:cNvSpPr txBox="1"/>
          <p:nvPr/>
        </p:nvSpPr>
        <p:spPr>
          <a:xfrm>
            <a:off x="8366760" y="2788920"/>
            <a:ext cx="914400" cy="274320"/>
          </a:xfrm>
          <a:prstGeom prst="rect">
            <a:avLst/>
          </a:prstGeom>
          <a:noFill/>
          <a:ln/>
        </p:spPr>
        <p:txBody>
          <a:bodyPr wrap="square" lIns="0" tIns="0" rIns="0" bIns="0" rtlCol="0" anchor="ctr"/>
          <a:lstStyle/>
          <a:p>
            <a:pPr indent="0" marL="0">
              <a:buNone/>
            </a:pPr>
            <a:r>
              <a:rPr lang="en-US" sz="1300" dirty="0">
                <a:solidFill>
                  <a:schemeClr val="tx1"/>
                </a:solidFill>
              </a:rPr>
              <a:t>P</a:t>
            </a:r>
            <a:endParaRPr lang="en-US" sz="1300" dirty="0"/>
          </a:p>
        </p:txBody>
      </p:sp>
      <p:sp>
        <p:nvSpPr>
          <p:cNvPr id="50" name="slider-track-2"/>
          <p:cNvSpPr/>
          <p:nvPr/>
        </p:nvSpPr>
        <p:spPr>
          <a:xfrm>
            <a:off x="9281160" y="2898648"/>
            <a:ext cx="2103120" cy="64008"/>
          </a:xfrm>
          <a:prstGeom prst="roundRect">
            <a:avLst>
              <a:gd name="adj" fmla="val 42857"/>
            </a:avLst>
          </a:prstGeom>
          <a:solidFill>
            <a:schemeClr val="accent3"/>
          </a:solidFill>
          <a:ln/>
        </p:spPr>
      </p:sp>
      <p:sp>
        <p:nvSpPr>
          <p:cNvPr id="51" name="slider-knob-2"/>
          <p:cNvSpPr/>
          <p:nvPr/>
        </p:nvSpPr>
        <p:spPr>
          <a:xfrm>
            <a:off x="10003536" y="2811780"/>
            <a:ext cx="237744" cy="237744"/>
          </a:xfrm>
          <a:prstGeom prst="ellipse">
            <a:avLst/>
          </a:prstGeom>
          <a:solidFill>
            <a:schemeClr val="accent1"/>
          </a:solidFill>
          <a:ln/>
        </p:spPr>
      </p:sp>
      <p:sp>
        <p:nvSpPr>
          <p:cNvPr id="52" name="Text 46"/>
          <p:cNvSpPr txBox="1"/>
          <p:nvPr/>
        </p:nvSpPr>
        <p:spPr>
          <a:xfrm>
            <a:off x="8366760" y="3200400"/>
            <a:ext cx="914400" cy="274320"/>
          </a:xfrm>
          <a:prstGeom prst="rect">
            <a:avLst/>
          </a:prstGeom>
          <a:noFill/>
          <a:ln/>
        </p:spPr>
        <p:txBody>
          <a:bodyPr wrap="square" lIns="0" tIns="0" rIns="0" bIns="0" rtlCol="0" anchor="ctr"/>
          <a:lstStyle/>
          <a:p>
            <a:pPr indent="0" marL="0">
              <a:buNone/>
            </a:pPr>
            <a:r>
              <a:rPr lang="en-US" sz="1300" dirty="0">
                <a:solidFill>
                  <a:schemeClr val="tx1"/>
                </a:solidFill>
              </a:rPr>
              <a:t>K</a:t>
            </a:r>
            <a:endParaRPr lang="en-US" sz="1300" dirty="0"/>
          </a:p>
        </p:txBody>
      </p:sp>
      <p:sp>
        <p:nvSpPr>
          <p:cNvPr id="53" name="slider-track-3"/>
          <p:cNvSpPr/>
          <p:nvPr/>
        </p:nvSpPr>
        <p:spPr>
          <a:xfrm>
            <a:off x="9281160" y="3310128"/>
            <a:ext cx="2103120" cy="64008"/>
          </a:xfrm>
          <a:prstGeom prst="roundRect">
            <a:avLst>
              <a:gd name="adj" fmla="val 42857"/>
            </a:avLst>
          </a:prstGeom>
          <a:solidFill>
            <a:schemeClr val="accent3"/>
          </a:solidFill>
          <a:ln/>
        </p:spPr>
      </p:sp>
      <p:sp>
        <p:nvSpPr>
          <p:cNvPr id="54" name="slider-knob-3"/>
          <p:cNvSpPr/>
          <p:nvPr/>
        </p:nvSpPr>
        <p:spPr>
          <a:xfrm>
            <a:off x="9793224" y="3223260"/>
            <a:ext cx="237744" cy="237744"/>
          </a:xfrm>
          <a:prstGeom prst="ellipse">
            <a:avLst/>
          </a:prstGeom>
          <a:solidFill>
            <a:schemeClr val="accent1"/>
          </a:solidFill>
          <a:ln/>
        </p:spPr>
      </p:sp>
      <p:sp>
        <p:nvSpPr>
          <p:cNvPr id="55" name="Text 49"/>
          <p:cNvSpPr txBox="1"/>
          <p:nvPr/>
        </p:nvSpPr>
        <p:spPr>
          <a:xfrm>
            <a:off x="8366760" y="3611880"/>
            <a:ext cx="914400" cy="274320"/>
          </a:xfrm>
          <a:prstGeom prst="rect">
            <a:avLst/>
          </a:prstGeom>
          <a:noFill/>
          <a:ln/>
        </p:spPr>
        <p:txBody>
          <a:bodyPr wrap="square" lIns="0" tIns="0" rIns="0" bIns="0" rtlCol="0" anchor="ctr"/>
          <a:lstStyle/>
          <a:p>
            <a:pPr indent="0" marL="0">
              <a:buNone/>
            </a:pPr>
            <a:r>
              <a:rPr lang="en-US" sz="1300" dirty="0">
                <a:solidFill>
                  <a:schemeClr val="tx1"/>
                </a:solidFill>
              </a:rPr>
              <a:t>pH</a:t>
            </a:r>
            <a:endParaRPr lang="en-US" sz="1300" dirty="0"/>
          </a:p>
        </p:txBody>
      </p:sp>
      <p:sp>
        <p:nvSpPr>
          <p:cNvPr id="56" name="slider-track-4"/>
          <p:cNvSpPr/>
          <p:nvPr/>
        </p:nvSpPr>
        <p:spPr>
          <a:xfrm>
            <a:off x="9281160" y="3721608"/>
            <a:ext cx="2103120" cy="64008"/>
          </a:xfrm>
          <a:prstGeom prst="roundRect">
            <a:avLst>
              <a:gd name="adj" fmla="val 42857"/>
            </a:avLst>
          </a:prstGeom>
          <a:solidFill>
            <a:schemeClr val="accent3"/>
          </a:solidFill>
          <a:ln/>
        </p:spPr>
      </p:sp>
      <p:sp>
        <p:nvSpPr>
          <p:cNvPr id="57" name="slider-knob-4"/>
          <p:cNvSpPr/>
          <p:nvPr/>
        </p:nvSpPr>
        <p:spPr>
          <a:xfrm>
            <a:off x="10424160" y="3634740"/>
            <a:ext cx="237744" cy="237744"/>
          </a:xfrm>
          <a:prstGeom prst="ellipse">
            <a:avLst/>
          </a:prstGeom>
          <a:solidFill>
            <a:schemeClr val="accent1"/>
          </a:solidFill>
          <a:ln/>
        </p:spPr>
      </p:sp>
      <p:sp>
        <p:nvSpPr>
          <p:cNvPr id="58" name="Text 52"/>
          <p:cNvSpPr txBox="1"/>
          <p:nvPr/>
        </p:nvSpPr>
        <p:spPr>
          <a:xfrm>
            <a:off x="8366760" y="4023360"/>
            <a:ext cx="914400" cy="274320"/>
          </a:xfrm>
          <a:prstGeom prst="rect">
            <a:avLst/>
          </a:prstGeom>
          <a:noFill/>
          <a:ln/>
        </p:spPr>
        <p:txBody>
          <a:bodyPr wrap="square" lIns="0" tIns="0" rIns="0" bIns="0" rtlCol="0" anchor="ctr"/>
          <a:lstStyle/>
          <a:p>
            <a:pPr indent="0" marL="0">
              <a:buNone/>
            </a:pPr>
            <a:r>
              <a:rPr lang="en-US" sz="1300" dirty="0">
                <a:solidFill>
                  <a:schemeClr val="tx1"/>
                </a:solidFill>
              </a:rPr>
              <a:t>Rainfall</a:t>
            </a:r>
            <a:endParaRPr lang="en-US" sz="1300" dirty="0"/>
          </a:p>
        </p:txBody>
      </p:sp>
      <p:sp>
        <p:nvSpPr>
          <p:cNvPr id="59" name="slider-track-5"/>
          <p:cNvSpPr/>
          <p:nvPr/>
        </p:nvSpPr>
        <p:spPr>
          <a:xfrm>
            <a:off x="9281160" y="4133088"/>
            <a:ext cx="2103120" cy="64008"/>
          </a:xfrm>
          <a:prstGeom prst="roundRect">
            <a:avLst>
              <a:gd name="adj" fmla="val 42857"/>
            </a:avLst>
          </a:prstGeom>
          <a:solidFill>
            <a:schemeClr val="accent3"/>
          </a:solidFill>
          <a:ln/>
        </p:spPr>
      </p:sp>
      <p:sp>
        <p:nvSpPr>
          <p:cNvPr id="60" name="slider-knob-5"/>
          <p:cNvSpPr/>
          <p:nvPr/>
        </p:nvSpPr>
        <p:spPr>
          <a:xfrm>
            <a:off x="9898380" y="4046220"/>
            <a:ext cx="237744" cy="237744"/>
          </a:xfrm>
          <a:prstGeom prst="ellipse">
            <a:avLst/>
          </a:prstGeom>
          <a:solidFill>
            <a:schemeClr val="accent4"/>
          </a:solidFill>
          <a:ln/>
        </p:spPr>
      </p:sp>
      <p:sp>
        <p:nvSpPr>
          <p:cNvPr id="61" name="scenario-chip"/>
          <p:cNvSpPr/>
          <p:nvPr/>
        </p:nvSpPr>
        <p:spPr>
          <a:xfrm>
            <a:off x="8366760" y="4526280"/>
            <a:ext cx="3044952" cy="640080"/>
          </a:xfrm>
          <a:prstGeom prst="roundRect">
            <a:avLst>
              <a:gd name="adj" fmla="val 11429"/>
            </a:avLst>
          </a:prstGeom>
          <a:solidFill>
            <a:schemeClr val="accent4">
              <a:alpha val="25000"/>
            </a:schemeClr>
          </a:solidFill>
          <a:ln/>
        </p:spPr>
      </p:sp>
      <p:sp>
        <p:nvSpPr>
          <p:cNvPr id="62" name="Text 56"/>
          <p:cNvSpPr txBox="1"/>
          <p:nvPr/>
        </p:nvSpPr>
        <p:spPr>
          <a:xfrm>
            <a:off x="8458200" y="4526280"/>
            <a:ext cx="2862072" cy="640080"/>
          </a:xfrm>
          <a:prstGeom prst="rect">
            <a:avLst/>
          </a:prstGeom>
          <a:noFill/>
          <a:ln/>
        </p:spPr>
        <p:txBody>
          <a:bodyPr wrap="square" lIns="0" tIns="0" rIns="0" bIns="0" rtlCol="0" anchor="ctr"/>
          <a:lstStyle/>
          <a:p>
            <a:pPr indent="0" marL="0">
              <a:buNone/>
            </a:pPr>
            <a:r>
              <a:rPr lang="en-US" sz="1300" b="1" dirty="0">
                <a:solidFill>
                  <a:schemeClr val="tx1"/>
                </a:solidFill>
              </a:rPr>
              <a:t>Rainfall −30%: </a:t>
            </a:r>
            <a:pPr indent="0" marL="0">
              <a:buNone/>
            </a:pPr>
            <a:r>
              <a:rPr lang="en-US" sz="1300" dirty="0">
                <a:solidFill>
                  <a:schemeClr val="tx1"/>
                </a:solidFill>
              </a:rPr>
              <a:t>Rice drops in rank while millets and groundnut rise</a:t>
            </a:r>
            <a:endParaRPr lang="en-US" sz="1300" dirty="0"/>
          </a:p>
        </p:txBody>
      </p:sp>
      <p:sp>
        <p:nvSpPr>
          <p:cNvPr id="63" name="banner"/>
          <p:cNvSpPr/>
          <p:nvPr/>
        </p:nvSpPr>
        <p:spPr>
          <a:xfrm>
            <a:off x="548640" y="5532120"/>
            <a:ext cx="11091672" cy="640080"/>
          </a:xfrm>
          <a:prstGeom prst="roundRect">
            <a:avLst>
              <a:gd name="adj" fmla="val 14286"/>
            </a:avLst>
          </a:prstGeom>
          <a:solidFill>
            <a:schemeClr val="accent3">
              <a:alpha val="50000"/>
            </a:schemeClr>
          </a:solidFill>
          <a:ln/>
        </p:spPr>
      </p:sp>
      <p:sp>
        <p:nvSpPr>
          <p:cNvPr id="64" name="Text 58"/>
          <p:cNvSpPr txBox="1"/>
          <p:nvPr/>
        </p:nvSpPr>
        <p:spPr>
          <a:xfrm>
            <a:off x="548640" y="5532120"/>
            <a:ext cx="11091672" cy="640080"/>
          </a:xfrm>
          <a:prstGeom prst="rect">
            <a:avLst/>
          </a:prstGeom>
          <a:noFill/>
          <a:ln/>
        </p:spPr>
        <p:txBody>
          <a:bodyPr wrap="square" lIns="0" tIns="0" rIns="0" bIns="0" rtlCol="0" anchor="ctr"/>
          <a:lstStyle/>
          <a:p>
            <a:pPr algn="ctr" indent="0" marL="0">
              <a:buNone/>
            </a:pPr>
            <a:r>
              <a:rPr lang="en-US" sz="2000" b="1" i="1" dirty="0">
                <a:solidFill>
                  <a:schemeClr val="tx2"/>
                </a:solidFill>
              </a:rPr>
              <a:t>Local explains the farm. Global explains the model.</a:t>
            </a:r>
            <a:endParaRPr lang="en-US" sz="2000" dirty="0"/>
          </a:p>
        </p:txBody>
      </p:sp>
      <p:sp>
        <p:nvSpPr>
          <p:cNvPr id="65" name="Text 59"/>
          <p:cNvSpPr txBox="1"/>
          <p:nvPr/>
        </p:nvSpPr>
        <p:spPr>
          <a:xfrm>
            <a:off x="548640" y="6236208"/>
            <a:ext cx="2743200" cy="182880"/>
          </a:xfrm>
          <a:prstGeom prst="rect">
            <a:avLst/>
          </a:prstGeom>
          <a:noFill/>
          <a:ln/>
        </p:spPr>
        <p:txBody>
          <a:bodyPr wrap="square" lIns="0" tIns="0" rIns="0" bIns="0" rtlCol="0" anchor="t"/>
          <a:lstStyle/>
          <a:p>
            <a:pPr indent="0" marL="0">
              <a:buNone/>
            </a:pPr>
            <a:r>
              <a:rPr lang="en-US" sz="1000" i="1" dirty="0">
                <a:solidFill>
                  <a:schemeClr val="accent6"/>
                </a:solidFill>
              </a:rPr>
              <a:t>Illustrative visuals</a:t>
            </a:r>
            <a:endParaRPr lang="en-US" sz="1000" dirty="0"/>
          </a:p>
        </p:txBody>
      </p:sp>
      <p:sp>
        <p:nvSpPr>
          <p:cNvPr id="25" name="Slide Number Placeholder 0"/>
          <p:cNvSpPr>
            <a:spLocks noGrp="1"/>
          </p:cNvSpPr>
          <p:nvPr>
            <p:ph type="sldNum" sz="quarter" idx="4294967295"/>
          </p:nvPr>
        </p:nvSpPr>
        <p:spPr>
          <a:xfrm>
            <a:off x="10972800" y="642823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40080"/>
          </a:xfrm>
          <a:prstGeom prst="rect">
            <a:avLst/>
          </a:prstGeom>
          <a:noFill/>
          <a:ln/>
        </p:spPr>
        <p:txBody>
          <a:bodyPr wrap="square" lIns="0" tIns="0" rIns="0" bIns="0" rtlCol="0" anchor="ctr"/>
          <a:lstStyle/>
          <a:p>
            <a:pPr algn="l" indent="0" marL="0">
              <a:buNone/>
            </a:pPr>
            <a:r>
              <a:rPr lang="en-US" sz="3400" b="1" dirty="0">
                <a:solidFill>
                  <a:schemeClr val="tx2"/>
                </a:solidFill>
              </a:rPr>
              <a:t>Hybrid RAG: Answers Only From Official Manuals</a:t>
            </a:r>
            <a:endParaRPr lang="en-US" sz="3400" dirty="0"/>
          </a:p>
        </p:txBody>
      </p:sp>
      <p:sp>
        <p:nvSpPr>
          <p:cNvPr id="4" name="Text 1"/>
          <p:cNvSpPr txBox="1"/>
          <p:nvPr/>
        </p:nvSpPr>
        <p:spPr>
          <a:xfrm>
            <a:off x="548640" y="932688"/>
            <a:ext cx="11091672" cy="365760"/>
          </a:xfrm>
          <a:prstGeom prst="rect">
            <a:avLst/>
          </a:prstGeom>
          <a:noFill/>
          <a:ln/>
        </p:spPr>
        <p:txBody>
          <a:bodyPr wrap="square" lIns="0" tIns="0" rIns="0" bIns="0" rtlCol="0" anchor="t"/>
          <a:lstStyle/>
          <a:p>
            <a:pPr indent="0" marL="0">
              <a:buNone/>
            </a:pPr>
            <a:r>
              <a:rPr lang="en-US" sz="1600" i="1" dirty="0">
                <a:solidFill>
                  <a:schemeClr val="accent6"/>
                </a:solidFill>
              </a:rPr>
              <a:t>Dense meaning plus sparse keywords, merged with Reciprocal Rank Fusion</a:t>
            </a:r>
            <a:endParaRPr lang="en-US" sz="1600" dirty="0"/>
          </a:p>
        </p:txBody>
      </p:sp>
      <p:sp>
        <p:nvSpPr>
          <p:cNvPr id="5" name="question-box"/>
          <p:cNvSpPr/>
          <p:nvPr/>
        </p:nvSpPr>
        <p:spPr>
          <a:xfrm>
            <a:off x="548640" y="2395728"/>
            <a:ext cx="1600200" cy="1097280"/>
          </a:xfrm>
          <a:prstGeom prst="roundRect">
            <a:avLst>
              <a:gd name="adj" fmla="val 8333"/>
            </a:avLst>
          </a:prstGeom>
          <a:solidFill>
            <a:schemeClr val="tx2"/>
          </a:solidFill>
          <a:ln/>
        </p:spPr>
      </p:sp>
      <p:sp>
        <p:nvSpPr>
          <p:cNvPr id="6" name="Text 3"/>
          <p:cNvSpPr txBox="1"/>
          <p:nvPr/>
        </p:nvSpPr>
        <p:spPr>
          <a:xfrm>
            <a:off x="548640" y="2395728"/>
            <a:ext cx="1600200" cy="1097280"/>
          </a:xfrm>
          <a:prstGeom prst="rect">
            <a:avLst/>
          </a:prstGeom>
          <a:noFill/>
          <a:ln/>
        </p:spPr>
        <p:txBody>
          <a:bodyPr wrap="square" lIns="0" tIns="0" rIns="0" bIns="0" rtlCol="0" anchor="ctr"/>
          <a:lstStyle/>
          <a:p>
            <a:pPr algn="ctr" indent="0" marL="0">
              <a:buNone/>
            </a:pPr>
            <a:r>
              <a:rPr lang="en-US" sz="1500" b="1" dirty="0">
                <a:solidFill>
                  <a:schemeClr val="bg1"/>
                </a:solidFill>
              </a:rPr>
              <a:t>Farmer question</a:t>
            </a:r>
            <a:endParaRPr lang="en-US" sz="1500" dirty="0"/>
          </a:p>
        </p:txBody>
      </p:sp>
      <p:sp>
        <p:nvSpPr>
          <p:cNvPr id="7" name="lane-a-0"/>
          <p:cNvSpPr/>
          <p:nvPr/>
        </p:nvSpPr>
        <p:spPr>
          <a:xfrm>
            <a:off x="2606040" y="1508760"/>
            <a:ext cx="2103120" cy="1005840"/>
          </a:xfrm>
          <a:prstGeom prst="roundRect">
            <a:avLst>
              <a:gd name="adj" fmla="val 9091"/>
            </a:avLst>
          </a:prstGeom>
          <a:solidFill>
            <a:schemeClr val="accent2"/>
          </a:solidFill>
          <a:ln/>
        </p:spPr>
      </p:sp>
      <p:sp>
        <p:nvSpPr>
          <p:cNvPr id="8" name="Text 5"/>
          <p:cNvSpPr txBox="1"/>
          <p:nvPr/>
        </p:nvSpPr>
        <p:spPr>
          <a:xfrm>
            <a:off x="2606040" y="1508760"/>
            <a:ext cx="2103120" cy="1005840"/>
          </a:xfrm>
          <a:prstGeom prst="rect">
            <a:avLst/>
          </a:prstGeom>
          <a:noFill/>
          <a:ln/>
        </p:spPr>
        <p:txBody>
          <a:bodyPr wrap="square" lIns="0" tIns="0" rIns="0" bIns="0" rtlCol="0" anchor="ctr"/>
          <a:lstStyle/>
          <a:p>
            <a:pPr algn="ctr" indent="0" marL="0">
              <a:buNone/>
            </a:pPr>
            <a:r>
              <a:rPr lang="en-US" sz="1100" b="1" dirty="0">
                <a:solidFill>
                  <a:schemeClr val="tx1"/>
                </a:solidFill>
              </a:rPr>
              <a:t>DENSE</a:t>
            </a:r>
            <a:endParaRPr lang="en-US" sz="1400" dirty="0"/>
          </a:p>
          <a:p>
            <a:pPr algn="ctr" indent="0" marL="0">
              <a:buNone/>
            </a:pPr>
            <a:r>
              <a:rPr lang="en-US" sz="1400" b="1" dirty="0">
                <a:solidFill>
                  <a:schemeClr val="tx1"/>
                </a:solidFill>
              </a:rPr>
              <a:t>all-MiniLM-L6-v2 embeddings</a:t>
            </a:r>
            <a:endParaRPr lang="en-US" sz="1400" dirty="0"/>
          </a:p>
        </p:txBody>
      </p:sp>
      <p:sp>
        <p:nvSpPr>
          <p:cNvPr id="9" name="lane-b-0"/>
          <p:cNvSpPr/>
          <p:nvPr/>
        </p:nvSpPr>
        <p:spPr>
          <a:xfrm>
            <a:off x="4983480" y="1508760"/>
            <a:ext cx="2011680" cy="1005840"/>
          </a:xfrm>
          <a:prstGeom prst="roundRect">
            <a:avLst>
              <a:gd name="adj" fmla="val 9091"/>
            </a:avLst>
          </a:prstGeom>
          <a:solidFill>
            <a:schemeClr val="accent2"/>
          </a:solidFill>
          <a:ln/>
        </p:spPr>
      </p:sp>
      <p:sp>
        <p:nvSpPr>
          <p:cNvPr id="10" name="Text 7"/>
          <p:cNvSpPr txBox="1"/>
          <p:nvPr/>
        </p:nvSpPr>
        <p:spPr>
          <a:xfrm>
            <a:off x="4983480" y="1508760"/>
            <a:ext cx="2011680" cy="1005840"/>
          </a:xfrm>
          <a:prstGeom prst="rect">
            <a:avLst/>
          </a:prstGeom>
          <a:noFill/>
          <a:ln/>
        </p:spPr>
        <p:txBody>
          <a:bodyPr wrap="square" lIns="0" tIns="0" rIns="0" bIns="0" rtlCol="0" anchor="ctr"/>
          <a:lstStyle/>
          <a:p>
            <a:pPr algn="ctr" indent="0" marL="0">
              <a:buNone/>
            </a:pPr>
            <a:r>
              <a:rPr lang="en-US" sz="1600" b="1" dirty="0">
                <a:solidFill>
                  <a:schemeClr val="tx1"/>
                </a:solidFill>
              </a:rPr>
              <a:t>ChromaDB</a:t>
            </a:r>
            <a:endParaRPr lang="en-US" sz="1400" dirty="0"/>
          </a:p>
          <a:p>
            <a:pPr algn="ctr" indent="0" marL="0">
              <a:buNone/>
            </a:pPr>
            <a:r>
              <a:rPr lang="en-US" sz="1300" dirty="0">
                <a:solidFill>
                  <a:schemeClr val="tx1"/>
                </a:solidFill>
              </a:rPr>
              <a:t>2,892 chunks</a:t>
            </a:r>
            <a:endParaRPr lang="en-US" sz="1400" dirty="0"/>
          </a:p>
        </p:txBody>
      </p:sp>
      <p:sp>
        <p:nvSpPr>
          <p:cNvPr id="11" name="Shape 8"/>
          <p:cNvSpPr/>
          <p:nvPr/>
        </p:nvSpPr>
        <p:spPr>
          <a:xfrm>
            <a:off x="4709160" y="2011680"/>
            <a:ext cx="274320" cy="0"/>
          </a:xfrm>
          <a:prstGeom prst="line">
            <a:avLst/>
          </a:prstGeom>
          <a:noFill/>
          <a:ln w="25400">
            <a:solidFill>
              <a:srgbClr val="2D6A4F"/>
            </a:solidFill>
            <a:prstDash val="solid"/>
            <a:tailEnd type="triangle"/>
          </a:ln>
        </p:spPr>
      </p:sp>
      <p:sp>
        <p:nvSpPr>
          <p:cNvPr id="12" name="lane-a-1"/>
          <p:cNvSpPr/>
          <p:nvPr/>
        </p:nvSpPr>
        <p:spPr>
          <a:xfrm>
            <a:off x="2606040" y="3611880"/>
            <a:ext cx="2103120" cy="1005840"/>
          </a:xfrm>
          <a:prstGeom prst="roundRect">
            <a:avLst>
              <a:gd name="adj" fmla="val 9091"/>
            </a:avLst>
          </a:prstGeom>
          <a:solidFill>
            <a:schemeClr val="accent1"/>
          </a:solidFill>
          <a:ln/>
        </p:spPr>
      </p:sp>
      <p:sp>
        <p:nvSpPr>
          <p:cNvPr id="13" name="Text 10"/>
          <p:cNvSpPr txBox="1"/>
          <p:nvPr/>
        </p:nvSpPr>
        <p:spPr>
          <a:xfrm>
            <a:off x="2606040" y="3611880"/>
            <a:ext cx="2103120" cy="1005840"/>
          </a:xfrm>
          <a:prstGeom prst="rect">
            <a:avLst/>
          </a:prstGeom>
          <a:noFill/>
          <a:ln/>
        </p:spPr>
        <p:txBody>
          <a:bodyPr wrap="square" lIns="0" tIns="0" rIns="0" bIns="0" rtlCol="0" anchor="ctr"/>
          <a:lstStyle/>
          <a:p>
            <a:pPr algn="ctr" indent="0" marL="0">
              <a:buNone/>
            </a:pPr>
            <a:r>
              <a:rPr lang="en-US" sz="1100" b="1" dirty="0">
                <a:solidFill>
                  <a:schemeClr val="bg1"/>
                </a:solidFill>
              </a:rPr>
              <a:t>SPARSE</a:t>
            </a:r>
            <a:endParaRPr lang="en-US" sz="1400" dirty="0"/>
          </a:p>
          <a:p>
            <a:pPr algn="ctr" indent="0" marL="0">
              <a:buNone/>
            </a:pPr>
            <a:r>
              <a:rPr lang="en-US" sz="1400" b="1" dirty="0">
                <a:solidFill>
                  <a:schemeClr val="bg1"/>
                </a:solidFill>
              </a:rPr>
              <a:t>tokenized keywords</a:t>
            </a:r>
            <a:endParaRPr lang="en-US" sz="1400" dirty="0"/>
          </a:p>
        </p:txBody>
      </p:sp>
      <p:sp>
        <p:nvSpPr>
          <p:cNvPr id="14" name="lane-b-1"/>
          <p:cNvSpPr/>
          <p:nvPr/>
        </p:nvSpPr>
        <p:spPr>
          <a:xfrm>
            <a:off x="4983480" y="3611880"/>
            <a:ext cx="2011680" cy="1005840"/>
          </a:xfrm>
          <a:prstGeom prst="roundRect">
            <a:avLst>
              <a:gd name="adj" fmla="val 9091"/>
            </a:avLst>
          </a:prstGeom>
          <a:solidFill>
            <a:schemeClr val="accent1"/>
          </a:solidFill>
          <a:ln/>
        </p:spPr>
      </p:sp>
      <p:sp>
        <p:nvSpPr>
          <p:cNvPr id="15" name="Text 12"/>
          <p:cNvSpPr txBox="1"/>
          <p:nvPr/>
        </p:nvSpPr>
        <p:spPr>
          <a:xfrm>
            <a:off x="4983480" y="3611880"/>
            <a:ext cx="2011680" cy="1005840"/>
          </a:xfrm>
          <a:prstGeom prst="rect">
            <a:avLst/>
          </a:prstGeom>
          <a:noFill/>
          <a:ln/>
        </p:spPr>
        <p:txBody>
          <a:bodyPr wrap="square" lIns="0" tIns="0" rIns="0" bIns="0" rtlCol="0" anchor="ctr"/>
          <a:lstStyle/>
          <a:p>
            <a:pPr algn="ctr" indent="0" marL="0">
              <a:buNone/>
            </a:pPr>
            <a:r>
              <a:rPr lang="en-US" sz="1600" b="1" dirty="0">
                <a:solidFill>
                  <a:schemeClr val="bg1"/>
                </a:solidFill>
              </a:rPr>
              <a:t>BM25</a:t>
            </a:r>
            <a:endParaRPr lang="en-US" sz="1400" dirty="0"/>
          </a:p>
          <a:p>
            <a:pPr algn="ctr" indent="0" marL="0">
              <a:buNone/>
            </a:pPr>
            <a:r>
              <a:rPr lang="en-US" sz="1300" dirty="0">
                <a:solidFill>
                  <a:schemeClr val="bg1"/>
                </a:solidFill>
              </a:rPr>
              <a:t>lexical index</a:t>
            </a:r>
            <a:endParaRPr lang="en-US" sz="1400" dirty="0"/>
          </a:p>
        </p:txBody>
      </p:sp>
      <p:sp>
        <p:nvSpPr>
          <p:cNvPr id="16" name="Shape 13"/>
          <p:cNvSpPr/>
          <p:nvPr/>
        </p:nvSpPr>
        <p:spPr>
          <a:xfrm>
            <a:off x="4709160" y="4114800"/>
            <a:ext cx="274320" cy="0"/>
          </a:xfrm>
          <a:prstGeom prst="line">
            <a:avLst/>
          </a:prstGeom>
          <a:noFill/>
          <a:ln w="25400">
            <a:solidFill>
              <a:srgbClr val="2D6A4F"/>
            </a:solidFill>
            <a:prstDash val="solid"/>
            <a:tailEnd type="triangle"/>
          </a:ln>
        </p:spPr>
      </p:sp>
      <p:sp>
        <p:nvSpPr>
          <p:cNvPr id="17" name="Shape 14"/>
          <p:cNvSpPr/>
          <p:nvPr/>
        </p:nvSpPr>
        <p:spPr>
          <a:xfrm flipV="1">
            <a:off x="2148840" y="2011680"/>
            <a:ext cx="457200" cy="731520"/>
          </a:xfrm>
          <a:prstGeom prst="line">
            <a:avLst/>
          </a:prstGeom>
          <a:noFill/>
          <a:ln w="25400">
            <a:solidFill>
              <a:srgbClr val="2D6A4F"/>
            </a:solidFill>
            <a:prstDash val="solid"/>
            <a:tailEnd type="triangle"/>
          </a:ln>
        </p:spPr>
      </p:sp>
      <p:sp>
        <p:nvSpPr>
          <p:cNvPr id="18" name="Shape 15"/>
          <p:cNvSpPr/>
          <p:nvPr/>
        </p:nvSpPr>
        <p:spPr>
          <a:xfrm>
            <a:off x="2148840" y="3154680"/>
            <a:ext cx="457200" cy="960120"/>
          </a:xfrm>
          <a:prstGeom prst="line">
            <a:avLst/>
          </a:prstGeom>
          <a:noFill/>
          <a:ln w="25400">
            <a:solidFill>
              <a:srgbClr val="2D6A4F"/>
            </a:solidFill>
            <a:prstDash val="solid"/>
            <a:tailEnd type="triangle"/>
          </a:ln>
        </p:spPr>
      </p:sp>
      <p:sp>
        <p:nvSpPr>
          <p:cNvPr id="19" name="rrf-hexagon"/>
          <p:cNvSpPr/>
          <p:nvPr/>
        </p:nvSpPr>
        <p:spPr>
          <a:xfrm>
            <a:off x="7498080" y="2331720"/>
            <a:ext cx="1554480" cy="1280160"/>
          </a:xfrm>
          <a:prstGeom prst="hexagon">
            <a:avLst/>
          </a:prstGeom>
          <a:solidFill>
            <a:schemeClr val="tx2"/>
          </a:solidFill>
          <a:ln/>
        </p:spPr>
      </p:sp>
      <p:sp>
        <p:nvSpPr>
          <p:cNvPr id="20" name="Text 17"/>
          <p:cNvSpPr txBox="1"/>
          <p:nvPr/>
        </p:nvSpPr>
        <p:spPr>
          <a:xfrm>
            <a:off x="7498080" y="2331720"/>
            <a:ext cx="1554480" cy="1280160"/>
          </a:xfrm>
          <a:prstGeom prst="rect">
            <a:avLst/>
          </a:prstGeom>
          <a:noFill/>
          <a:ln/>
        </p:spPr>
        <p:txBody>
          <a:bodyPr wrap="square" lIns="0" tIns="0" rIns="0" bIns="0" rtlCol="0" anchor="ctr"/>
          <a:lstStyle/>
          <a:p>
            <a:pPr algn="ctr" indent="0" marL="0">
              <a:buNone/>
            </a:pPr>
            <a:r>
              <a:rPr lang="en-US" sz="2000" b="1" dirty="0">
                <a:solidFill>
                  <a:schemeClr val="bg1"/>
                </a:solidFill>
              </a:rPr>
              <a:t>RRF</a:t>
            </a:r>
            <a:endParaRPr lang="en-US" sz="1400" dirty="0"/>
          </a:p>
          <a:p>
            <a:pPr algn="ctr" indent="0" marL="0">
              <a:buNone/>
            </a:pPr>
            <a:r>
              <a:rPr lang="en-US" sz="1100" dirty="0">
                <a:solidFill>
                  <a:schemeClr val="bg1"/>
                </a:solidFill>
              </a:rPr>
              <a:t>rank fusion</a:t>
            </a:r>
            <a:endParaRPr lang="en-US" sz="1400" dirty="0"/>
          </a:p>
        </p:txBody>
      </p:sp>
      <p:sp>
        <p:nvSpPr>
          <p:cNvPr id="21" name="Shape 18"/>
          <p:cNvSpPr/>
          <p:nvPr/>
        </p:nvSpPr>
        <p:spPr>
          <a:xfrm>
            <a:off x="6995160" y="2011680"/>
            <a:ext cx="640080" cy="640080"/>
          </a:xfrm>
          <a:prstGeom prst="line">
            <a:avLst/>
          </a:prstGeom>
          <a:noFill/>
          <a:ln w="25400">
            <a:solidFill>
              <a:srgbClr val="2D6A4F"/>
            </a:solidFill>
            <a:prstDash val="solid"/>
            <a:tailEnd type="triangle"/>
          </a:ln>
        </p:spPr>
      </p:sp>
      <p:sp>
        <p:nvSpPr>
          <p:cNvPr id="22" name="Shape 19"/>
          <p:cNvSpPr/>
          <p:nvPr/>
        </p:nvSpPr>
        <p:spPr>
          <a:xfrm flipV="1">
            <a:off x="6995160" y="3291840"/>
            <a:ext cx="640080" cy="822960"/>
          </a:xfrm>
          <a:prstGeom prst="line">
            <a:avLst/>
          </a:prstGeom>
          <a:noFill/>
          <a:ln w="25400">
            <a:solidFill>
              <a:srgbClr val="2D6A4F"/>
            </a:solidFill>
            <a:prstDash val="solid"/>
            <a:tailEnd type="triangle"/>
          </a:ln>
        </p:spPr>
      </p:sp>
      <p:sp>
        <p:nvSpPr>
          <p:cNvPr id="23" name="Shape 20"/>
          <p:cNvSpPr/>
          <p:nvPr/>
        </p:nvSpPr>
        <p:spPr>
          <a:xfrm>
            <a:off x="9052560" y="2971800"/>
            <a:ext cx="365760" cy="0"/>
          </a:xfrm>
          <a:prstGeom prst="line">
            <a:avLst/>
          </a:prstGeom>
          <a:noFill/>
          <a:ln w="25400">
            <a:solidFill>
              <a:srgbClr val="2D6A4F"/>
            </a:solidFill>
            <a:prstDash val="solid"/>
            <a:tailEnd type="triangle"/>
          </a:ln>
        </p:spPr>
      </p:sp>
      <p:sp>
        <p:nvSpPr>
          <p:cNvPr id="24" name="answer-card"/>
          <p:cNvSpPr/>
          <p:nvPr/>
        </p:nvSpPr>
        <p:spPr>
          <a:xfrm>
            <a:off x="9418320" y="1828800"/>
            <a:ext cx="2221992" cy="2286000"/>
          </a:xfrm>
          <a:prstGeom prst="roundRect">
            <a:avLst>
              <a:gd name="adj" fmla="val 4938"/>
            </a:avLst>
          </a:prstGeom>
          <a:solidFill>
            <a:schemeClr val="bg1"/>
          </a:solidFill>
          <a:ln w="9525">
            <a:solidFill>
              <a:schemeClr val="accent3"/>
            </a:solidFill>
            <a:prstDash val="solid"/>
          </a:ln>
          <a:effectLst>
            <a:outerShdw sx="100000" sy="100000" kx="0" ky="0" algn="bl" rotWithShape="0" blurRad="76200" dist="25400" dir="5400000">
              <a:srgbClr val="000000">
                <a:alpha val="12000"/>
              </a:srgbClr>
            </a:outerShdw>
          </a:effectLst>
        </p:spPr>
      </p:sp>
      <p:sp>
        <p:nvSpPr>
          <p:cNvPr id="25" name="icon-bg-FaShieldAlt"/>
          <p:cNvSpPr/>
          <p:nvPr/>
        </p:nvSpPr>
        <p:spPr>
          <a:xfrm>
            <a:off x="9601200" y="1965960"/>
            <a:ext cx="457200" cy="457200"/>
          </a:xfrm>
          <a:prstGeom prst="ellipse">
            <a:avLst/>
          </a:prstGeom>
          <a:solidFill>
            <a:schemeClr val="accent1"/>
          </a:solidFill>
          <a:ln/>
        </p:spPr>
      </p:sp>
      <p:pic>
        <p:nvPicPr>
          <p:cNvPr id="26" name="Image 0" descr="ShieldAlt icon">    </p:cNvPr>
          <p:cNvPicPr>
            <a:picLocks noChangeAspect="1"/>
          </p:cNvPicPr>
          <p:nvPr/>
        </p:nvPicPr>
        <p:blipFill>
          <a:blip r:embed="rId1"/>
          <a:stretch>
            <a:fillRect/>
          </a:stretch>
        </p:blipFill>
        <p:spPr>
          <a:xfrm>
            <a:off x="9715500" y="2080260"/>
            <a:ext cx="228600" cy="228600"/>
          </a:xfrm>
          <a:prstGeom prst="rect">
            <a:avLst/>
          </a:prstGeom>
        </p:spPr>
      </p:pic>
      <p:sp>
        <p:nvSpPr>
          <p:cNvPr id="27" name="Text 23"/>
          <p:cNvSpPr txBox="1"/>
          <p:nvPr/>
        </p:nvSpPr>
        <p:spPr>
          <a:xfrm>
            <a:off x="10149840" y="1965960"/>
            <a:ext cx="1417320" cy="457200"/>
          </a:xfrm>
          <a:prstGeom prst="rect">
            <a:avLst/>
          </a:prstGeom>
          <a:noFill/>
          <a:ln/>
        </p:spPr>
        <p:txBody>
          <a:bodyPr wrap="square" lIns="0" tIns="0" rIns="0" bIns="0" rtlCol="0" anchor="ctr"/>
          <a:lstStyle/>
          <a:p>
            <a:pPr indent="0" marL="0">
              <a:buNone/>
            </a:pPr>
            <a:r>
              <a:rPr lang="en-US" sz="1400" b="1" dirty="0">
                <a:solidFill>
                  <a:schemeClr val="tx2"/>
                </a:solidFill>
              </a:rPr>
              <a:t>Grounded answer</a:t>
            </a:r>
            <a:endParaRPr lang="en-US" sz="1400" dirty="0"/>
          </a:p>
        </p:txBody>
      </p:sp>
      <p:sp>
        <p:nvSpPr>
          <p:cNvPr id="28" name="Text 24"/>
          <p:cNvSpPr txBox="1"/>
          <p:nvPr/>
        </p:nvSpPr>
        <p:spPr>
          <a:xfrm>
            <a:off x="9601200" y="2606040"/>
            <a:ext cx="1920240" cy="1463040"/>
          </a:xfrm>
          <a:prstGeom prst="rect">
            <a:avLst/>
          </a:prstGeom>
          <a:noFill/>
          <a:ln/>
        </p:spPr>
        <p:txBody>
          <a:bodyPr wrap="square" lIns="0" tIns="0" rIns="0" bIns="0" rtlCol="0" anchor="t"/>
          <a:lstStyle/>
          <a:p>
            <a:pPr indent="0" marL="0">
              <a:buNone/>
            </a:pPr>
            <a:r>
              <a:rPr lang="en-US" sz="1200" dirty="0">
                <a:solidFill>
                  <a:schemeClr val="tx1"/>
                </a:solidFill>
              </a:rPr>
              <a:t>Written only from retrieved passages, with citations and a refusal path when evidence is missing</a:t>
            </a:r>
            <a:endParaRPr lang="en-US" sz="1200" dirty="0"/>
          </a:p>
        </p:txBody>
      </p:sp>
      <p:sp>
        <p:nvSpPr>
          <p:cNvPr id="29" name="explain-card-1"/>
          <p:cNvSpPr/>
          <p:nvPr/>
        </p:nvSpPr>
        <p:spPr>
          <a:xfrm>
            <a:off x="548640" y="4937760"/>
            <a:ext cx="3593592" cy="1280160"/>
          </a:xfrm>
          <a:prstGeom prst="roundRect">
            <a:avLst>
              <a:gd name="adj" fmla="val 8571"/>
            </a:avLst>
          </a:prstGeom>
          <a:solidFill>
            <a:schemeClr val="bg1"/>
          </a:solidFill>
          <a:ln w="9525">
            <a:solidFill>
              <a:schemeClr val="accent3"/>
            </a:solidFill>
            <a:prstDash val="solid"/>
          </a:ln>
          <a:effectLst>
            <a:outerShdw sx="100000" sy="100000" kx="0" ky="0" algn="bl" rotWithShape="0" blurRad="76200" dist="25400" dir="5400000">
              <a:srgbClr val="000000">
                <a:alpha val="12000"/>
              </a:srgbClr>
            </a:outerShdw>
          </a:effectLst>
        </p:spPr>
      </p:sp>
      <p:sp>
        <p:nvSpPr>
          <p:cNvPr id="30" name="Text 26"/>
          <p:cNvSpPr txBox="1"/>
          <p:nvPr/>
        </p:nvSpPr>
        <p:spPr>
          <a:xfrm>
            <a:off x="777240" y="5047488"/>
            <a:ext cx="3108960" cy="320040"/>
          </a:xfrm>
          <a:prstGeom prst="rect">
            <a:avLst/>
          </a:prstGeom>
          <a:noFill/>
          <a:ln/>
        </p:spPr>
        <p:txBody>
          <a:bodyPr wrap="square" lIns="0" tIns="0" rIns="0" bIns="0" rtlCol="0" anchor="t"/>
          <a:lstStyle/>
          <a:p>
            <a:pPr indent="0" marL="0">
              <a:buNone/>
            </a:pPr>
            <a:r>
              <a:rPr lang="en-US" sz="1600" b="1" dirty="0">
                <a:solidFill>
                  <a:schemeClr val="accent1"/>
                </a:solidFill>
              </a:rPr>
              <a:t>Dense</a:t>
            </a:r>
            <a:endParaRPr lang="en-US" sz="1600" dirty="0"/>
          </a:p>
        </p:txBody>
      </p:sp>
      <p:sp>
        <p:nvSpPr>
          <p:cNvPr id="31" name="Text 27"/>
          <p:cNvSpPr txBox="1"/>
          <p:nvPr/>
        </p:nvSpPr>
        <p:spPr>
          <a:xfrm>
            <a:off x="777240" y="5394960"/>
            <a:ext cx="3154680" cy="777240"/>
          </a:xfrm>
          <a:prstGeom prst="rect">
            <a:avLst/>
          </a:prstGeom>
          <a:noFill/>
          <a:ln/>
        </p:spPr>
        <p:txBody>
          <a:bodyPr wrap="square" lIns="0" tIns="0" rIns="0" bIns="0" rtlCol="0" anchor="t"/>
          <a:lstStyle/>
          <a:p>
            <a:pPr indent="0" marL="0">
              <a:buNone/>
            </a:pPr>
            <a:r>
              <a:rPr lang="en-US" sz="1400" dirty="0">
                <a:solidFill>
                  <a:schemeClr val="tx1"/>
                </a:solidFill>
              </a:rPr>
              <a:t>Finds meaning: “yellowing leaves” surfaces chlorosis passages.</a:t>
            </a:r>
            <a:endParaRPr lang="en-US" sz="1400" dirty="0"/>
          </a:p>
        </p:txBody>
      </p:sp>
      <p:sp>
        <p:nvSpPr>
          <p:cNvPr id="32" name="explain-card-2"/>
          <p:cNvSpPr/>
          <p:nvPr/>
        </p:nvSpPr>
        <p:spPr>
          <a:xfrm>
            <a:off x="4297680" y="4937760"/>
            <a:ext cx="3593592" cy="1280160"/>
          </a:xfrm>
          <a:prstGeom prst="roundRect">
            <a:avLst>
              <a:gd name="adj" fmla="val 8571"/>
            </a:avLst>
          </a:prstGeom>
          <a:solidFill>
            <a:schemeClr val="bg1"/>
          </a:solidFill>
          <a:ln w="9525">
            <a:solidFill>
              <a:schemeClr val="accent3"/>
            </a:solidFill>
            <a:prstDash val="solid"/>
          </a:ln>
          <a:effectLst>
            <a:outerShdw sx="100000" sy="100000" kx="0" ky="0" algn="bl" rotWithShape="0" blurRad="76200" dist="25400" dir="5400000">
              <a:srgbClr val="000000">
                <a:alpha val="12000"/>
              </a:srgbClr>
            </a:outerShdw>
          </a:effectLst>
        </p:spPr>
      </p:sp>
      <p:sp>
        <p:nvSpPr>
          <p:cNvPr id="33" name="Text 29"/>
          <p:cNvSpPr txBox="1"/>
          <p:nvPr/>
        </p:nvSpPr>
        <p:spPr>
          <a:xfrm>
            <a:off x="4526280" y="5047488"/>
            <a:ext cx="3108960" cy="320040"/>
          </a:xfrm>
          <a:prstGeom prst="rect">
            <a:avLst/>
          </a:prstGeom>
          <a:noFill/>
          <a:ln/>
        </p:spPr>
        <p:txBody>
          <a:bodyPr wrap="square" lIns="0" tIns="0" rIns="0" bIns="0" rtlCol="0" anchor="t"/>
          <a:lstStyle/>
          <a:p>
            <a:pPr indent="0" marL="0">
              <a:buNone/>
            </a:pPr>
            <a:r>
              <a:rPr lang="en-US" sz="1600" b="1" dirty="0">
                <a:solidFill>
                  <a:schemeClr val="accent1"/>
                </a:solidFill>
              </a:rPr>
              <a:t>Sparse</a:t>
            </a:r>
            <a:endParaRPr lang="en-US" sz="1600" dirty="0"/>
          </a:p>
        </p:txBody>
      </p:sp>
      <p:sp>
        <p:nvSpPr>
          <p:cNvPr id="34" name="Text 30"/>
          <p:cNvSpPr txBox="1"/>
          <p:nvPr/>
        </p:nvSpPr>
        <p:spPr>
          <a:xfrm>
            <a:off x="4526280" y="5394960"/>
            <a:ext cx="3154680" cy="777240"/>
          </a:xfrm>
          <a:prstGeom prst="rect">
            <a:avLst/>
          </a:prstGeom>
          <a:noFill/>
          <a:ln/>
        </p:spPr>
        <p:txBody>
          <a:bodyPr wrap="square" lIns="0" tIns="0" rIns="0" bIns="0" rtlCol="0" anchor="t"/>
          <a:lstStyle/>
          <a:p>
            <a:pPr indent="0" marL="0">
              <a:buNone/>
            </a:pPr>
            <a:r>
              <a:rPr lang="en-US" sz="1400" dirty="0">
                <a:solidFill>
                  <a:schemeClr val="tx1"/>
                </a:solidFill>
              </a:rPr>
              <a:t>Catches exact terms such as pesticide names and doses.</a:t>
            </a:r>
            <a:endParaRPr lang="en-US" sz="1400" dirty="0"/>
          </a:p>
        </p:txBody>
      </p:sp>
      <p:sp>
        <p:nvSpPr>
          <p:cNvPr id="35" name="explain-card-3"/>
          <p:cNvSpPr/>
          <p:nvPr/>
        </p:nvSpPr>
        <p:spPr>
          <a:xfrm>
            <a:off x="8046720" y="4937760"/>
            <a:ext cx="3593592" cy="1280160"/>
          </a:xfrm>
          <a:prstGeom prst="roundRect">
            <a:avLst>
              <a:gd name="adj" fmla="val 8571"/>
            </a:avLst>
          </a:prstGeom>
          <a:solidFill>
            <a:schemeClr val="bg1"/>
          </a:solidFill>
          <a:ln w="9525">
            <a:solidFill>
              <a:schemeClr val="accent3"/>
            </a:solidFill>
            <a:prstDash val="solid"/>
          </a:ln>
          <a:effectLst>
            <a:outerShdw sx="100000" sy="100000" kx="0" ky="0" algn="bl" rotWithShape="0" blurRad="76200" dist="25400" dir="5400000">
              <a:srgbClr val="000000">
                <a:alpha val="12000"/>
              </a:srgbClr>
            </a:outerShdw>
          </a:effectLst>
        </p:spPr>
      </p:sp>
      <p:sp>
        <p:nvSpPr>
          <p:cNvPr id="36" name="Text 32"/>
          <p:cNvSpPr txBox="1"/>
          <p:nvPr/>
        </p:nvSpPr>
        <p:spPr>
          <a:xfrm>
            <a:off x="8275320" y="5047488"/>
            <a:ext cx="3108960" cy="320040"/>
          </a:xfrm>
          <a:prstGeom prst="rect">
            <a:avLst/>
          </a:prstGeom>
          <a:noFill/>
          <a:ln/>
        </p:spPr>
        <p:txBody>
          <a:bodyPr wrap="square" lIns="0" tIns="0" rIns="0" bIns="0" rtlCol="0" anchor="t"/>
          <a:lstStyle/>
          <a:p>
            <a:pPr indent="0" marL="0">
              <a:buNone/>
            </a:pPr>
            <a:r>
              <a:rPr lang="en-US" sz="1600" b="1" dirty="0">
                <a:solidFill>
                  <a:schemeClr val="accent1"/>
                </a:solidFill>
              </a:rPr>
              <a:t>RRF</a:t>
            </a:r>
            <a:endParaRPr lang="en-US" sz="1600" dirty="0"/>
          </a:p>
        </p:txBody>
      </p:sp>
      <p:sp>
        <p:nvSpPr>
          <p:cNvPr id="37" name="Text 33"/>
          <p:cNvSpPr txBox="1"/>
          <p:nvPr/>
        </p:nvSpPr>
        <p:spPr>
          <a:xfrm>
            <a:off x="8275320" y="5394960"/>
            <a:ext cx="3154680" cy="777240"/>
          </a:xfrm>
          <a:prstGeom prst="rect">
            <a:avLst/>
          </a:prstGeom>
          <a:noFill/>
          <a:ln/>
        </p:spPr>
        <p:txBody>
          <a:bodyPr wrap="square" lIns="0" tIns="0" rIns="0" bIns="0" rtlCol="0" anchor="t"/>
          <a:lstStyle/>
          <a:p>
            <a:pPr indent="0" marL="0">
              <a:buNone/>
            </a:pPr>
            <a:r>
              <a:rPr lang="en-US" sz="1400" dirty="0">
                <a:solidFill>
                  <a:schemeClr val="tx1"/>
                </a:solidFill>
              </a:rPr>
              <a:t>Rewards passages ranked well by either method, with no score tuning.</a:t>
            </a:r>
            <a:endParaRPr lang="en-US" sz="1400" dirty="0"/>
          </a:p>
        </p:txBody>
      </p:sp>
      <p:sp>
        <p:nvSpPr>
          <p:cNvPr id="38" name="Text 34"/>
          <p:cNvSpPr txBox="1"/>
          <p:nvPr/>
        </p:nvSpPr>
        <p:spPr>
          <a:xfrm>
            <a:off x="548640" y="1572768"/>
            <a:ext cx="2011680" cy="731520"/>
          </a:xfrm>
          <a:prstGeom prst="rect">
            <a:avLst/>
          </a:prstGeom>
          <a:noFill/>
          <a:ln/>
        </p:spPr>
        <p:txBody>
          <a:bodyPr wrap="square" lIns="0" tIns="0" rIns="0" bIns="0" rtlCol="0" anchor="t"/>
          <a:lstStyle/>
          <a:p>
            <a:pPr indent="0" marL="0">
              <a:buNone/>
            </a:pPr>
            <a:r>
              <a:rPr lang="en-US" sz="1400" b="1" dirty="0">
                <a:solidFill>
                  <a:schemeClr val="tx2"/>
                </a:solidFill>
              </a:rPr>
              <a:t>4 official ICAR &amp; MANAGE manuals</a:t>
            </a:r>
            <a:endParaRPr lang="en-US" sz="1400" dirty="0"/>
          </a:p>
        </p:txBody>
      </p:sp>
      <p:sp>
        <p:nvSpPr>
          <p:cNvPr id="25" name="Slide Number Placeholder 0"/>
          <p:cNvSpPr>
            <a:spLocks noGrp="1"/>
          </p:cNvSpPr>
          <p:nvPr>
            <p:ph type="sldNum" sz="quarter" idx="4294967295"/>
          </p:nvPr>
        </p:nvSpPr>
        <p:spPr>
          <a:xfrm>
            <a:off x="10972800" y="642823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40080"/>
          </a:xfrm>
          <a:prstGeom prst="rect">
            <a:avLst/>
          </a:prstGeom>
          <a:noFill/>
          <a:ln/>
        </p:spPr>
        <p:txBody>
          <a:bodyPr wrap="square" lIns="0" tIns="0" rIns="0" bIns="0" rtlCol="0" anchor="ctr"/>
          <a:lstStyle/>
          <a:p>
            <a:pPr algn="l" indent="0" marL="0">
              <a:buNone/>
            </a:pPr>
            <a:r>
              <a:rPr lang="en-US" sz="3400" b="1" dirty="0">
                <a:solidFill>
                  <a:schemeClr val="tx2"/>
                </a:solidFill>
              </a:rPr>
              <a:t>A Cropping Calendar That Repairs Itself</a:t>
            </a:r>
            <a:endParaRPr lang="en-US" sz="3400" dirty="0"/>
          </a:p>
        </p:txBody>
      </p:sp>
      <p:sp>
        <p:nvSpPr>
          <p:cNvPr id="4" name="Text 1"/>
          <p:cNvSpPr txBox="1"/>
          <p:nvPr/>
        </p:nvSpPr>
        <p:spPr>
          <a:xfrm>
            <a:off x="548640" y="932688"/>
            <a:ext cx="11091672" cy="365760"/>
          </a:xfrm>
          <a:prstGeom prst="rect">
            <a:avLst/>
          </a:prstGeom>
          <a:noFill/>
          <a:ln/>
        </p:spPr>
        <p:txBody>
          <a:bodyPr wrap="square" lIns="0" tIns="0" rIns="0" bIns="0" rtlCol="0" anchor="t"/>
          <a:lstStyle/>
          <a:p>
            <a:pPr indent="0" marL="0">
              <a:buNone/>
            </a:pPr>
            <a:r>
              <a:rPr lang="en-US" sz="1600" i="1" dirty="0">
                <a:solidFill>
                  <a:schemeClr val="accent6"/>
                </a:solidFill>
              </a:rPr>
              <a:t>Monthly grid, weekly sprints, daily checklist, and automatic rebalancing of skipped operations</a:t>
            </a:r>
            <a:endParaRPr lang="en-US" sz="1600" dirty="0"/>
          </a:p>
        </p:txBody>
      </p:sp>
      <p:sp>
        <p:nvSpPr>
          <p:cNvPr id="5" name="Text 2"/>
          <p:cNvSpPr txBox="1"/>
          <p:nvPr/>
        </p:nvSpPr>
        <p:spPr>
          <a:xfrm>
            <a:off x="548640" y="1508760"/>
            <a:ext cx="2743200" cy="228600"/>
          </a:xfrm>
          <a:prstGeom prst="rect">
            <a:avLst/>
          </a:prstGeom>
          <a:noFill/>
          <a:ln/>
        </p:spPr>
        <p:txBody>
          <a:bodyPr wrap="square" lIns="0" tIns="0" rIns="0" bIns="0" rtlCol="0" anchor="t"/>
          <a:lstStyle/>
          <a:p>
            <a:pPr indent="0" marL="0">
              <a:buNone/>
            </a:pPr>
            <a:r>
              <a:rPr lang="en-US" sz="1200" b="1" dirty="0">
                <a:solidFill>
                  <a:schemeClr val="accent1"/>
                </a:solidFill>
              </a:rPr>
              <a:t>MONTHLY VIEW</a:t>
            </a:r>
            <a:endParaRPr lang="en-US" sz="1200" dirty="0"/>
          </a:p>
        </p:txBody>
      </p:sp>
      <p:sp>
        <p:nvSpPr>
          <p:cNvPr id="6" name="Text 3"/>
          <p:cNvSpPr txBox="1"/>
          <p:nvPr/>
        </p:nvSpPr>
        <p:spPr>
          <a:xfrm>
            <a:off x="548640" y="1783080"/>
            <a:ext cx="1127760" cy="256032"/>
          </a:xfrm>
          <a:prstGeom prst="rect">
            <a:avLst/>
          </a:prstGeom>
          <a:noFill/>
          <a:ln/>
        </p:spPr>
        <p:txBody>
          <a:bodyPr wrap="square" lIns="0" tIns="0" rIns="0" bIns="0" rtlCol="0" anchor="t"/>
          <a:lstStyle/>
          <a:p>
            <a:pPr algn="ctr" indent="0" marL="0">
              <a:buNone/>
            </a:pPr>
            <a:r>
              <a:rPr lang="en-US" sz="1200" dirty="0">
                <a:solidFill>
                  <a:schemeClr val="accent6"/>
                </a:solidFill>
              </a:rPr>
              <a:t>Jun</a:t>
            </a:r>
            <a:endParaRPr lang="en-US" sz="1200" dirty="0"/>
          </a:p>
        </p:txBody>
      </p:sp>
      <p:sp>
        <p:nvSpPr>
          <p:cNvPr id="7" name="Text 4"/>
          <p:cNvSpPr txBox="1"/>
          <p:nvPr/>
        </p:nvSpPr>
        <p:spPr>
          <a:xfrm>
            <a:off x="1676400" y="1783080"/>
            <a:ext cx="1127760" cy="256032"/>
          </a:xfrm>
          <a:prstGeom prst="rect">
            <a:avLst/>
          </a:prstGeom>
          <a:noFill/>
          <a:ln/>
        </p:spPr>
        <p:txBody>
          <a:bodyPr wrap="square" lIns="0" tIns="0" rIns="0" bIns="0" rtlCol="0" anchor="t"/>
          <a:lstStyle/>
          <a:p>
            <a:pPr algn="ctr" indent="0" marL="0">
              <a:buNone/>
            </a:pPr>
            <a:r>
              <a:rPr lang="en-US" sz="1200" dirty="0">
                <a:solidFill>
                  <a:schemeClr val="accent6"/>
                </a:solidFill>
              </a:rPr>
              <a:t>Jul</a:t>
            </a:r>
            <a:endParaRPr lang="en-US" sz="1200" dirty="0"/>
          </a:p>
        </p:txBody>
      </p:sp>
      <p:sp>
        <p:nvSpPr>
          <p:cNvPr id="8" name="Text 5"/>
          <p:cNvSpPr txBox="1"/>
          <p:nvPr/>
        </p:nvSpPr>
        <p:spPr>
          <a:xfrm>
            <a:off x="2804160" y="1783080"/>
            <a:ext cx="1127760" cy="256032"/>
          </a:xfrm>
          <a:prstGeom prst="rect">
            <a:avLst/>
          </a:prstGeom>
          <a:noFill/>
          <a:ln/>
        </p:spPr>
        <p:txBody>
          <a:bodyPr wrap="square" lIns="0" tIns="0" rIns="0" bIns="0" rtlCol="0" anchor="t"/>
          <a:lstStyle/>
          <a:p>
            <a:pPr algn="ctr" indent="0" marL="0">
              <a:buNone/>
            </a:pPr>
            <a:r>
              <a:rPr lang="en-US" sz="1200" dirty="0">
                <a:solidFill>
                  <a:schemeClr val="accent6"/>
                </a:solidFill>
              </a:rPr>
              <a:t>Aug</a:t>
            </a:r>
            <a:endParaRPr lang="en-US" sz="1200" dirty="0"/>
          </a:p>
        </p:txBody>
      </p:sp>
      <p:sp>
        <p:nvSpPr>
          <p:cNvPr id="9" name="Text 6"/>
          <p:cNvSpPr txBox="1"/>
          <p:nvPr/>
        </p:nvSpPr>
        <p:spPr>
          <a:xfrm>
            <a:off x="3931920" y="1783080"/>
            <a:ext cx="1127760" cy="256032"/>
          </a:xfrm>
          <a:prstGeom prst="rect">
            <a:avLst/>
          </a:prstGeom>
          <a:noFill/>
          <a:ln/>
        </p:spPr>
        <p:txBody>
          <a:bodyPr wrap="square" lIns="0" tIns="0" rIns="0" bIns="0" rtlCol="0" anchor="t"/>
          <a:lstStyle/>
          <a:p>
            <a:pPr algn="ctr" indent="0" marL="0">
              <a:buNone/>
            </a:pPr>
            <a:r>
              <a:rPr lang="en-US" sz="1200" dirty="0">
                <a:solidFill>
                  <a:schemeClr val="accent6"/>
                </a:solidFill>
              </a:rPr>
              <a:t>Sep</a:t>
            </a:r>
            <a:endParaRPr lang="en-US" sz="1200" dirty="0"/>
          </a:p>
        </p:txBody>
      </p:sp>
      <p:sp>
        <p:nvSpPr>
          <p:cNvPr id="10" name="Text 7"/>
          <p:cNvSpPr txBox="1"/>
          <p:nvPr/>
        </p:nvSpPr>
        <p:spPr>
          <a:xfrm>
            <a:off x="5059680" y="1783080"/>
            <a:ext cx="1127760" cy="256032"/>
          </a:xfrm>
          <a:prstGeom prst="rect">
            <a:avLst/>
          </a:prstGeom>
          <a:noFill/>
          <a:ln/>
        </p:spPr>
        <p:txBody>
          <a:bodyPr wrap="square" lIns="0" tIns="0" rIns="0" bIns="0" rtlCol="0" anchor="t"/>
          <a:lstStyle/>
          <a:p>
            <a:pPr algn="ctr" indent="0" marL="0">
              <a:buNone/>
            </a:pPr>
            <a:r>
              <a:rPr lang="en-US" sz="1200" dirty="0">
                <a:solidFill>
                  <a:schemeClr val="accent6"/>
                </a:solidFill>
              </a:rPr>
              <a:t>Oct</a:t>
            </a:r>
            <a:endParaRPr lang="en-US" sz="1200" dirty="0"/>
          </a:p>
        </p:txBody>
      </p:sp>
      <p:sp>
        <p:nvSpPr>
          <p:cNvPr id="11" name="Text 8"/>
          <p:cNvSpPr txBox="1"/>
          <p:nvPr/>
        </p:nvSpPr>
        <p:spPr>
          <a:xfrm>
            <a:off x="6187440" y="1783080"/>
            <a:ext cx="1127760" cy="256032"/>
          </a:xfrm>
          <a:prstGeom prst="rect">
            <a:avLst/>
          </a:prstGeom>
          <a:noFill/>
          <a:ln/>
        </p:spPr>
        <p:txBody>
          <a:bodyPr wrap="square" lIns="0" tIns="0" rIns="0" bIns="0" rtlCol="0" anchor="t"/>
          <a:lstStyle/>
          <a:p>
            <a:pPr algn="ctr" indent="0" marL="0">
              <a:buNone/>
            </a:pPr>
            <a:r>
              <a:rPr lang="en-US" sz="1200" dirty="0">
                <a:solidFill>
                  <a:schemeClr val="accent6"/>
                </a:solidFill>
              </a:rPr>
              <a:t>Nov</a:t>
            </a:r>
            <a:endParaRPr lang="en-US" sz="1200" dirty="0"/>
          </a:p>
        </p:txBody>
      </p:sp>
      <p:sp>
        <p:nvSpPr>
          <p:cNvPr id="12" name="stage-bar-1"/>
          <p:cNvSpPr/>
          <p:nvPr/>
        </p:nvSpPr>
        <p:spPr>
          <a:xfrm>
            <a:off x="548640" y="2103120"/>
            <a:ext cx="1240536" cy="274320"/>
          </a:xfrm>
          <a:prstGeom prst="roundRect">
            <a:avLst>
              <a:gd name="adj" fmla="val 20000"/>
            </a:avLst>
          </a:prstGeom>
          <a:solidFill>
            <a:schemeClr val="accent1"/>
          </a:solidFill>
          <a:ln/>
        </p:spPr>
      </p:sp>
      <p:sp>
        <p:nvSpPr>
          <p:cNvPr id="13" name="Text 10"/>
          <p:cNvSpPr txBox="1"/>
          <p:nvPr/>
        </p:nvSpPr>
        <p:spPr>
          <a:xfrm>
            <a:off x="621792" y="2103120"/>
            <a:ext cx="1149096" cy="274320"/>
          </a:xfrm>
          <a:prstGeom prst="rect">
            <a:avLst/>
          </a:prstGeom>
          <a:noFill/>
          <a:ln/>
        </p:spPr>
        <p:txBody>
          <a:bodyPr wrap="square" lIns="0" tIns="0" rIns="0" bIns="0" rtlCol="0" anchor="ctr"/>
          <a:lstStyle/>
          <a:p>
            <a:pPr indent="0" marL="0">
              <a:buNone/>
            </a:pPr>
            <a:r>
              <a:rPr lang="en-US" sz="1100" b="1" dirty="0">
                <a:solidFill>
                  <a:schemeClr val="bg1"/>
                </a:solidFill>
              </a:rPr>
              <a:t>Land prep</a:t>
            </a:r>
            <a:endParaRPr lang="en-US" sz="1100" dirty="0"/>
          </a:p>
        </p:txBody>
      </p:sp>
      <p:sp>
        <p:nvSpPr>
          <p:cNvPr id="14" name="stage-bar-2"/>
          <p:cNvSpPr/>
          <p:nvPr/>
        </p:nvSpPr>
        <p:spPr>
          <a:xfrm>
            <a:off x="1450848" y="2432304"/>
            <a:ext cx="1127760" cy="274320"/>
          </a:xfrm>
          <a:prstGeom prst="roundRect">
            <a:avLst>
              <a:gd name="adj" fmla="val 20000"/>
            </a:avLst>
          </a:prstGeom>
          <a:solidFill>
            <a:schemeClr val="tx2"/>
          </a:solidFill>
          <a:ln/>
        </p:spPr>
      </p:sp>
      <p:sp>
        <p:nvSpPr>
          <p:cNvPr id="15" name="Text 12"/>
          <p:cNvSpPr txBox="1"/>
          <p:nvPr/>
        </p:nvSpPr>
        <p:spPr>
          <a:xfrm>
            <a:off x="1524000" y="2432304"/>
            <a:ext cx="1036320" cy="274320"/>
          </a:xfrm>
          <a:prstGeom prst="rect">
            <a:avLst/>
          </a:prstGeom>
          <a:noFill/>
          <a:ln/>
        </p:spPr>
        <p:txBody>
          <a:bodyPr wrap="square" lIns="0" tIns="0" rIns="0" bIns="0" rtlCol="0" anchor="ctr"/>
          <a:lstStyle/>
          <a:p>
            <a:pPr indent="0" marL="0">
              <a:buNone/>
            </a:pPr>
            <a:r>
              <a:rPr lang="en-US" sz="1100" b="1" dirty="0">
                <a:solidFill>
                  <a:schemeClr val="bg1"/>
                </a:solidFill>
              </a:rPr>
              <a:t>Sowing</a:t>
            </a:r>
            <a:endParaRPr lang="en-US" sz="1100" dirty="0"/>
          </a:p>
        </p:txBody>
      </p:sp>
      <p:sp>
        <p:nvSpPr>
          <p:cNvPr id="16" name="stage-bar-3"/>
          <p:cNvSpPr/>
          <p:nvPr/>
        </p:nvSpPr>
        <p:spPr>
          <a:xfrm>
            <a:off x="2127504" y="2761488"/>
            <a:ext cx="2255520" cy="274320"/>
          </a:xfrm>
          <a:prstGeom prst="roundRect">
            <a:avLst>
              <a:gd name="adj" fmla="val 20000"/>
            </a:avLst>
          </a:prstGeom>
          <a:solidFill>
            <a:schemeClr val="accent1"/>
          </a:solidFill>
          <a:ln/>
        </p:spPr>
      </p:sp>
      <p:sp>
        <p:nvSpPr>
          <p:cNvPr id="17" name="Text 14"/>
          <p:cNvSpPr txBox="1"/>
          <p:nvPr/>
        </p:nvSpPr>
        <p:spPr>
          <a:xfrm>
            <a:off x="2200656" y="2761488"/>
            <a:ext cx="2164080" cy="274320"/>
          </a:xfrm>
          <a:prstGeom prst="rect">
            <a:avLst/>
          </a:prstGeom>
          <a:noFill/>
          <a:ln/>
        </p:spPr>
        <p:txBody>
          <a:bodyPr wrap="square" lIns="0" tIns="0" rIns="0" bIns="0" rtlCol="0" anchor="ctr"/>
          <a:lstStyle/>
          <a:p>
            <a:pPr indent="0" marL="0">
              <a:buNone/>
            </a:pPr>
            <a:r>
              <a:rPr lang="en-US" sz="1100" b="1" dirty="0">
                <a:solidFill>
                  <a:schemeClr val="bg1"/>
                </a:solidFill>
              </a:rPr>
              <a:t>Vegetative</a:t>
            </a:r>
            <a:endParaRPr lang="en-US" sz="1100" dirty="0"/>
          </a:p>
        </p:txBody>
      </p:sp>
      <p:sp>
        <p:nvSpPr>
          <p:cNvPr id="18" name="stage-bar-4"/>
          <p:cNvSpPr/>
          <p:nvPr/>
        </p:nvSpPr>
        <p:spPr>
          <a:xfrm>
            <a:off x="4157472" y="3090672"/>
            <a:ext cx="1240536" cy="274320"/>
          </a:xfrm>
          <a:prstGeom prst="roundRect">
            <a:avLst>
              <a:gd name="adj" fmla="val 20000"/>
            </a:avLst>
          </a:prstGeom>
          <a:solidFill>
            <a:schemeClr val="tx2"/>
          </a:solidFill>
          <a:ln/>
        </p:spPr>
      </p:sp>
      <p:sp>
        <p:nvSpPr>
          <p:cNvPr id="19" name="Text 16"/>
          <p:cNvSpPr txBox="1"/>
          <p:nvPr/>
        </p:nvSpPr>
        <p:spPr>
          <a:xfrm>
            <a:off x="4230624" y="3090672"/>
            <a:ext cx="1149096" cy="274320"/>
          </a:xfrm>
          <a:prstGeom prst="rect">
            <a:avLst/>
          </a:prstGeom>
          <a:noFill/>
          <a:ln/>
        </p:spPr>
        <p:txBody>
          <a:bodyPr wrap="square" lIns="0" tIns="0" rIns="0" bIns="0" rtlCol="0" anchor="ctr"/>
          <a:lstStyle/>
          <a:p>
            <a:pPr indent="0" marL="0">
              <a:buNone/>
            </a:pPr>
            <a:r>
              <a:rPr lang="en-US" sz="1100" b="1" dirty="0">
                <a:solidFill>
                  <a:schemeClr val="bg1"/>
                </a:solidFill>
              </a:rPr>
              <a:t>Flowering</a:t>
            </a:r>
            <a:endParaRPr lang="en-US" sz="1100" dirty="0"/>
          </a:p>
        </p:txBody>
      </p:sp>
      <p:sp>
        <p:nvSpPr>
          <p:cNvPr id="20" name="stage-bar-5"/>
          <p:cNvSpPr/>
          <p:nvPr/>
        </p:nvSpPr>
        <p:spPr>
          <a:xfrm>
            <a:off x="5623560" y="3419856"/>
            <a:ext cx="1691640" cy="274320"/>
          </a:xfrm>
          <a:prstGeom prst="roundRect">
            <a:avLst>
              <a:gd name="adj" fmla="val 20000"/>
            </a:avLst>
          </a:prstGeom>
          <a:solidFill>
            <a:schemeClr val="accent1"/>
          </a:solidFill>
          <a:ln/>
        </p:spPr>
      </p:sp>
      <p:sp>
        <p:nvSpPr>
          <p:cNvPr id="21" name="Text 18"/>
          <p:cNvSpPr txBox="1"/>
          <p:nvPr/>
        </p:nvSpPr>
        <p:spPr>
          <a:xfrm>
            <a:off x="5696712" y="3419856"/>
            <a:ext cx="1600200" cy="274320"/>
          </a:xfrm>
          <a:prstGeom prst="rect">
            <a:avLst/>
          </a:prstGeom>
          <a:noFill/>
          <a:ln/>
        </p:spPr>
        <p:txBody>
          <a:bodyPr wrap="square" lIns="0" tIns="0" rIns="0" bIns="0" rtlCol="0" anchor="ctr"/>
          <a:lstStyle/>
          <a:p>
            <a:pPr indent="0" marL="0">
              <a:buNone/>
            </a:pPr>
            <a:r>
              <a:rPr lang="en-US" sz="1100" b="1" dirty="0">
                <a:solidFill>
                  <a:schemeClr val="bg1"/>
                </a:solidFill>
              </a:rPr>
              <a:t>Harvest</a:t>
            </a:r>
            <a:endParaRPr lang="en-US" sz="1100" dirty="0"/>
          </a:p>
        </p:txBody>
      </p:sp>
      <p:sp>
        <p:nvSpPr>
          <p:cNvPr id="22" name="Text 19"/>
          <p:cNvSpPr txBox="1"/>
          <p:nvPr/>
        </p:nvSpPr>
        <p:spPr>
          <a:xfrm>
            <a:off x="548640" y="3840480"/>
            <a:ext cx="2743200" cy="228600"/>
          </a:xfrm>
          <a:prstGeom prst="rect">
            <a:avLst/>
          </a:prstGeom>
          <a:noFill/>
          <a:ln/>
        </p:spPr>
        <p:txBody>
          <a:bodyPr wrap="square" lIns="0" tIns="0" rIns="0" bIns="0" rtlCol="0" anchor="t"/>
          <a:lstStyle/>
          <a:p>
            <a:pPr indent="0" marL="0">
              <a:buNone/>
            </a:pPr>
            <a:r>
              <a:rPr lang="en-US" sz="1200" b="1" dirty="0">
                <a:solidFill>
                  <a:schemeClr val="accent1"/>
                </a:solidFill>
              </a:rPr>
              <a:t>WEEKLY SPRINT</a:t>
            </a:r>
            <a:endParaRPr lang="en-US" sz="1200" dirty="0"/>
          </a:p>
        </p:txBody>
      </p:sp>
      <p:sp>
        <p:nvSpPr>
          <p:cNvPr id="23" name="day-chip-1"/>
          <p:cNvSpPr/>
          <p:nvPr/>
        </p:nvSpPr>
        <p:spPr>
          <a:xfrm>
            <a:off x="548640" y="4114800"/>
            <a:ext cx="914400" cy="566928"/>
          </a:xfrm>
          <a:prstGeom prst="roundRect">
            <a:avLst>
              <a:gd name="adj" fmla="val 12903"/>
            </a:avLst>
          </a:prstGeom>
          <a:solidFill>
            <a:schemeClr val="bg1"/>
          </a:solidFill>
          <a:ln w="9525">
            <a:solidFill>
              <a:schemeClr val="accent3"/>
            </a:solidFill>
            <a:prstDash val="solid"/>
          </a:ln>
        </p:spPr>
      </p:sp>
      <p:sp>
        <p:nvSpPr>
          <p:cNvPr id="24" name="Text 21"/>
          <p:cNvSpPr txBox="1"/>
          <p:nvPr/>
        </p:nvSpPr>
        <p:spPr>
          <a:xfrm>
            <a:off x="548640" y="4114800"/>
            <a:ext cx="914400" cy="566928"/>
          </a:xfrm>
          <a:prstGeom prst="rect">
            <a:avLst/>
          </a:prstGeom>
          <a:noFill/>
          <a:ln/>
        </p:spPr>
        <p:txBody>
          <a:bodyPr wrap="square" lIns="0" tIns="0" rIns="0" bIns="0" rtlCol="0" anchor="ctr"/>
          <a:lstStyle/>
          <a:p>
            <a:pPr algn="ctr" indent="0" marL="0">
              <a:buNone/>
            </a:pPr>
            <a:r>
              <a:rPr lang="en-US" sz="1200" b="1" dirty="0">
                <a:solidFill>
                  <a:schemeClr val="tx1"/>
                </a:solidFill>
              </a:rPr>
              <a:t>Mon</a:t>
            </a:r>
            <a:endParaRPr lang="en-US" sz="1400" dirty="0"/>
          </a:p>
          <a:p>
            <a:pPr algn="ctr" indent="0" marL="0">
              <a:buNone/>
            </a:pPr>
            <a:r>
              <a:rPr lang="en-US" sz="1100" dirty="0">
                <a:solidFill>
                  <a:schemeClr val="tx1"/>
                </a:solidFill>
              </a:rPr>
              <a:t>Irrigate</a:t>
            </a:r>
            <a:endParaRPr lang="en-US" sz="1400" dirty="0"/>
          </a:p>
        </p:txBody>
      </p:sp>
      <p:sp>
        <p:nvSpPr>
          <p:cNvPr id="25" name="day-chip-2"/>
          <p:cNvSpPr/>
          <p:nvPr/>
        </p:nvSpPr>
        <p:spPr>
          <a:xfrm>
            <a:off x="1527048" y="4114800"/>
            <a:ext cx="914400" cy="566928"/>
          </a:xfrm>
          <a:prstGeom prst="roundRect">
            <a:avLst>
              <a:gd name="adj" fmla="val 12903"/>
            </a:avLst>
          </a:prstGeom>
          <a:solidFill>
            <a:schemeClr val="bg1"/>
          </a:solidFill>
          <a:ln w="9525">
            <a:solidFill>
              <a:schemeClr val="accent3"/>
            </a:solidFill>
            <a:prstDash val="solid"/>
          </a:ln>
        </p:spPr>
      </p:sp>
      <p:sp>
        <p:nvSpPr>
          <p:cNvPr id="26" name="Text 23"/>
          <p:cNvSpPr txBox="1"/>
          <p:nvPr/>
        </p:nvSpPr>
        <p:spPr>
          <a:xfrm>
            <a:off x="1527048" y="4114800"/>
            <a:ext cx="914400" cy="566928"/>
          </a:xfrm>
          <a:prstGeom prst="rect">
            <a:avLst/>
          </a:prstGeom>
          <a:noFill/>
          <a:ln/>
        </p:spPr>
        <p:txBody>
          <a:bodyPr wrap="square" lIns="0" tIns="0" rIns="0" bIns="0" rtlCol="0" anchor="ctr"/>
          <a:lstStyle/>
          <a:p>
            <a:pPr algn="ctr" indent="0" marL="0">
              <a:buNone/>
            </a:pPr>
            <a:r>
              <a:rPr lang="en-US" sz="1200" b="1" dirty="0">
                <a:solidFill>
                  <a:schemeClr val="tx1"/>
                </a:solidFill>
              </a:rPr>
              <a:t>Tue</a:t>
            </a:r>
            <a:endParaRPr lang="en-US" sz="1400" dirty="0"/>
          </a:p>
          <a:p>
            <a:pPr algn="ctr" indent="0" marL="0">
              <a:buNone/>
            </a:pPr>
            <a:r>
              <a:rPr lang="en-US" sz="1100" dirty="0">
                <a:solidFill>
                  <a:schemeClr val="tx1"/>
                </a:solidFill>
              </a:rPr>
              <a:t>Scout</a:t>
            </a:r>
            <a:endParaRPr lang="en-US" sz="1400" dirty="0"/>
          </a:p>
        </p:txBody>
      </p:sp>
      <p:sp>
        <p:nvSpPr>
          <p:cNvPr id="27" name="day-chip-3"/>
          <p:cNvSpPr/>
          <p:nvPr/>
        </p:nvSpPr>
        <p:spPr>
          <a:xfrm>
            <a:off x="2505456" y="4114800"/>
            <a:ext cx="914400" cy="566928"/>
          </a:xfrm>
          <a:prstGeom prst="roundRect">
            <a:avLst>
              <a:gd name="adj" fmla="val 12903"/>
            </a:avLst>
          </a:prstGeom>
          <a:solidFill>
            <a:schemeClr val="bg1"/>
          </a:solidFill>
          <a:ln w="9525">
            <a:solidFill>
              <a:schemeClr val="accent3"/>
            </a:solidFill>
            <a:prstDash val="solid"/>
          </a:ln>
        </p:spPr>
      </p:sp>
      <p:sp>
        <p:nvSpPr>
          <p:cNvPr id="28" name="Text 25"/>
          <p:cNvSpPr txBox="1"/>
          <p:nvPr/>
        </p:nvSpPr>
        <p:spPr>
          <a:xfrm>
            <a:off x="2505456" y="4114800"/>
            <a:ext cx="914400" cy="566928"/>
          </a:xfrm>
          <a:prstGeom prst="rect">
            <a:avLst/>
          </a:prstGeom>
          <a:noFill/>
          <a:ln/>
        </p:spPr>
        <p:txBody>
          <a:bodyPr wrap="square" lIns="0" tIns="0" rIns="0" bIns="0" rtlCol="0" anchor="ctr"/>
          <a:lstStyle/>
          <a:p>
            <a:pPr algn="ctr" indent="0" marL="0">
              <a:buNone/>
            </a:pPr>
            <a:r>
              <a:rPr lang="en-US" sz="1200" b="1" dirty="0">
                <a:solidFill>
                  <a:schemeClr val="tx1"/>
                </a:solidFill>
              </a:rPr>
              <a:t>Wed</a:t>
            </a:r>
            <a:endParaRPr lang="en-US" sz="1400" dirty="0"/>
          </a:p>
          <a:p>
            <a:pPr algn="ctr" indent="0" marL="0">
              <a:buNone/>
            </a:pPr>
            <a:r>
              <a:rPr lang="en-US" sz="1100" dirty="0">
                <a:solidFill>
                  <a:schemeClr val="tx1"/>
                </a:solidFill>
              </a:rPr>
              <a:t>Weed</a:t>
            </a:r>
            <a:endParaRPr lang="en-US" sz="1400" dirty="0"/>
          </a:p>
        </p:txBody>
      </p:sp>
      <p:sp>
        <p:nvSpPr>
          <p:cNvPr id="29" name="day-chip-4"/>
          <p:cNvSpPr/>
          <p:nvPr/>
        </p:nvSpPr>
        <p:spPr>
          <a:xfrm>
            <a:off x="3483864" y="4114800"/>
            <a:ext cx="914400" cy="566928"/>
          </a:xfrm>
          <a:prstGeom prst="roundRect">
            <a:avLst>
              <a:gd name="adj" fmla="val 12903"/>
            </a:avLst>
          </a:prstGeom>
          <a:solidFill>
            <a:schemeClr val="tx2"/>
          </a:solidFill>
          <a:ln/>
        </p:spPr>
      </p:sp>
      <p:sp>
        <p:nvSpPr>
          <p:cNvPr id="30" name="Text 27"/>
          <p:cNvSpPr txBox="1"/>
          <p:nvPr/>
        </p:nvSpPr>
        <p:spPr>
          <a:xfrm>
            <a:off x="3483864" y="4114800"/>
            <a:ext cx="914400" cy="566928"/>
          </a:xfrm>
          <a:prstGeom prst="rect">
            <a:avLst/>
          </a:prstGeom>
          <a:noFill/>
          <a:ln/>
        </p:spPr>
        <p:txBody>
          <a:bodyPr wrap="square" lIns="0" tIns="0" rIns="0" bIns="0" rtlCol="0" anchor="ctr"/>
          <a:lstStyle/>
          <a:p>
            <a:pPr algn="ctr" indent="0" marL="0">
              <a:buNone/>
            </a:pPr>
            <a:r>
              <a:rPr lang="en-US" sz="1200" b="1" dirty="0">
                <a:solidFill>
                  <a:schemeClr val="bg1"/>
                </a:solidFill>
              </a:rPr>
              <a:t>Thu</a:t>
            </a:r>
            <a:endParaRPr lang="en-US" sz="1400" dirty="0"/>
          </a:p>
          <a:p>
            <a:pPr algn="ctr" indent="0" marL="0">
              <a:buNone/>
            </a:pPr>
            <a:r>
              <a:rPr lang="en-US" sz="1100" dirty="0">
                <a:solidFill>
                  <a:schemeClr val="bg1"/>
                </a:solidFill>
              </a:rPr>
              <a:t>Basal N</a:t>
            </a:r>
            <a:endParaRPr lang="en-US" sz="1400" dirty="0"/>
          </a:p>
        </p:txBody>
      </p:sp>
      <p:sp>
        <p:nvSpPr>
          <p:cNvPr id="31" name="day-chip-5"/>
          <p:cNvSpPr/>
          <p:nvPr/>
        </p:nvSpPr>
        <p:spPr>
          <a:xfrm>
            <a:off x="4462272" y="4114800"/>
            <a:ext cx="914400" cy="566928"/>
          </a:xfrm>
          <a:prstGeom prst="roundRect">
            <a:avLst>
              <a:gd name="adj" fmla="val 12903"/>
            </a:avLst>
          </a:prstGeom>
          <a:solidFill>
            <a:schemeClr val="bg1"/>
          </a:solidFill>
          <a:ln w="9525">
            <a:solidFill>
              <a:schemeClr val="accent3"/>
            </a:solidFill>
            <a:prstDash val="solid"/>
          </a:ln>
        </p:spPr>
      </p:sp>
      <p:sp>
        <p:nvSpPr>
          <p:cNvPr id="32" name="Text 29"/>
          <p:cNvSpPr txBox="1"/>
          <p:nvPr/>
        </p:nvSpPr>
        <p:spPr>
          <a:xfrm>
            <a:off x="4462272" y="4114800"/>
            <a:ext cx="914400" cy="566928"/>
          </a:xfrm>
          <a:prstGeom prst="rect">
            <a:avLst/>
          </a:prstGeom>
          <a:noFill/>
          <a:ln/>
        </p:spPr>
        <p:txBody>
          <a:bodyPr wrap="square" lIns="0" tIns="0" rIns="0" bIns="0" rtlCol="0" anchor="ctr"/>
          <a:lstStyle/>
          <a:p>
            <a:pPr algn="ctr" indent="0" marL="0">
              <a:buNone/>
            </a:pPr>
            <a:r>
              <a:rPr lang="en-US" sz="1200" b="1" dirty="0">
                <a:solidFill>
                  <a:schemeClr val="tx1"/>
                </a:solidFill>
              </a:rPr>
              <a:t>Fri</a:t>
            </a:r>
            <a:endParaRPr lang="en-US" sz="1400" dirty="0"/>
          </a:p>
          <a:p>
            <a:pPr algn="ctr" indent="0" marL="0">
              <a:buNone/>
            </a:pPr>
            <a:r>
              <a:rPr lang="en-US" sz="1100" dirty="0">
                <a:solidFill>
                  <a:schemeClr val="tx1"/>
                </a:solidFill>
              </a:rPr>
              <a:t>Scout</a:t>
            </a:r>
            <a:endParaRPr lang="en-US" sz="1400" dirty="0"/>
          </a:p>
        </p:txBody>
      </p:sp>
      <p:sp>
        <p:nvSpPr>
          <p:cNvPr id="33" name="day-chip-6"/>
          <p:cNvSpPr/>
          <p:nvPr/>
        </p:nvSpPr>
        <p:spPr>
          <a:xfrm>
            <a:off x="5440680" y="4114800"/>
            <a:ext cx="914400" cy="566928"/>
          </a:xfrm>
          <a:prstGeom prst="roundRect">
            <a:avLst>
              <a:gd name="adj" fmla="val 12903"/>
            </a:avLst>
          </a:prstGeom>
          <a:solidFill>
            <a:schemeClr val="bg1"/>
          </a:solidFill>
          <a:ln w="9525">
            <a:solidFill>
              <a:schemeClr val="accent3"/>
            </a:solidFill>
            <a:prstDash val="solid"/>
          </a:ln>
        </p:spPr>
      </p:sp>
      <p:sp>
        <p:nvSpPr>
          <p:cNvPr id="34" name="Text 31"/>
          <p:cNvSpPr txBox="1"/>
          <p:nvPr/>
        </p:nvSpPr>
        <p:spPr>
          <a:xfrm>
            <a:off x="5440680" y="4114800"/>
            <a:ext cx="914400" cy="566928"/>
          </a:xfrm>
          <a:prstGeom prst="rect">
            <a:avLst/>
          </a:prstGeom>
          <a:noFill/>
          <a:ln/>
        </p:spPr>
        <p:txBody>
          <a:bodyPr wrap="square" lIns="0" tIns="0" rIns="0" bIns="0" rtlCol="0" anchor="ctr"/>
          <a:lstStyle/>
          <a:p>
            <a:pPr algn="ctr" indent="0" marL="0">
              <a:buNone/>
            </a:pPr>
            <a:r>
              <a:rPr lang="en-US" sz="1200" b="1" dirty="0">
                <a:solidFill>
                  <a:schemeClr val="tx1"/>
                </a:solidFill>
              </a:rPr>
              <a:t>Sat</a:t>
            </a:r>
            <a:endParaRPr lang="en-US" sz="1400" dirty="0"/>
          </a:p>
          <a:p>
            <a:pPr algn="ctr" indent="0" marL="0">
              <a:buNone/>
            </a:pPr>
            <a:r>
              <a:rPr lang="en-US" sz="1100" dirty="0">
                <a:solidFill>
                  <a:schemeClr val="tx1"/>
                </a:solidFill>
              </a:rPr>
              <a:t>Check</a:t>
            </a:r>
            <a:endParaRPr lang="en-US" sz="1400" dirty="0"/>
          </a:p>
        </p:txBody>
      </p:sp>
      <p:sp>
        <p:nvSpPr>
          <p:cNvPr id="35" name="day-chip-7"/>
          <p:cNvSpPr/>
          <p:nvPr/>
        </p:nvSpPr>
        <p:spPr>
          <a:xfrm>
            <a:off x="6419088" y="4114800"/>
            <a:ext cx="914400" cy="566928"/>
          </a:xfrm>
          <a:prstGeom prst="roundRect">
            <a:avLst>
              <a:gd name="adj" fmla="val 12903"/>
            </a:avLst>
          </a:prstGeom>
          <a:solidFill>
            <a:schemeClr val="bg1"/>
          </a:solidFill>
          <a:ln w="9525">
            <a:solidFill>
              <a:schemeClr val="accent3"/>
            </a:solidFill>
            <a:prstDash val="solid"/>
          </a:ln>
        </p:spPr>
      </p:sp>
      <p:sp>
        <p:nvSpPr>
          <p:cNvPr id="36" name="Text 33"/>
          <p:cNvSpPr txBox="1"/>
          <p:nvPr/>
        </p:nvSpPr>
        <p:spPr>
          <a:xfrm>
            <a:off x="6419088" y="4114800"/>
            <a:ext cx="914400" cy="566928"/>
          </a:xfrm>
          <a:prstGeom prst="rect">
            <a:avLst/>
          </a:prstGeom>
          <a:noFill/>
          <a:ln/>
        </p:spPr>
        <p:txBody>
          <a:bodyPr wrap="square" lIns="0" tIns="0" rIns="0" bIns="0" rtlCol="0" anchor="ctr"/>
          <a:lstStyle/>
          <a:p>
            <a:pPr algn="ctr" indent="0" marL="0">
              <a:buNone/>
            </a:pPr>
            <a:r>
              <a:rPr lang="en-US" sz="1200" b="1" dirty="0">
                <a:solidFill>
                  <a:schemeClr val="tx1"/>
                </a:solidFill>
              </a:rPr>
              <a:t>Sun</a:t>
            </a:r>
            <a:endParaRPr lang="en-US" sz="1400" dirty="0"/>
          </a:p>
          <a:p>
            <a:pPr algn="ctr" indent="0" marL="0">
              <a:buNone/>
            </a:pPr>
            <a:r>
              <a:rPr lang="en-US" sz="1100" dirty="0">
                <a:solidFill>
                  <a:schemeClr val="tx1"/>
                </a:solidFill>
              </a:rPr>
              <a:t>Review</a:t>
            </a:r>
            <a:endParaRPr lang="en-US" sz="1400" dirty="0"/>
          </a:p>
        </p:txBody>
      </p:sp>
      <p:sp>
        <p:nvSpPr>
          <p:cNvPr id="37" name="Text 34"/>
          <p:cNvSpPr txBox="1"/>
          <p:nvPr/>
        </p:nvSpPr>
        <p:spPr>
          <a:xfrm>
            <a:off x="548640" y="4846320"/>
            <a:ext cx="2743200" cy="228600"/>
          </a:xfrm>
          <a:prstGeom prst="rect">
            <a:avLst/>
          </a:prstGeom>
          <a:noFill/>
          <a:ln/>
        </p:spPr>
        <p:txBody>
          <a:bodyPr wrap="square" lIns="0" tIns="0" rIns="0" bIns="0" rtlCol="0" anchor="t"/>
          <a:lstStyle/>
          <a:p>
            <a:pPr indent="0" marL="0">
              <a:buNone/>
            </a:pPr>
            <a:r>
              <a:rPr lang="en-US" sz="1200" b="1" dirty="0">
                <a:solidFill>
                  <a:schemeClr val="accent1"/>
                </a:solidFill>
              </a:rPr>
              <a:t>DAILY CHECKLIST</a:t>
            </a:r>
            <a:endParaRPr lang="en-US" sz="1200" dirty="0"/>
          </a:p>
        </p:txBody>
      </p:sp>
      <p:sp>
        <p:nvSpPr>
          <p:cNvPr id="38" name="checkbox-1"/>
          <p:cNvSpPr/>
          <p:nvPr/>
        </p:nvSpPr>
        <p:spPr>
          <a:xfrm>
            <a:off x="548640" y="5166360"/>
            <a:ext cx="237744" cy="237744"/>
          </a:xfrm>
          <a:prstGeom prst="roundRect">
            <a:avLst>
              <a:gd name="adj" fmla="val 15385"/>
            </a:avLst>
          </a:prstGeom>
          <a:solidFill>
            <a:schemeClr val="bg1"/>
          </a:solidFill>
          <a:ln w="19050">
            <a:solidFill>
              <a:schemeClr val="accent1"/>
            </a:solidFill>
            <a:prstDash val="solid"/>
          </a:ln>
        </p:spPr>
      </p:sp>
      <p:sp>
        <p:nvSpPr>
          <p:cNvPr id="39" name="Text 36"/>
          <p:cNvSpPr txBox="1"/>
          <p:nvPr/>
        </p:nvSpPr>
        <p:spPr>
          <a:xfrm>
            <a:off x="960120" y="5138928"/>
            <a:ext cx="3840480" cy="292608"/>
          </a:xfrm>
          <a:prstGeom prst="rect">
            <a:avLst/>
          </a:prstGeom>
          <a:noFill/>
          <a:ln/>
        </p:spPr>
        <p:txBody>
          <a:bodyPr wrap="square" lIns="0" tIns="0" rIns="0" bIns="0" rtlCol="0" anchor="ctr"/>
          <a:lstStyle/>
          <a:p>
            <a:pPr indent="0" marL="0">
              <a:buNone/>
            </a:pPr>
            <a:r>
              <a:rPr lang="en-US" sz="1400" dirty="0">
                <a:solidFill>
                  <a:schemeClr val="tx1"/>
                </a:solidFill>
              </a:rPr>
              <a:t>Seed treatment</a:t>
            </a:r>
            <a:endParaRPr lang="en-US" sz="1400" dirty="0"/>
          </a:p>
        </p:txBody>
      </p:sp>
      <p:sp>
        <p:nvSpPr>
          <p:cNvPr id="40" name="mandatory-tag"/>
          <p:cNvSpPr/>
          <p:nvPr/>
        </p:nvSpPr>
        <p:spPr>
          <a:xfrm>
            <a:off x="2743200" y="5166360"/>
            <a:ext cx="1234440" cy="237744"/>
          </a:xfrm>
          <a:prstGeom prst="roundRect">
            <a:avLst>
              <a:gd name="adj" fmla="val 23077"/>
            </a:avLst>
          </a:prstGeom>
          <a:solidFill>
            <a:schemeClr val="accent4">
              <a:alpha val="45000"/>
            </a:schemeClr>
          </a:solidFill>
          <a:ln/>
        </p:spPr>
      </p:sp>
      <p:sp>
        <p:nvSpPr>
          <p:cNvPr id="41" name="Text 38"/>
          <p:cNvSpPr txBox="1"/>
          <p:nvPr/>
        </p:nvSpPr>
        <p:spPr>
          <a:xfrm>
            <a:off x="2743200" y="5166360"/>
            <a:ext cx="1234440" cy="237744"/>
          </a:xfrm>
          <a:prstGeom prst="rect">
            <a:avLst/>
          </a:prstGeom>
          <a:noFill/>
          <a:ln/>
        </p:spPr>
        <p:txBody>
          <a:bodyPr wrap="square" lIns="0" tIns="0" rIns="0" bIns="0" rtlCol="0" anchor="ctr"/>
          <a:lstStyle/>
          <a:p>
            <a:pPr algn="ctr" indent="0" marL="0">
              <a:buNone/>
            </a:pPr>
            <a:r>
              <a:rPr lang="en-US" sz="1000" b="1" dirty="0">
                <a:solidFill>
                  <a:schemeClr val="tx1"/>
                </a:solidFill>
              </a:rPr>
              <a:t>MANDATORY</a:t>
            </a:r>
            <a:endParaRPr lang="en-US" sz="1000" dirty="0"/>
          </a:p>
        </p:txBody>
      </p:sp>
      <p:sp>
        <p:nvSpPr>
          <p:cNvPr id="42" name="checkbox-2"/>
          <p:cNvSpPr/>
          <p:nvPr/>
        </p:nvSpPr>
        <p:spPr>
          <a:xfrm>
            <a:off x="548640" y="5550408"/>
            <a:ext cx="237744" cy="237744"/>
          </a:xfrm>
          <a:prstGeom prst="roundRect">
            <a:avLst>
              <a:gd name="adj" fmla="val 15385"/>
            </a:avLst>
          </a:prstGeom>
          <a:solidFill>
            <a:schemeClr val="bg1"/>
          </a:solidFill>
          <a:ln w="19050">
            <a:solidFill>
              <a:schemeClr val="accent1"/>
            </a:solidFill>
            <a:prstDash val="solid"/>
          </a:ln>
        </p:spPr>
      </p:sp>
      <p:sp>
        <p:nvSpPr>
          <p:cNvPr id="43" name="Text 40"/>
          <p:cNvSpPr txBox="1"/>
          <p:nvPr/>
        </p:nvSpPr>
        <p:spPr>
          <a:xfrm>
            <a:off x="960120" y="5522976"/>
            <a:ext cx="3840480" cy="292608"/>
          </a:xfrm>
          <a:prstGeom prst="rect">
            <a:avLst/>
          </a:prstGeom>
          <a:noFill/>
          <a:ln/>
        </p:spPr>
        <p:txBody>
          <a:bodyPr wrap="square" lIns="0" tIns="0" rIns="0" bIns="0" rtlCol="0" anchor="ctr"/>
          <a:lstStyle/>
          <a:p>
            <a:pPr indent="0" marL="0">
              <a:buNone/>
            </a:pPr>
            <a:r>
              <a:rPr lang="en-US" sz="1400" dirty="0">
                <a:solidFill>
                  <a:schemeClr val="tx1"/>
                </a:solidFill>
              </a:rPr>
              <a:t>Check field water level</a:t>
            </a:r>
            <a:endParaRPr lang="en-US" sz="1400" dirty="0"/>
          </a:p>
        </p:txBody>
      </p:sp>
      <p:sp>
        <p:nvSpPr>
          <p:cNvPr id="44" name="checkbox-3"/>
          <p:cNvSpPr/>
          <p:nvPr/>
        </p:nvSpPr>
        <p:spPr>
          <a:xfrm>
            <a:off x="548640" y="5934456"/>
            <a:ext cx="237744" cy="237744"/>
          </a:xfrm>
          <a:prstGeom prst="roundRect">
            <a:avLst>
              <a:gd name="adj" fmla="val 15385"/>
            </a:avLst>
          </a:prstGeom>
          <a:solidFill>
            <a:schemeClr val="bg1"/>
          </a:solidFill>
          <a:ln w="19050">
            <a:solidFill>
              <a:schemeClr val="accent1"/>
            </a:solidFill>
            <a:prstDash val="solid"/>
          </a:ln>
        </p:spPr>
      </p:sp>
      <p:sp>
        <p:nvSpPr>
          <p:cNvPr id="45" name="Text 42"/>
          <p:cNvSpPr txBox="1"/>
          <p:nvPr/>
        </p:nvSpPr>
        <p:spPr>
          <a:xfrm>
            <a:off x="960120" y="5907024"/>
            <a:ext cx="3840480" cy="292608"/>
          </a:xfrm>
          <a:prstGeom prst="rect">
            <a:avLst/>
          </a:prstGeom>
          <a:noFill/>
          <a:ln/>
        </p:spPr>
        <p:txBody>
          <a:bodyPr wrap="square" lIns="0" tIns="0" rIns="0" bIns="0" rtlCol="0" anchor="ctr"/>
          <a:lstStyle/>
          <a:p>
            <a:pPr indent="0" marL="0">
              <a:buNone/>
            </a:pPr>
            <a:r>
              <a:rPr lang="en-US" sz="1400" dirty="0">
                <a:solidFill>
                  <a:schemeClr val="tx1"/>
                </a:solidFill>
              </a:rPr>
              <a:t>Scout 10 plants for leaf spots</a:t>
            </a:r>
            <a:endParaRPr lang="en-US" sz="1400" dirty="0"/>
          </a:p>
        </p:txBody>
      </p:sp>
      <p:sp>
        <p:nvSpPr>
          <p:cNvPr id="46" name="rebalance-card"/>
          <p:cNvSpPr/>
          <p:nvPr/>
        </p:nvSpPr>
        <p:spPr>
          <a:xfrm>
            <a:off x="7726680" y="1508760"/>
            <a:ext cx="3913632" cy="4754880"/>
          </a:xfrm>
          <a:prstGeom prst="roundRect">
            <a:avLst>
              <a:gd name="adj" fmla="val 2804"/>
            </a:avLst>
          </a:prstGeom>
          <a:solidFill>
            <a:schemeClr val="bg1"/>
          </a:solidFill>
          <a:ln w="9525">
            <a:solidFill>
              <a:schemeClr val="accent3"/>
            </a:solidFill>
            <a:prstDash val="solid"/>
          </a:ln>
          <a:effectLst>
            <a:outerShdw sx="100000" sy="100000" kx="0" ky="0" algn="bl" rotWithShape="0" blurRad="76200" dist="25400" dir="5400000">
              <a:srgbClr val="000000">
                <a:alpha val="12000"/>
              </a:srgbClr>
            </a:outerShdw>
          </a:effectLst>
        </p:spPr>
      </p:sp>
      <p:sp>
        <p:nvSpPr>
          <p:cNvPr id="47" name="Text 44"/>
          <p:cNvSpPr txBox="1"/>
          <p:nvPr/>
        </p:nvSpPr>
        <p:spPr>
          <a:xfrm>
            <a:off x="7955280" y="1691640"/>
            <a:ext cx="3474720" cy="365760"/>
          </a:xfrm>
          <a:prstGeom prst="rect">
            <a:avLst/>
          </a:prstGeom>
          <a:noFill/>
          <a:ln/>
        </p:spPr>
        <p:txBody>
          <a:bodyPr wrap="square" lIns="0" tIns="0" rIns="0" bIns="0" rtlCol="0" anchor="t"/>
          <a:lstStyle/>
          <a:p>
            <a:pPr indent="0" marL="0">
              <a:buNone/>
            </a:pPr>
            <a:r>
              <a:rPr lang="en-US" sz="1800" b="1" dirty="0">
                <a:solidFill>
                  <a:schemeClr val="tx2"/>
                </a:solidFill>
              </a:rPr>
              <a:t>Auto-Rebalancing Engine</a:t>
            </a:r>
            <a:endParaRPr lang="en-US" sz="1800" dirty="0"/>
          </a:p>
        </p:txBody>
      </p:sp>
      <p:sp>
        <p:nvSpPr>
          <p:cNvPr id="48" name="Text 45"/>
          <p:cNvSpPr txBox="1"/>
          <p:nvPr/>
        </p:nvSpPr>
        <p:spPr>
          <a:xfrm>
            <a:off x="7955280" y="2240280"/>
            <a:ext cx="1828800" cy="228600"/>
          </a:xfrm>
          <a:prstGeom prst="rect">
            <a:avLst/>
          </a:prstGeom>
          <a:noFill/>
          <a:ln/>
        </p:spPr>
        <p:txBody>
          <a:bodyPr wrap="square" lIns="0" tIns="0" rIns="0" bIns="0" rtlCol="0" anchor="t"/>
          <a:lstStyle/>
          <a:p>
            <a:pPr indent="0" marL="0">
              <a:buNone/>
            </a:pPr>
            <a:r>
              <a:rPr lang="en-US" sz="1200" b="1" dirty="0">
                <a:solidFill>
                  <a:schemeClr val="accent6"/>
                </a:solidFill>
              </a:rPr>
              <a:t>BEFORE</a:t>
            </a:r>
            <a:endParaRPr lang="en-US" sz="1200" dirty="0"/>
          </a:p>
        </p:txBody>
      </p:sp>
      <p:sp>
        <p:nvSpPr>
          <p:cNvPr id="49" name="before-chip-1"/>
          <p:cNvSpPr/>
          <p:nvPr/>
        </p:nvSpPr>
        <p:spPr>
          <a:xfrm>
            <a:off x="7955280" y="2514600"/>
            <a:ext cx="804672" cy="566928"/>
          </a:xfrm>
          <a:prstGeom prst="roundRect">
            <a:avLst>
              <a:gd name="adj" fmla="val 12903"/>
            </a:avLst>
          </a:prstGeom>
          <a:solidFill>
            <a:schemeClr val="accent5">
              <a:alpha val="20000"/>
            </a:schemeClr>
          </a:solidFill>
          <a:ln w="15875">
            <a:solidFill>
              <a:schemeClr val="accent5"/>
            </a:solidFill>
            <a:prstDash val="solid"/>
          </a:ln>
        </p:spPr>
      </p:sp>
      <p:sp>
        <p:nvSpPr>
          <p:cNvPr id="50" name="Text 47"/>
          <p:cNvSpPr txBox="1"/>
          <p:nvPr/>
        </p:nvSpPr>
        <p:spPr>
          <a:xfrm>
            <a:off x="7955280" y="2514600"/>
            <a:ext cx="804672" cy="566928"/>
          </a:xfrm>
          <a:prstGeom prst="rect">
            <a:avLst/>
          </a:prstGeom>
          <a:noFill/>
          <a:ln/>
        </p:spPr>
        <p:txBody>
          <a:bodyPr wrap="square" lIns="0" tIns="0" rIns="0" bIns="0" rtlCol="0" anchor="ctr"/>
          <a:lstStyle/>
          <a:p>
            <a:pPr algn="ctr" indent="0" marL="0">
              <a:buNone/>
            </a:pPr>
            <a:r>
              <a:rPr lang="en-US" sz="1200" b="1" dirty="0">
                <a:solidFill>
                  <a:schemeClr val="accent5"/>
                </a:solidFill>
              </a:rPr>
              <a:t>Seed treat</a:t>
            </a:r>
            <a:endParaRPr lang="en-US" sz="1200" dirty="0"/>
          </a:p>
        </p:txBody>
      </p:sp>
      <p:sp>
        <p:nvSpPr>
          <p:cNvPr id="51" name="before-chip-2"/>
          <p:cNvSpPr/>
          <p:nvPr/>
        </p:nvSpPr>
        <p:spPr>
          <a:xfrm>
            <a:off x="8887968" y="2514600"/>
            <a:ext cx="804672" cy="566928"/>
          </a:xfrm>
          <a:prstGeom prst="roundRect">
            <a:avLst>
              <a:gd name="adj" fmla="val 12903"/>
            </a:avLst>
          </a:prstGeom>
          <a:solidFill>
            <a:schemeClr val="accent3">
              <a:alpha val="60000"/>
            </a:schemeClr>
          </a:solidFill>
          <a:ln/>
        </p:spPr>
      </p:sp>
      <p:sp>
        <p:nvSpPr>
          <p:cNvPr id="52" name="Text 49"/>
          <p:cNvSpPr txBox="1"/>
          <p:nvPr/>
        </p:nvSpPr>
        <p:spPr>
          <a:xfrm>
            <a:off x="8887968" y="2514600"/>
            <a:ext cx="804672" cy="566928"/>
          </a:xfrm>
          <a:prstGeom prst="rect">
            <a:avLst/>
          </a:prstGeom>
          <a:noFill/>
          <a:ln/>
        </p:spPr>
        <p:txBody>
          <a:bodyPr wrap="square" lIns="0" tIns="0" rIns="0" bIns="0" rtlCol="0" anchor="ctr"/>
          <a:lstStyle/>
          <a:p>
            <a:pPr algn="ctr" indent="0" marL="0">
              <a:buNone/>
            </a:pPr>
            <a:r>
              <a:rPr lang="en-US" sz="1200" b="1" dirty="0">
                <a:solidFill>
                  <a:schemeClr val="tx2"/>
                </a:solidFill>
              </a:rPr>
              <a:t>Sow</a:t>
            </a:r>
            <a:endParaRPr lang="en-US" sz="1200" dirty="0"/>
          </a:p>
        </p:txBody>
      </p:sp>
      <p:sp>
        <p:nvSpPr>
          <p:cNvPr id="53" name="before-chip-3"/>
          <p:cNvSpPr/>
          <p:nvPr/>
        </p:nvSpPr>
        <p:spPr>
          <a:xfrm>
            <a:off x="9820656" y="2514600"/>
            <a:ext cx="804672" cy="566928"/>
          </a:xfrm>
          <a:prstGeom prst="roundRect">
            <a:avLst>
              <a:gd name="adj" fmla="val 12903"/>
            </a:avLst>
          </a:prstGeom>
          <a:solidFill>
            <a:schemeClr val="accent3">
              <a:alpha val="60000"/>
            </a:schemeClr>
          </a:solidFill>
          <a:ln/>
        </p:spPr>
      </p:sp>
      <p:sp>
        <p:nvSpPr>
          <p:cNvPr id="54" name="Text 51"/>
          <p:cNvSpPr txBox="1"/>
          <p:nvPr/>
        </p:nvSpPr>
        <p:spPr>
          <a:xfrm>
            <a:off x="9820656" y="2514600"/>
            <a:ext cx="804672" cy="566928"/>
          </a:xfrm>
          <a:prstGeom prst="rect">
            <a:avLst/>
          </a:prstGeom>
          <a:noFill/>
          <a:ln/>
        </p:spPr>
        <p:txBody>
          <a:bodyPr wrap="square" lIns="0" tIns="0" rIns="0" bIns="0" rtlCol="0" anchor="ctr"/>
          <a:lstStyle/>
          <a:p>
            <a:pPr algn="ctr" indent="0" marL="0">
              <a:buNone/>
            </a:pPr>
            <a:r>
              <a:rPr lang="en-US" sz="1200" b="1" dirty="0">
                <a:solidFill>
                  <a:schemeClr val="tx2"/>
                </a:solidFill>
              </a:rPr>
              <a:t>Basal N</a:t>
            </a:r>
            <a:endParaRPr lang="en-US" sz="1200" dirty="0"/>
          </a:p>
        </p:txBody>
      </p:sp>
      <p:sp>
        <p:nvSpPr>
          <p:cNvPr id="55" name="before-chip-4"/>
          <p:cNvSpPr/>
          <p:nvPr/>
        </p:nvSpPr>
        <p:spPr>
          <a:xfrm>
            <a:off x="10753344" y="2514600"/>
            <a:ext cx="804672" cy="566928"/>
          </a:xfrm>
          <a:prstGeom prst="roundRect">
            <a:avLst>
              <a:gd name="adj" fmla="val 12903"/>
            </a:avLst>
          </a:prstGeom>
          <a:solidFill>
            <a:schemeClr val="accent3">
              <a:alpha val="60000"/>
            </a:schemeClr>
          </a:solidFill>
          <a:ln/>
        </p:spPr>
      </p:sp>
      <p:sp>
        <p:nvSpPr>
          <p:cNvPr id="56" name="Text 53"/>
          <p:cNvSpPr txBox="1"/>
          <p:nvPr/>
        </p:nvSpPr>
        <p:spPr>
          <a:xfrm>
            <a:off x="10753344" y="2514600"/>
            <a:ext cx="804672" cy="566928"/>
          </a:xfrm>
          <a:prstGeom prst="rect">
            <a:avLst/>
          </a:prstGeom>
          <a:noFill/>
          <a:ln/>
        </p:spPr>
        <p:txBody>
          <a:bodyPr wrap="square" lIns="0" tIns="0" rIns="0" bIns="0" rtlCol="0" anchor="ctr"/>
          <a:lstStyle/>
          <a:p>
            <a:pPr algn="ctr" indent="0" marL="0">
              <a:buNone/>
            </a:pPr>
            <a:r>
              <a:rPr lang="en-US" sz="1200" b="1" dirty="0">
                <a:solidFill>
                  <a:schemeClr val="tx2"/>
                </a:solidFill>
              </a:rPr>
              <a:t>Irrigate</a:t>
            </a:r>
            <a:endParaRPr lang="en-US" sz="1200" dirty="0"/>
          </a:p>
        </p:txBody>
      </p:sp>
      <p:sp>
        <p:nvSpPr>
          <p:cNvPr id="57" name="Text 54"/>
          <p:cNvSpPr txBox="1"/>
          <p:nvPr/>
        </p:nvSpPr>
        <p:spPr>
          <a:xfrm>
            <a:off x="7955280" y="3172968"/>
            <a:ext cx="3474720" cy="274320"/>
          </a:xfrm>
          <a:prstGeom prst="rect">
            <a:avLst/>
          </a:prstGeom>
          <a:noFill/>
          <a:ln/>
        </p:spPr>
        <p:txBody>
          <a:bodyPr wrap="square" lIns="0" tIns="0" rIns="0" bIns="0" rtlCol="0" anchor="t"/>
          <a:lstStyle/>
          <a:p>
            <a:pPr indent="0" marL="0">
              <a:buNone/>
            </a:pPr>
            <a:r>
              <a:rPr lang="en-US" sz="1300" dirty="0">
                <a:solidFill>
                  <a:schemeClr val="accent5"/>
                </a:solidFill>
              </a:rPr>
              <a:t>Seed treatment skipped because of rain</a:t>
            </a:r>
            <a:endParaRPr lang="en-US" sz="1300" dirty="0"/>
          </a:p>
        </p:txBody>
      </p:sp>
      <p:sp>
        <p:nvSpPr>
          <p:cNvPr id="58" name="Text 55"/>
          <p:cNvSpPr txBox="1"/>
          <p:nvPr/>
        </p:nvSpPr>
        <p:spPr>
          <a:xfrm>
            <a:off x="7955280" y="3703320"/>
            <a:ext cx="1828800" cy="228600"/>
          </a:xfrm>
          <a:prstGeom prst="rect">
            <a:avLst/>
          </a:prstGeom>
          <a:noFill/>
          <a:ln/>
        </p:spPr>
        <p:txBody>
          <a:bodyPr wrap="square" lIns="0" tIns="0" rIns="0" bIns="0" rtlCol="0" anchor="t"/>
          <a:lstStyle/>
          <a:p>
            <a:pPr indent="0" marL="0">
              <a:buNone/>
            </a:pPr>
            <a:r>
              <a:rPr lang="en-US" sz="1200" b="1" dirty="0">
                <a:solidFill>
                  <a:schemeClr val="accent6"/>
                </a:solidFill>
              </a:rPr>
              <a:t>AFTER</a:t>
            </a:r>
            <a:endParaRPr lang="en-US" sz="1200" dirty="0"/>
          </a:p>
        </p:txBody>
      </p:sp>
      <p:sp>
        <p:nvSpPr>
          <p:cNvPr id="59" name="after-chip-1"/>
          <p:cNvSpPr/>
          <p:nvPr/>
        </p:nvSpPr>
        <p:spPr>
          <a:xfrm>
            <a:off x="7955280" y="3977640"/>
            <a:ext cx="804672" cy="566928"/>
          </a:xfrm>
          <a:prstGeom prst="roundRect">
            <a:avLst>
              <a:gd name="adj" fmla="val 12903"/>
            </a:avLst>
          </a:prstGeom>
          <a:solidFill>
            <a:schemeClr val="accent2">
              <a:alpha val="75000"/>
            </a:schemeClr>
          </a:solidFill>
          <a:ln/>
        </p:spPr>
      </p:sp>
      <p:sp>
        <p:nvSpPr>
          <p:cNvPr id="60" name="Text 57"/>
          <p:cNvSpPr txBox="1"/>
          <p:nvPr/>
        </p:nvSpPr>
        <p:spPr>
          <a:xfrm>
            <a:off x="7955280" y="3977640"/>
            <a:ext cx="804672" cy="566928"/>
          </a:xfrm>
          <a:prstGeom prst="rect">
            <a:avLst/>
          </a:prstGeom>
          <a:noFill/>
          <a:ln/>
        </p:spPr>
        <p:txBody>
          <a:bodyPr wrap="square" lIns="0" tIns="0" rIns="0" bIns="0" rtlCol="0" anchor="ctr"/>
          <a:lstStyle/>
          <a:p>
            <a:pPr algn="ctr" indent="0" marL="0">
              <a:buNone/>
            </a:pPr>
            <a:r>
              <a:rPr lang="en-US" sz="1200" b="1" dirty="0">
                <a:solidFill>
                  <a:schemeClr val="tx2"/>
                </a:solidFill>
              </a:rPr>
              <a:t>Seed treat</a:t>
            </a:r>
            <a:endParaRPr lang="en-US" sz="1200" dirty="0"/>
          </a:p>
        </p:txBody>
      </p:sp>
      <p:sp>
        <p:nvSpPr>
          <p:cNvPr id="61" name="after-chip-2"/>
          <p:cNvSpPr/>
          <p:nvPr/>
        </p:nvSpPr>
        <p:spPr>
          <a:xfrm>
            <a:off x="8887968" y="3977640"/>
            <a:ext cx="804672" cy="566928"/>
          </a:xfrm>
          <a:prstGeom prst="roundRect">
            <a:avLst>
              <a:gd name="adj" fmla="val 12903"/>
            </a:avLst>
          </a:prstGeom>
          <a:solidFill>
            <a:schemeClr val="accent3">
              <a:alpha val="60000"/>
            </a:schemeClr>
          </a:solidFill>
          <a:ln/>
        </p:spPr>
      </p:sp>
      <p:sp>
        <p:nvSpPr>
          <p:cNvPr id="62" name="Text 59"/>
          <p:cNvSpPr txBox="1"/>
          <p:nvPr/>
        </p:nvSpPr>
        <p:spPr>
          <a:xfrm>
            <a:off x="8887968" y="3977640"/>
            <a:ext cx="804672" cy="566928"/>
          </a:xfrm>
          <a:prstGeom prst="rect">
            <a:avLst/>
          </a:prstGeom>
          <a:noFill/>
          <a:ln/>
        </p:spPr>
        <p:txBody>
          <a:bodyPr wrap="square" lIns="0" tIns="0" rIns="0" bIns="0" rtlCol="0" anchor="ctr"/>
          <a:lstStyle/>
          <a:p>
            <a:pPr algn="ctr" indent="0" marL="0">
              <a:buNone/>
            </a:pPr>
            <a:r>
              <a:rPr lang="en-US" sz="1200" b="1" dirty="0">
                <a:solidFill>
                  <a:schemeClr val="tx2"/>
                </a:solidFill>
              </a:rPr>
              <a:t>Sow +1d</a:t>
            </a:r>
            <a:endParaRPr lang="en-US" sz="1200" dirty="0"/>
          </a:p>
        </p:txBody>
      </p:sp>
      <p:sp>
        <p:nvSpPr>
          <p:cNvPr id="63" name="after-chip-3"/>
          <p:cNvSpPr/>
          <p:nvPr/>
        </p:nvSpPr>
        <p:spPr>
          <a:xfrm>
            <a:off x="9820656" y="3977640"/>
            <a:ext cx="804672" cy="566928"/>
          </a:xfrm>
          <a:prstGeom prst="roundRect">
            <a:avLst>
              <a:gd name="adj" fmla="val 12903"/>
            </a:avLst>
          </a:prstGeom>
          <a:solidFill>
            <a:schemeClr val="accent3">
              <a:alpha val="60000"/>
            </a:schemeClr>
          </a:solidFill>
          <a:ln/>
        </p:spPr>
      </p:sp>
      <p:sp>
        <p:nvSpPr>
          <p:cNvPr id="64" name="Text 61"/>
          <p:cNvSpPr txBox="1"/>
          <p:nvPr/>
        </p:nvSpPr>
        <p:spPr>
          <a:xfrm>
            <a:off x="9820656" y="3977640"/>
            <a:ext cx="804672" cy="566928"/>
          </a:xfrm>
          <a:prstGeom prst="rect">
            <a:avLst/>
          </a:prstGeom>
          <a:noFill/>
          <a:ln/>
        </p:spPr>
        <p:txBody>
          <a:bodyPr wrap="square" lIns="0" tIns="0" rIns="0" bIns="0" rtlCol="0" anchor="ctr"/>
          <a:lstStyle/>
          <a:p>
            <a:pPr algn="ctr" indent="0" marL="0">
              <a:buNone/>
            </a:pPr>
            <a:r>
              <a:rPr lang="en-US" sz="1200" b="1" dirty="0">
                <a:solidFill>
                  <a:schemeClr val="tx2"/>
                </a:solidFill>
              </a:rPr>
              <a:t>Basal N +1d</a:t>
            </a:r>
            <a:endParaRPr lang="en-US" sz="1200" dirty="0"/>
          </a:p>
        </p:txBody>
      </p:sp>
      <p:sp>
        <p:nvSpPr>
          <p:cNvPr id="65" name="after-chip-4"/>
          <p:cNvSpPr/>
          <p:nvPr/>
        </p:nvSpPr>
        <p:spPr>
          <a:xfrm>
            <a:off x="10753344" y="3977640"/>
            <a:ext cx="804672" cy="566928"/>
          </a:xfrm>
          <a:prstGeom prst="roundRect">
            <a:avLst>
              <a:gd name="adj" fmla="val 12903"/>
            </a:avLst>
          </a:prstGeom>
          <a:solidFill>
            <a:schemeClr val="accent3">
              <a:alpha val="60000"/>
            </a:schemeClr>
          </a:solidFill>
          <a:ln/>
        </p:spPr>
      </p:sp>
      <p:sp>
        <p:nvSpPr>
          <p:cNvPr id="66" name="Text 63"/>
          <p:cNvSpPr txBox="1"/>
          <p:nvPr/>
        </p:nvSpPr>
        <p:spPr>
          <a:xfrm>
            <a:off x="10753344" y="3977640"/>
            <a:ext cx="804672" cy="566928"/>
          </a:xfrm>
          <a:prstGeom prst="rect">
            <a:avLst/>
          </a:prstGeom>
          <a:noFill/>
          <a:ln/>
        </p:spPr>
        <p:txBody>
          <a:bodyPr wrap="square" lIns="0" tIns="0" rIns="0" bIns="0" rtlCol="0" anchor="ctr"/>
          <a:lstStyle/>
          <a:p>
            <a:pPr algn="ctr" indent="0" marL="0">
              <a:buNone/>
            </a:pPr>
            <a:r>
              <a:rPr lang="en-US" sz="1200" b="1" dirty="0">
                <a:solidFill>
                  <a:schemeClr val="tx2"/>
                </a:solidFill>
              </a:rPr>
              <a:t>Irrigate</a:t>
            </a:r>
            <a:endParaRPr lang="en-US" sz="1200" dirty="0"/>
          </a:p>
        </p:txBody>
      </p:sp>
      <p:sp>
        <p:nvSpPr>
          <p:cNvPr id="67" name="Text 64"/>
          <p:cNvSpPr txBox="1"/>
          <p:nvPr/>
        </p:nvSpPr>
        <p:spPr>
          <a:xfrm>
            <a:off x="7955280" y="4636008"/>
            <a:ext cx="3474720" cy="502920"/>
          </a:xfrm>
          <a:prstGeom prst="rect">
            <a:avLst/>
          </a:prstGeom>
          <a:noFill/>
          <a:ln/>
        </p:spPr>
        <p:txBody>
          <a:bodyPr wrap="square" lIns="0" tIns="0" rIns="0" bIns="0" rtlCol="0" anchor="t"/>
          <a:lstStyle/>
          <a:p>
            <a:pPr indent="0" marL="0">
              <a:buNone/>
            </a:pPr>
            <a:r>
              <a:rPr lang="en-US" sz="1300" dirty="0">
                <a:solidFill>
                  <a:schemeClr val="accent1"/>
                </a:solidFill>
              </a:rPr>
              <a:t>Pushed to the next valid window; dependent tasks re-sequenced</a:t>
            </a:r>
            <a:endParaRPr lang="en-US" sz="1300" dirty="0"/>
          </a:p>
        </p:txBody>
      </p:sp>
      <p:sp>
        <p:nvSpPr>
          <p:cNvPr id="68" name="Text 65"/>
          <p:cNvSpPr txBox="1"/>
          <p:nvPr/>
        </p:nvSpPr>
        <p:spPr>
          <a:xfrm>
            <a:off x="7955280" y="5349240"/>
            <a:ext cx="3474720" cy="640080"/>
          </a:xfrm>
          <a:prstGeom prst="rect">
            <a:avLst/>
          </a:prstGeom>
          <a:noFill/>
          <a:ln/>
        </p:spPr>
        <p:txBody>
          <a:bodyPr wrap="square" lIns="0" tIns="0" rIns="0" bIns="0" rtlCol="0" anchor="t"/>
          <a:lstStyle/>
          <a:p>
            <a:pPr indent="0" marL="0">
              <a:buNone/>
            </a:pPr>
            <a:r>
              <a:rPr lang="en-US" sz="1800" b="1" i="1" dirty="0">
                <a:solidFill>
                  <a:schemeClr val="tx2"/>
                </a:solidFill>
              </a:rPr>
              <a:t>A plan that bends instead of breaks.</a:t>
            </a:r>
            <a:endParaRPr lang="en-US" sz="1800" dirty="0"/>
          </a:p>
        </p:txBody>
      </p:sp>
      <p:sp>
        <p:nvSpPr>
          <p:cNvPr id="25" name="Slide Number Placeholder 0"/>
          <p:cNvSpPr>
            <a:spLocks noGrp="1"/>
          </p:cNvSpPr>
          <p:nvPr>
            <p:ph type="sldNum" sz="quarter" idx="4294967295"/>
          </p:nvPr>
        </p:nvSpPr>
        <p:spPr>
          <a:xfrm>
            <a:off x="10972800" y="642823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40080"/>
          </a:xfrm>
          <a:prstGeom prst="rect">
            <a:avLst/>
          </a:prstGeom>
          <a:noFill/>
          <a:ln/>
        </p:spPr>
        <p:txBody>
          <a:bodyPr wrap="square" lIns="0" tIns="0" rIns="0" bIns="0" rtlCol="0" anchor="ctr"/>
          <a:lstStyle/>
          <a:p>
            <a:pPr algn="l" indent="0" marL="0">
              <a:buNone/>
            </a:pPr>
            <a:r>
              <a:rPr lang="en-US" sz="3400" b="1" dirty="0">
                <a:solidFill>
                  <a:schemeClr val="tx2"/>
                </a:solidFill>
              </a:rPr>
              <a:t>Plant Doctor: Leaf Photo to Treatment Plan</a:t>
            </a:r>
            <a:endParaRPr lang="en-US" sz="3400" dirty="0"/>
          </a:p>
        </p:txBody>
      </p:sp>
      <p:sp>
        <p:nvSpPr>
          <p:cNvPr id="4" name="Text 1"/>
          <p:cNvSpPr txBox="1"/>
          <p:nvPr/>
        </p:nvSpPr>
        <p:spPr>
          <a:xfrm>
            <a:off x="548640" y="932688"/>
            <a:ext cx="11091672" cy="365760"/>
          </a:xfrm>
          <a:prstGeom prst="rect">
            <a:avLst/>
          </a:prstGeom>
          <a:noFill/>
          <a:ln/>
        </p:spPr>
        <p:txBody>
          <a:bodyPr wrap="square" lIns="0" tIns="0" rIns="0" bIns="0" rtlCol="0" anchor="t"/>
          <a:lstStyle/>
          <a:p>
            <a:pPr indent="0" marL="0">
              <a:buNone/>
            </a:pPr>
            <a:r>
              <a:rPr lang="en-US" sz="1600" i="1" dirty="0">
                <a:solidFill>
                  <a:schemeClr val="accent6"/>
                </a:solidFill>
              </a:rPr>
              <a:t>MobileNetV2 and ResNet50 vision classifiers with dual organic and chemical remediation</a:t>
            </a:r>
            <a:endParaRPr lang="en-US" sz="1600" dirty="0"/>
          </a:p>
        </p:txBody>
      </p:sp>
      <p:sp>
        <p:nvSpPr>
          <p:cNvPr id="5" name="step-card-1"/>
          <p:cNvSpPr/>
          <p:nvPr/>
        </p:nvSpPr>
        <p:spPr>
          <a:xfrm>
            <a:off x="548640" y="1508760"/>
            <a:ext cx="3474720" cy="3520440"/>
          </a:xfrm>
          <a:prstGeom prst="roundRect">
            <a:avLst>
              <a:gd name="adj" fmla="val 3158"/>
            </a:avLst>
          </a:prstGeom>
          <a:solidFill>
            <a:schemeClr val="bg1"/>
          </a:solidFill>
          <a:ln w="9525">
            <a:solidFill>
              <a:schemeClr val="accent3"/>
            </a:solidFill>
            <a:prstDash val="solid"/>
          </a:ln>
          <a:effectLst>
            <a:outerShdw sx="100000" sy="100000" kx="0" ky="0" algn="bl" rotWithShape="0" blurRad="76200" dist="25400" dir="5400000">
              <a:srgbClr val="000000">
                <a:alpha val="12000"/>
              </a:srgbClr>
            </a:outerShdw>
          </a:effectLst>
        </p:spPr>
      </p:sp>
      <p:sp>
        <p:nvSpPr>
          <p:cNvPr id="6" name="Text 3"/>
          <p:cNvSpPr txBox="1"/>
          <p:nvPr/>
        </p:nvSpPr>
        <p:spPr>
          <a:xfrm>
            <a:off x="777240" y="1709928"/>
            <a:ext cx="457200" cy="45720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1371600" y="1709928"/>
            <a:ext cx="2377440" cy="457200"/>
          </a:xfrm>
          <a:prstGeom prst="rect">
            <a:avLst/>
          </a:prstGeom>
          <a:noFill/>
          <a:ln/>
        </p:spPr>
        <p:txBody>
          <a:bodyPr wrap="square" lIns="0" tIns="0" rIns="0" bIns="0" rtlCol="0" anchor="ctr"/>
          <a:lstStyle/>
          <a:p>
            <a:pPr indent="0" marL="0">
              <a:buNone/>
            </a:pPr>
            <a:r>
              <a:rPr lang="en-US" sz="2200" b="1" dirty="0">
                <a:solidFill>
                  <a:schemeClr val="tx2"/>
                </a:solidFill>
              </a:rPr>
              <a:t>Snap</a:t>
            </a:r>
            <a:endParaRPr lang="en-US" sz="2200" dirty="0"/>
          </a:p>
        </p:txBody>
      </p:sp>
      <p:sp>
        <p:nvSpPr>
          <p:cNvPr id="8" name="Shape 5"/>
          <p:cNvSpPr/>
          <p:nvPr/>
        </p:nvSpPr>
        <p:spPr>
          <a:xfrm>
            <a:off x="4050792" y="3108960"/>
            <a:ext cx="283464" cy="320040"/>
          </a:xfrm>
          <a:prstGeom prst="rightArrow">
            <a:avLst/>
          </a:prstGeom>
          <a:solidFill>
            <a:schemeClr val="accent2"/>
          </a:solidFill>
          <a:ln/>
        </p:spPr>
      </p:sp>
      <p:sp>
        <p:nvSpPr>
          <p:cNvPr id="9" name="step-card-2"/>
          <p:cNvSpPr/>
          <p:nvPr/>
        </p:nvSpPr>
        <p:spPr>
          <a:xfrm>
            <a:off x="4361688" y="1508760"/>
            <a:ext cx="3474720" cy="3520440"/>
          </a:xfrm>
          <a:prstGeom prst="roundRect">
            <a:avLst>
              <a:gd name="adj" fmla="val 3158"/>
            </a:avLst>
          </a:prstGeom>
          <a:solidFill>
            <a:schemeClr val="bg1"/>
          </a:solidFill>
          <a:ln w="9525">
            <a:solidFill>
              <a:schemeClr val="accent3"/>
            </a:solidFill>
            <a:prstDash val="solid"/>
          </a:ln>
          <a:effectLst>
            <a:outerShdw sx="100000" sy="100000" kx="0" ky="0" algn="bl" rotWithShape="0" blurRad="76200" dist="25400" dir="5400000">
              <a:srgbClr val="000000">
                <a:alpha val="12000"/>
              </a:srgbClr>
            </a:outerShdw>
          </a:effectLst>
        </p:spPr>
      </p:sp>
      <p:sp>
        <p:nvSpPr>
          <p:cNvPr id="10" name="Text 7"/>
          <p:cNvSpPr txBox="1"/>
          <p:nvPr/>
        </p:nvSpPr>
        <p:spPr>
          <a:xfrm>
            <a:off x="4590288" y="1709928"/>
            <a:ext cx="457200" cy="45720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8"/>
          <p:cNvSpPr txBox="1"/>
          <p:nvPr/>
        </p:nvSpPr>
        <p:spPr>
          <a:xfrm>
            <a:off x="5184648" y="1709928"/>
            <a:ext cx="2377440" cy="457200"/>
          </a:xfrm>
          <a:prstGeom prst="rect">
            <a:avLst/>
          </a:prstGeom>
          <a:noFill/>
          <a:ln/>
        </p:spPr>
        <p:txBody>
          <a:bodyPr wrap="square" lIns="0" tIns="0" rIns="0" bIns="0" rtlCol="0" anchor="ctr"/>
          <a:lstStyle/>
          <a:p>
            <a:pPr indent="0" marL="0">
              <a:buNone/>
            </a:pPr>
            <a:r>
              <a:rPr lang="en-US" sz="2200" b="1" dirty="0">
                <a:solidFill>
                  <a:schemeClr val="tx2"/>
                </a:solidFill>
              </a:rPr>
              <a:t>Diagnose</a:t>
            </a:r>
            <a:endParaRPr lang="en-US" sz="2200" dirty="0"/>
          </a:p>
        </p:txBody>
      </p:sp>
      <p:sp>
        <p:nvSpPr>
          <p:cNvPr id="12" name="Shape 9"/>
          <p:cNvSpPr/>
          <p:nvPr/>
        </p:nvSpPr>
        <p:spPr>
          <a:xfrm>
            <a:off x="7863840" y="3108960"/>
            <a:ext cx="283464" cy="320040"/>
          </a:xfrm>
          <a:prstGeom prst="rightArrow">
            <a:avLst/>
          </a:prstGeom>
          <a:solidFill>
            <a:schemeClr val="accent2"/>
          </a:solidFill>
          <a:ln/>
        </p:spPr>
      </p:sp>
      <p:sp>
        <p:nvSpPr>
          <p:cNvPr id="13" name="step-card-3"/>
          <p:cNvSpPr/>
          <p:nvPr/>
        </p:nvSpPr>
        <p:spPr>
          <a:xfrm>
            <a:off x="8165592" y="1508760"/>
            <a:ext cx="3474720" cy="3520440"/>
          </a:xfrm>
          <a:prstGeom prst="roundRect">
            <a:avLst>
              <a:gd name="adj" fmla="val 3158"/>
            </a:avLst>
          </a:prstGeom>
          <a:solidFill>
            <a:schemeClr val="bg1"/>
          </a:solidFill>
          <a:ln w="9525">
            <a:solidFill>
              <a:schemeClr val="accent3"/>
            </a:solidFill>
            <a:prstDash val="solid"/>
          </a:ln>
          <a:effectLst>
            <a:outerShdw sx="100000" sy="100000" kx="0" ky="0" algn="bl" rotWithShape="0" blurRad="76200" dist="25400" dir="5400000">
              <a:srgbClr val="000000">
                <a:alpha val="12000"/>
              </a:srgbClr>
            </a:outerShdw>
          </a:effectLst>
        </p:spPr>
      </p:sp>
      <p:sp>
        <p:nvSpPr>
          <p:cNvPr id="14" name="Text 11"/>
          <p:cNvSpPr txBox="1"/>
          <p:nvPr/>
        </p:nvSpPr>
        <p:spPr>
          <a:xfrm>
            <a:off x="8394192" y="1709928"/>
            <a:ext cx="457200" cy="45720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Text 12"/>
          <p:cNvSpPr txBox="1"/>
          <p:nvPr/>
        </p:nvSpPr>
        <p:spPr>
          <a:xfrm>
            <a:off x="8988552" y="1709928"/>
            <a:ext cx="2377440" cy="457200"/>
          </a:xfrm>
          <a:prstGeom prst="rect">
            <a:avLst/>
          </a:prstGeom>
          <a:noFill/>
          <a:ln/>
        </p:spPr>
        <p:txBody>
          <a:bodyPr wrap="square" lIns="0" tIns="0" rIns="0" bIns="0" rtlCol="0" anchor="ctr"/>
          <a:lstStyle/>
          <a:p>
            <a:pPr indent="0" marL="0">
              <a:buNone/>
            </a:pPr>
            <a:r>
              <a:rPr lang="en-US" sz="2200" b="1" dirty="0">
                <a:solidFill>
                  <a:schemeClr val="tx2"/>
                </a:solidFill>
              </a:rPr>
              <a:t>Treat</a:t>
            </a:r>
            <a:endParaRPr lang="en-US" sz="2200" dirty="0"/>
          </a:p>
        </p:txBody>
      </p:sp>
      <p:sp>
        <p:nvSpPr>
          <p:cNvPr id="16" name="icon-bg-FaCamera"/>
          <p:cNvSpPr/>
          <p:nvPr/>
        </p:nvSpPr>
        <p:spPr>
          <a:xfrm>
            <a:off x="1645920" y="2468880"/>
            <a:ext cx="1280160" cy="1280160"/>
          </a:xfrm>
          <a:prstGeom prst="ellipse">
            <a:avLst/>
          </a:prstGeom>
          <a:solidFill>
            <a:schemeClr val="accent1"/>
          </a:solidFill>
          <a:ln/>
        </p:spPr>
      </p:sp>
      <p:pic>
        <p:nvPicPr>
          <p:cNvPr id="17" name="Image 0" descr="Camera icon">    </p:cNvPr>
          <p:cNvPicPr>
            <a:picLocks noChangeAspect="1"/>
          </p:cNvPicPr>
          <p:nvPr/>
        </p:nvPicPr>
        <p:blipFill>
          <a:blip r:embed="rId1"/>
          <a:stretch>
            <a:fillRect/>
          </a:stretch>
        </p:blipFill>
        <p:spPr>
          <a:xfrm>
            <a:off x="1965960" y="2788920"/>
            <a:ext cx="640080" cy="640080"/>
          </a:xfrm>
          <a:prstGeom prst="rect">
            <a:avLst/>
          </a:prstGeom>
        </p:spPr>
      </p:pic>
      <p:sp>
        <p:nvSpPr>
          <p:cNvPr id="18" name="Text 14"/>
          <p:cNvSpPr txBox="1"/>
          <p:nvPr/>
        </p:nvSpPr>
        <p:spPr>
          <a:xfrm>
            <a:off x="822960" y="3977640"/>
            <a:ext cx="2926080" cy="914400"/>
          </a:xfrm>
          <a:prstGeom prst="rect">
            <a:avLst/>
          </a:prstGeom>
          <a:noFill/>
          <a:ln/>
        </p:spPr>
        <p:txBody>
          <a:bodyPr wrap="square" lIns="0" tIns="0" rIns="0" bIns="0" rtlCol="0" anchor="t"/>
          <a:lstStyle/>
          <a:p>
            <a:pPr algn="ctr" indent="0" marL="0">
              <a:buNone/>
            </a:pPr>
            <a:r>
              <a:rPr lang="en-US" sz="1500" dirty="0">
                <a:solidFill>
                  <a:schemeClr val="tx1"/>
                </a:solidFill>
              </a:rPr>
              <a:t>Upload or capture a photo of the affected leaf. No typing, no waiting for a visit.</a:t>
            </a:r>
            <a:endParaRPr lang="en-US" sz="1500" dirty="0"/>
          </a:p>
        </p:txBody>
      </p:sp>
      <p:sp>
        <p:nvSpPr>
          <p:cNvPr id="19" name="result-tile"/>
          <p:cNvSpPr/>
          <p:nvPr/>
        </p:nvSpPr>
        <p:spPr>
          <a:xfrm>
            <a:off x="4636008" y="2423160"/>
            <a:ext cx="2926080" cy="868680"/>
          </a:xfrm>
          <a:prstGeom prst="roundRect">
            <a:avLst>
              <a:gd name="adj" fmla="val 10526"/>
            </a:avLst>
          </a:prstGeom>
          <a:solidFill>
            <a:schemeClr val="accent5">
              <a:alpha val="15000"/>
            </a:schemeClr>
          </a:solidFill>
          <a:ln w="12700">
            <a:solidFill>
              <a:schemeClr val="accent5"/>
            </a:solidFill>
            <a:prstDash val="solid"/>
          </a:ln>
        </p:spPr>
      </p:sp>
      <p:sp>
        <p:nvSpPr>
          <p:cNvPr id="20" name="Text 16"/>
          <p:cNvSpPr txBox="1"/>
          <p:nvPr/>
        </p:nvSpPr>
        <p:spPr>
          <a:xfrm>
            <a:off x="4636008" y="2423160"/>
            <a:ext cx="2926080" cy="868680"/>
          </a:xfrm>
          <a:prstGeom prst="rect">
            <a:avLst/>
          </a:prstGeom>
          <a:noFill/>
          <a:ln/>
        </p:spPr>
        <p:txBody>
          <a:bodyPr wrap="square" lIns="0" tIns="0" rIns="0" bIns="0" rtlCol="0" anchor="ctr"/>
          <a:lstStyle/>
          <a:p>
            <a:pPr algn="ctr" indent="0" marL="0">
              <a:buNone/>
            </a:pPr>
            <a:r>
              <a:rPr lang="en-US" sz="2400" b="1" dirty="0">
                <a:solidFill>
                  <a:schemeClr val="tx1"/>
                </a:solidFill>
              </a:rPr>
              <a:t>Rice Blast</a:t>
            </a:r>
            <a:endParaRPr lang="en-US" sz="1400" dirty="0"/>
          </a:p>
          <a:p>
            <a:pPr algn="ctr" indent="0" marL="0">
              <a:buNone/>
            </a:pPr>
            <a:r>
              <a:rPr lang="en-US" sz="1200" dirty="0">
                <a:solidFill>
                  <a:schemeClr val="tx1"/>
                </a:solidFill>
              </a:rPr>
              <a:t>diagnosis with confidence score</a:t>
            </a:r>
            <a:endParaRPr lang="en-US" sz="1400" dirty="0"/>
          </a:p>
        </p:txBody>
      </p:sp>
      <p:sp>
        <p:nvSpPr>
          <p:cNvPr id="21" name="Text 17"/>
          <p:cNvSpPr txBox="1"/>
          <p:nvPr/>
        </p:nvSpPr>
        <p:spPr>
          <a:xfrm>
            <a:off x="4636008" y="3566160"/>
            <a:ext cx="2926080" cy="91440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MobileNetV2: </a:t>
            </a:r>
            <a:pPr indent="0" marL="0">
              <a:spcAft>
                <a:spcPts val="600"/>
              </a:spcAft>
              <a:buNone/>
            </a:pPr>
            <a:r>
              <a:rPr lang="en-US" sz="1500" dirty="0">
                <a:solidFill>
                  <a:schemeClr val="tx1"/>
                </a:solidFill>
              </a:rPr>
              <a:t>fast, edge-friendly</a:t>
            </a:r>
            <a:endParaRPr lang="en-US" sz="1500" dirty="0"/>
          </a:p>
          <a:p>
            <a:pPr indent="0" marL="0">
              <a:spcAft>
                <a:spcPts val="600"/>
              </a:spcAft>
              <a:buNone/>
            </a:pPr>
            <a:r>
              <a:rPr lang="en-US" sz="1500" b="1" dirty="0">
                <a:solidFill>
                  <a:schemeClr val="tx1"/>
                </a:solidFill>
              </a:rPr>
              <a:t>ResNet50: </a:t>
            </a:r>
            <a:pPr indent="0" marL="0">
              <a:spcAft>
                <a:spcPts val="600"/>
              </a:spcAft>
              <a:buNone/>
            </a:pPr>
            <a:r>
              <a:rPr lang="en-US" sz="1500" dirty="0">
                <a:solidFill>
                  <a:schemeClr val="tx1"/>
                </a:solidFill>
              </a:rPr>
              <a:t>high-capacity accuracy</a:t>
            </a:r>
            <a:endParaRPr lang="en-US" sz="1500" dirty="0"/>
          </a:p>
        </p:txBody>
      </p:sp>
      <p:sp>
        <p:nvSpPr>
          <p:cNvPr id="22" name="organic-tile"/>
          <p:cNvSpPr/>
          <p:nvPr/>
        </p:nvSpPr>
        <p:spPr>
          <a:xfrm>
            <a:off x="8439912" y="2423160"/>
            <a:ext cx="2926080" cy="1005840"/>
          </a:xfrm>
          <a:prstGeom prst="roundRect">
            <a:avLst>
              <a:gd name="adj" fmla="val 9091"/>
            </a:avLst>
          </a:prstGeom>
          <a:solidFill>
            <a:schemeClr val="accent2"/>
          </a:solidFill>
          <a:ln/>
        </p:spPr>
      </p:sp>
      <p:sp>
        <p:nvSpPr>
          <p:cNvPr id="23" name="Text 19"/>
          <p:cNvSpPr txBox="1"/>
          <p:nvPr/>
        </p:nvSpPr>
        <p:spPr>
          <a:xfrm>
            <a:off x="8577072" y="2423160"/>
            <a:ext cx="2651760" cy="1005840"/>
          </a:xfrm>
          <a:prstGeom prst="rect">
            <a:avLst/>
          </a:prstGeom>
          <a:noFill/>
          <a:ln/>
        </p:spPr>
        <p:txBody>
          <a:bodyPr wrap="square" lIns="0" tIns="0" rIns="0" bIns="0" rtlCol="0" anchor="ctr"/>
          <a:lstStyle/>
          <a:p>
            <a:pPr indent="0" marL="0">
              <a:buNone/>
            </a:pPr>
            <a:r>
              <a:rPr lang="en-US" sz="1500" b="1" dirty="0">
                <a:solidFill>
                  <a:schemeClr val="tx1"/>
                </a:solidFill>
              </a:rPr>
              <a:t>Organic / Biological</a:t>
            </a:r>
            <a:endParaRPr lang="en-US" sz="1400" dirty="0"/>
          </a:p>
          <a:p>
            <a:pPr indent="0" marL="0">
              <a:buNone/>
            </a:pPr>
            <a:r>
              <a:rPr lang="en-US" sz="1300" dirty="0">
                <a:solidFill>
                  <a:schemeClr val="tx1"/>
                </a:solidFill>
              </a:rPr>
              <a:t>Cultural measures, bio-agents, timing</a:t>
            </a:r>
            <a:endParaRPr lang="en-US" sz="1400" dirty="0"/>
          </a:p>
        </p:txBody>
      </p:sp>
      <p:sp>
        <p:nvSpPr>
          <p:cNvPr id="24" name="chemical-tile"/>
          <p:cNvSpPr/>
          <p:nvPr/>
        </p:nvSpPr>
        <p:spPr>
          <a:xfrm>
            <a:off x="8439912" y="3566160"/>
            <a:ext cx="2926080" cy="1005840"/>
          </a:xfrm>
          <a:prstGeom prst="roundRect">
            <a:avLst>
              <a:gd name="adj" fmla="val 9091"/>
            </a:avLst>
          </a:prstGeom>
          <a:solidFill>
            <a:schemeClr val="tx2"/>
          </a:solidFill>
          <a:ln/>
        </p:spPr>
      </p:sp>
      <p:sp>
        <p:nvSpPr>
          <p:cNvPr id="25" name="Text 21"/>
          <p:cNvSpPr txBox="1"/>
          <p:nvPr/>
        </p:nvSpPr>
        <p:spPr>
          <a:xfrm>
            <a:off x="8577072" y="3566160"/>
            <a:ext cx="2651760" cy="1005840"/>
          </a:xfrm>
          <a:prstGeom prst="rect">
            <a:avLst/>
          </a:prstGeom>
          <a:noFill/>
          <a:ln/>
        </p:spPr>
        <p:txBody>
          <a:bodyPr wrap="square" lIns="0" tIns="0" rIns="0" bIns="0" rtlCol="0" anchor="ctr"/>
          <a:lstStyle/>
          <a:p>
            <a:pPr indent="0" marL="0">
              <a:buNone/>
            </a:pPr>
            <a:r>
              <a:rPr lang="en-US" sz="1500" b="1" dirty="0">
                <a:solidFill>
                  <a:schemeClr val="bg1"/>
                </a:solidFill>
              </a:rPr>
              <a:t>Chemical</a:t>
            </a:r>
            <a:endParaRPr lang="en-US" sz="1400" dirty="0"/>
          </a:p>
          <a:p>
            <a:pPr indent="0" marL="0">
              <a:buNone/>
            </a:pPr>
            <a:r>
              <a:rPr lang="en-US" sz="1300" dirty="0">
                <a:solidFill>
                  <a:schemeClr val="bg1"/>
                </a:solidFill>
              </a:rPr>
              <a:t>Molecule, dose, pre-harvest interval</a:t>
            </a:r>
            <a:endParaRPr lang="en-US" sz="1400" dirty="0"/>
          </a:p>
        </p:txBody>
      </p:sp>
      <p:sp>
        <p:nvSpPr>
          <p:cNvPr id="26" name="Text 22"/>
          <p:cNvSpPr txBox="1"/>
          <p:nvPr/>
        </p:nvSpPr>
        <p:spPr>
          <a:xfrm>
            <a:off x="8439912" y="4663440"/>
            <a:ext cx="2926080" cy="274320"/>
          </a:xfrm>
          <a:prstGeom prst="rect">
            <a:avLst/>
          </a:prstGeom>
          <a:noFill/>
          <a:ln/>
        </p:spPr>
        <p:txBody>
          <a:bodyPr wrap="square" lIns="0" tIns="0" rIns="0" bIns="0" rtlCol="0" anchor="t"/>
          <a:lstStyle/>
          <a:p>
            <a:pPr indent="0" marL="0">
              <a:buNone/>
            </a:pPr>
            <a:r>
              <a:rPr lang="en-US" sz="1100" i="1" dirty="0">
                <a:solidFill>
                  <a:schemeClr val="accent6"/>
                </a:solidFill>
              </a:rPr>
              <a:t>Guidance retrieved from ICAR and MANAGE manuals</a:t>
            </a:r>
            <a:endParaRPr lang="en-US" sz="1100" dirty="0"/>
          </a:p>
        </p:txBody>
      </p:sp>
      <p:sp>
        <p:nvSpPr>
          <p:cNvPr id="27" name="Text 23"/>
          <p:cNvSpPr txBox="1"/>
          <p:nvPr/>
        </p:nvSpPr>
        <p:spPr>
          <a:xfrm>
            <a:off x="548640" y="5349240"/>
            <a:ext cx="1005840" cy="502920"/>
          </a:xfrm>
          <a:prstGeom prst="rect">
            <a:avLst/>
          </a:prstGeom>
          <a:noFill/>
          <a:ln/>
        </p:spPr>
        <p:txBody>
          <a:bodyPr wrap="square" lIns="0" tIns="0" rIns="0" bIns="0" rtlCol="0" anchor="ctr"/>
          <a:lstStyle/>
          <a:p>
            <a:pPr indent="0" marL="0">
              <a:buNone/>
            </a:pPr>
            <a:r>
              <a:rPr lang="en-US" sz="1600" b="1" dirty="0">
                <a:solidFill>
                  <a:schemeClr val="tx2"/>
                </a:solidFill>
              </a:rPr>
              <a:t>Detects</a:t>
            </a:r>
            <a:endParaRPr lang="en-US" sz="1600" dirty="0"/>
          </a:p>
        </p:txBody>
      </p:sp>
      <p:sp>
        <p:nvSpPr>
          <p:cNvPr id="28" name="disease-chip-1"/>
          <p:cNvSpPr/>
          <p:nvPr/>
        </p:nvSpPr>
        <p:spPr>
          <a:xfrm>
            <a:off x="1600200" y="5349240"/>
            <a:ext cx="1874520" cy="502920"/>
          </a:xfrm>
          <a:prstGeom prst="roundRect">
            <a:avLst>
              <a:gd name="adj" fmla="val 45455"/>
            </a:avLst>
          </a:prstGeom>
          <a:solidFill>
            <a:schemeClr val="accent3">
              <a:alpha val="70000"/>
            </a:schemeClr>
          </a:solidFill>
          <a:ln/>
        </p:spPr>
      </p:sp>
      <p:sp>
        <p:nvSpPr>
          <p:cNvPr id="29" name="Text 25"/>
          <p:cNvSpPr txBox="1"/>
          <p:nvPr/>
        </p:nvSpPr>
        <p:spPr>
          <a:xfrm>
            <a:off x="1600200" y="5349240"/>
            <a:ext cx="1874520" cy="502920"/>
          </a:xfrm>
          <a:prstGeom prst="rect">
            <a:avLst/>
          </a:prstGeom>
          <a:noFill/>
          <a:ln/>
        </p:spPr>
        <p:txBody>
          <a:bodyPr wrap="square" lIns="0" tIns="0" rIns="0" bIns="0" rtlCol="0" anchor="ctr"/>
          <a:lstStyle/>
          <a:p>
            <a:pPr algn="ctr" indent="0" marL="0">
              <a:buNone/>
            </a:pPr>
            <a:r>
              <a:rPr lang="en-US" sz="1400" b="1" dirty="0">
                <a:solidFill>
                  <a:schemeClr val="tx2"/>
                </a:solidFill>
              </a:rPr>
              <a:t>Rice Blast</a:t>
            </a:r>
            <a:endParaRPr lang="en-US" sz="1400" dirty="0"/>
          </a:p>
        </p:txBody>
      </p:sp>
      <p:sp>
        <p:nvSpPr>
          <p:cNvPr id="30" name="disease-chip-2"/>
          <p:cNvSpPr/>
          <p:nvPr/>
        </p:nvSpPr>
        <p:spPr>
          <a:xfrm>
            <a:off x="3611880" y="5349240"/>
            <a:ext cx="1874520" cy="502920"/>
          </a:xfrm>
          <a:prstGeom prst="roundRect">
            <a:avLst>
              <a:gd name="adj" fmla="val 45455"/>
            </a:avLst>
          </a:prstGeom>
          <a:solidFill>
            <a:schemeClr val="accent3">
              <a:alpha val="70000"/>
            </a:schemeClr>
          </a:solidFill>
          <a:ln/>
        </p:spPr>
      </p:sp>
      <p:sp>
        <p:nvSpPr>
          <p:cNvPr id="31" name="Text 27"/>
          <p:cNvSpPr txBox="1"/>
          <p:nvPr/>
        </p:nvSpPr>
        <p:spPr>
          <a:xfrm>
            <a:off x="3611880" y="5349240"/>
            <a:ext cx="1874520" cy="502920"/>
          </a:xfrm>
          <a:prstGeom prst="rect">
            <a:avLst/>
          </a:prstGeom>
          <a:noFill/>
          <a:ln/>
        </p:spPr>
        <p:txBody>
          <a:bodyPr wrap="square" lIns="0" tIns="0" rIns="0" bIns="0" rtlCol="0" anchor="ctr"/>
          <a:lstStyle/>
          <a:p>
            <a:pPr algn="ctr" indent="0" marL="0">
              <a:buNone/>
            </a:pPr>
            <a:r>
              <a:rPr lang="en-US" sz="1400" b="1" dirty="0">
                <a:solidFill>
                  <a:schemeClr val="tx2"/>
                </a:solidFill>
              </a:rPr>
              <a:t>Early Blight</a:t>
            </a:r>
            <a:endParaRPr lang="en-US" sz="1400" dirty="0"/>
          </a:p>
        </p:txBody>
      </p:sp>
      <p:sp>
        <p:nvSpPr>
          <p:cNvPr id="32" name="disease-chip-3"/>
          <p:cNvSpPr/>
          <p:nvPr/>
        </p:nvSpPr>
        <p:spPr>
          <a:xfrm>
            <a:off x="5623560" y="5349240"/>
            <a:ext cx="1874520" cy="502920"/>
          </a:xfrm>
          <a:prstGeom prst="roundRect">
            <a:avLst>
              <a:gd name="adj" fmla="val 45455"/>
            </a:avLst>
          </a:prstGeom>
          <a:solidFill>
            <a:schemeClr val="accent3">
              <a:alpha val="70000"/>
            </a:schemeClr>
          </a:solidFill>
          <a:ln/>
        </p:spPr>
      </p:sp>
      <p:sp>
        <p:nvSpPr>
          <p:cNvPr id="33" name="Text 29"/>
          <p:cNvSpPr txBox="1"/>
          <p:nvPr/>
        </p:nvSpPr>
        <p:spPr>
          <a:xfrm>
            <a:off x="5623560" y="5349240"/>
            <a:ext cx="1874520" cy="502920"/>
          </a:xfrm>
          <a:prstGeom prst="rect">
            <a:avLst/>
          </a:prstGeom>
          <a:noFill/>
          <a:ln/>
        </p:spPr>
        <p:txBody>
          <a:bodyPr wrap="square" lIns="0" tIns="0" rIns="0" bIns="0" rtlCol="0" anchor="ctr"/>
          <a:lstStyle/>
          <a:p>
            <a:pPr algn="ctr" indent="0" marL="0">
              <a:buNone/>
            </a:pPr>
            <a:r>
              <a:rPr lang="en-US" sz="1400" b="1" dirty="0">
                <a:solidFill>
                  <a:schemeClr val="tx2"/>
                </a:solidFill>
              </a:rPr>
              <a:t>Powdery Mildew</a:t>
            </a:r>
            <a:endParaRPr lang="en-US" sz="1400" dirty="0"/>
          </a:p>
        </p:txBody>
      </p:sp>
      <p:sp>
        <p:nvSpPr>
          <p:cNvPr id="34" name="disease-chip-4"/>
          <p:cNvSpPr/>
          <p:nvPr/>
        </p:nvSpPr>
        <p:spPr>
          <a:xfrm>
            <a:off x="7635240" y="5349240"/>
            <a:ext cx="1874520" cy="502920"/>
          </a:xfrm>
          <a:prstGeom prst="roundRect">
            <a:avLst>
              <a:gd name="adj" fmla="val 45455"/>
            </a:avLst>
          </a:prstGeom>
          <a:solidFill>
            <a:schemeClr val="accent3">
              <a:alpha val="70000"/>
            </a:schemeClr>
          </a:solidFill>
          <a:ln/>
        </p:spPr>
      </p:sp>
      <p:sp>
        <p:nvSpPr>
          <p:cNvPr id="35" name="Text 31"/>
          <p:cNvSpPr txBox="1"/>
          <p:nvPr/>
        </p:nvSpPr>
        <p:spPr>
          <a:xfrm>
            <a:off x="7635240" y="5349240"/>
            <a:ext cx="1874520" cy="502920"/>
          </a:xfrm>
          <a:prstGeom prst="rect">
            <a:avLst/>
          </a:prstGeom>
          <a:noFill/>
          <a:ln/>
        </p:spPr>
        <p:txBody>
          <a:bodyPr wrap="square" lIns="0" tIns="0" rIns="0" bIns="0" rtlCol="0" anchor="ctr"/>
          <a:lstStyle/>
          <a:p>
            <a:pPr algn="ctr" indent="0" marL="0">
              <a:buNone/>
            </a:pPr>
            <a:r>
              <a:rPr lang="en-US" sz="1400" b="1" dirty="0">
                <a:solidFill>
                  <a:schemeClr val="tx2"/>
                </a:solidFill>
              </a:rPr>
              <a:t>Rust</a:t>
            </a:r>
            <a:endParaRPr lang="en-US" sz="1400" dirty="0"/>
          </a:p>
        </p:txBody>
      </p:sp>
      <p:sp>
        <p:nvSpPr>
          <p:cNvPr id="36" name="disease-chip-5"/>
          <p:cNvSpPr/>
          <p:nvPr/>
        </p:nvSpPr>
        <p:spPr>
          <a:xfrm>
            <a:off x="9646920" y="5349240"/>
            <a:ext cx="1874520" cy="502920"/>
          </a:xfrm>
          <a:prstGeom prst="roundRect">
            <a:avLst>
              <a:gd name="adj" fmla="val 45455"/>
            </a:avLst>
          </a:prstGeom>
          <a:solidFill>
            <a:schemeClr val="accent3">
              <a:alpha val="70000"/>
            </a:schemeClr>
          </a:solidFill>
          <a:ln/>
        </p:spPr>
      </p:sp>
      <p:sp>
        <p:nvSpPr>
          <p:cNvPr id="37" name="Text 33"/>
          <p:cNvSpPr txBox="1"/>
          <p:nvPr/>
        </p:nvSpPr>
        <p:spPr>
          <a:xfrm>
            <a:off x="9646920" y="5349240"/>
            <a:ext cx="1874520" cy="502920"/>
          </a:xfrm>
          <a:prstGeom prst="rect">
            <a:avLst/>
          </a:prstGeom>
          <a:noFill/>
          <a:ln/>
        </p:spPr>
        <p:txBody>
          <a:bodyPr wrap="square" lIns="0" tIns="0" rIns="0" bIns="0" rtlCol="0" anchor="ctr"/>
          <a:lstStyle/>
          <a:p>
            <a:pPr algn="ctr" indent="0" marL="0">
              <a:buNone/>
            </a:pPr>
            <a:r>
              <a:rPr lang="en-US" sz="1400" b="1" dirty="0">
                <a:solidFill>
                  <a:schemeClr val="tx2"/>
                </a:solidFill>
              </a:rPr>
              <a:t>Brown Spot</a:t>
            </a:r>
            <a:endParaRPr lang="en-US" sz="1400" dirty="0"/>
          </a:p>
        </p:txBody>
      </p:sp>
      <p:sp>
        <p:nvSpPr>
          <p:cNvPr id="25" name="Slide Number Placeholder 0"/>
          <p:cNvSpPr>
            <a:spLocks noGrp="1"/>
          </p:cNvSpPr>
          <p:nvPr>
            <p:ph type="sldNum" sz="quarter" idx="4294967295"/>
          </p:nvPr>
        </p:nvSpPr>
        <p:spPr>
          <a:xfrm>
            <a:off x="10972800" y="642823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40080"/>
          </a:xfrm>
          <a:prstGeom prst="rect">
            <a:avLst/>
          </a:prstGeom>
          <a:noFill/>
          <a:ln/>
        </p:spPr>
        <p:txBody>
          <a:bodyPr wrap="square" lIns="0" tIns="0" rIns="0" bIns="0" rtlCol="0" anchor="ctr"/>
          <a:lstStyle/>
          <a:p>
            <a:pPr algn="l" indent="0" marL="0">
              <a:buNone/>
            </a:pPr>
            <a:r>
              <a:rPr lang="en-US" sz="3400" b="1" dirty="0">
                <a:solidFill>
                  <a:schemeClr val="tx2"/>
                </a:solidFill>
              </a:rPr>
              <a:t>Ask Your Farm Records in Plain Language</a:t>
            </a:r>
            <a:endParaRPr lang="en-US" sz="3400" dirty="0"/>
          </a:p>
        </p:txBody>
      </p:sp>
      <p:sp>
        <p:nvSpPr>
          <p:cNvPr id="4" name="Text 1"/>
          <p:cNvSpPr txBox="1"/>
          <p:nvPr/>
        </p:nvSpPr>
        <p:spPr>
          <a:xfrm>
            <a:off x="548640" y="932688"/>
            <a:ext cx="11091672" cy="365760"/>
          </a:xfrm>
          <a:prstGeom prst="rect">
            <a:avLst/>
          </a:prstGeom>
          <a:noFill/>
          <a:ln/>
        </p:spPr>
        <p:txBody>
          <a:bodyPr wrap="square" lIns="0" tIns="0" rIns="0" bIns="0" rtlCol="0" anchor="t"/>
          <a:lstStyle/>
          <a:p>
            <a:pPr indent="0" marL="0">
              <a:buNone/>
            </a:pPr>
            <a:r>
              <a:rPr lang="en-US" sz="1600" i="1" dirty="0">
                <a:solidFill>
                  <a:schemeClr val="accent6"/>
                </a:solidFill>
              </a:rPr>
              <a:t>A read-only SQL agent over farmer_profile.db with AST security guardrails</a:t>
            </a:r>
            <a:endParaRPr lang="en-US" sz="1600" dirty="0"/>
          </a:p>
        </p:txBody>
      </p:sp>
      <p:sp>
        <p:nvSpPr>
          <p:cNvPr id="5" name="chat-panel"/>
          <p:cNvSpPr/>
          <p:nvPr/>
        </p:nvSpPr>
        <p:spPr>
          <a:xfrm>
            <a:off x="548640" y="1508760"/>
            <a:ext cx="5852160" cy="3429000"/>
          </a:xfrm>
          <a:prstGeom prst="roundRect">
            <a:avLst>
              <a:gd name="adj" fmla="val 3200"/>
            </a:avLst>
          </a:prstGeom>
          <a:solidFill>
            <a:schemeClr val="bg1"/>
          </a:solidFill>
          <a:ln w="9525">
            <a:solidFill>
              <a:schemeClr val="accent3"/>
            </a:solidFill>
            <a:prstDash val="solid"/>
          </a:ln>
          <a:effectLst>
            <a:outerShdw sx="100000" sy="100000" kx="0" ky="0" algn="bl" rotWithShape="0" blurRad="76200" dist="25400" dir="5400000">
              <a:srgbClr val="000000">
                <a:alpha val="12000"/>
              </a:srgbClr>
            </a:outerShdw>
          </a:effectLst>
        </p:spPr>
      </p:sp>
      <p:sp>
        <p:nvSpPr>
          <p:cNvPr id="6" name="farmer-bubble"/>
          <p:cNvSpPr/>
          <p:nvPr/>
        </p:nvSpPr>
        <p:spPr>
          <a:xfrm>
            <a:off x="1828800" y="1783080"/>
            <a:ext cx="4389120" cy="868680"/>
          </a:xfrm>
          <a:prstGeom prst="roundRect">
            <a:avLst>
              <a:gd name="adj" fmla="val 15789"/>
            </a:avLst>
          </a:prstGeom>
          <a:solidFill>
            <a:schemeClr val="accent1"/>
          </a:solidFill>
          <a:ln/>
        </p:spPr>
      </p:sp>
      <p:sp>
        <p:nvSpPr>
          <p:cNvPr id="7" name="Text 4"/>
          <p:cNvSpPr txBox="1"/>
          <p:nvPr/>
        </p:nvSpPr>
        <p:spPr>
          <a:xfrm>
            <a:off x="2011680" y="1783080"/>
            <a:ext cx="4023360" cy="868680"/>
          </a:xfrm>
          <a:prstGeom prst="rect">
            <a:avLst/>
          </a:prstGeom>
          <a:noFill/>
          <a:ln/>
        </p:spPr>
        <p:txBody>
          <a:bodyPr wrap="square" lIns="0" tIns="0" rIns="0" bIns="0" rtlCol="0" anchor="ctr"/>
          <a:lstStyle/>
          <a:p>
            <a:pPr indent="0" marL="0">
              <a:buNone/>
            </a:pPr>
            <a:r>
              <a:rPr lang="en-US" sz="1500" dirty="0">
                <a:solidFill>
                  <a:schemeClr val="bg1"/>
                </a:solidFill>
              </a:rPr>
              <a:t>Which crop gave me the best profit in the last three years?</a:t>
            </a:r>
            <a:endParaRPr lang="en-US" sz="1500" dirty="0"/>
          </a:p>
        </p:txBody>
      </p:sp>
      <p:sp>
        <p:nvSpPr>
          <p:cNvPr id="8" name="assistant-bubble"/>
          <p:cNvSpPr/>
          <p:nvPr/>
        </p:nvSpPr>
        <p:spPr>
          <a:xfrm>
            <a:off x="777240" y="2926080"/>
            <a:ext cx="4663440" cy="1097280"/>
          </a:xfrm>
          <a:prstGeom prst="roundRect">
            <a:avLst>
              <a:gd name="adj" fmla="val 12500"/>
            </a:avLst>
          </a:prstGeom>
          <a:solidFill>
            <a:schemeClr val="accent3">
              <a:alpha val="55000"/>
            </a:schemeClr>
          </a:solidFill>
          <a:ln/>
        </p:spPr>
      </p:sp>
      <p:sp>
        <p:nvSpPr>
          <p:cNvPr id="9" name="Text 6"/>
          <p:cNvSpPr txBox="1"/>
          <p:nvPr/>
        </p:nvSpPr>
        <p:spPr>
          <a:xfrm>
            <a:off x="960120" y="2926080"/>
            <a:ext cx="4297680" cy="1097280"/>
          </a:xfrm>
          <a:prstGeom prst="rect">
            <a:avLst/>
          </a:prstGeom>
          <a:noFill/>
          <a:ln/>
        </p:spPr>
        <p:txBody>
          <a:bodyPr wrap="square" lIns="0" tIns="0" rIns="0" bIns="0" rtlCol="0" anchor="ctr"/>
          <a:lstStyle/>
          <a:p>
            <a:pPr indent="0" marL="0">
              <a:buNone/>
            </a:pPr>
            <a:r>
              <a:rPr lang="en-US" sz="1500" dirty="0">
                <a:solidFill>
                  <a:schemeClr val="tx1"/>
                </a:solidFill>
              </a:rPr>
              <a:t>Your highest-profit crop over the last three years, with the exact yield and profit for each season.</a:t>
            </a:r>
            <a:endParaRPr lang="en-US" sz="1500" dirty="0"/>
          </a:p>
        </p:txBody>
      </p:sp>
      <p:sp>
        <p:nvSpPr>
          <p:cNvPr id="10" name="source-chip"/>
          <p:cNvSpPr/>
          <p:nvPr/>
        </p:nvSpPr>
        <p:spPr>
          <a:xfrm>
            <a:off x="777240" y="4251960"/>
            <a:ext cx="2103120" cy="365760"/>
          </a:xfrm>
          <a:prstGeom prst="roundRect">
            <a:avLst>
              <a:gd name="adj" fmla="val 50000"/>
            </a:avLst>
          </a:prstGeom>
          <a:solidFill>
            <a:schemeClr val="tx2"/>
          </a:solidFill>
          <a:ln/>
        </p:spPr>
      </p:sp>
      <p:sp>
        <p:nvSpPr>
          <p:cNvPr id="11" name="Text 8"/>
          <p:cNvSpPr txBox="1"/>
          <p:nvPr/>
        </p:nvSpPr>
        <p:spPr>
          <a:xfrm>
            <a:off x="777240" y="4251960"/>
            <a:ext cx="2103120" cy="365760"/>
          </a:xfrm>
          <a:prstGeom prst="rect">
            <a:avLst/>
          </a:prstGeom>
          <a:noFill/>
          <a:ln/>
        </p:spPr>
        <p:txBody>
          <a:bodyPr wrap="square" lIns="0" tIns="0" rIns="0" bIns="0" rtlCol="0" anchor="ctr"/>
          <a:lstStyle/>
          <a:p>
            <a:pPr algn="ctr" indent="0" marL="0">
              <a:buNone/>
            </a:pPr>
            <a:r>
              <a:rPr lang="en-US" sz="1200" b="1" dirty="0">
                <a:solidFill>
                  <a:schemeClr val="bg1"/>
                </a:solidFill>
              </a:rPr>
              <a:t>Source: crop_history</a:t>
            </a:r>
            <a:endParaRPr lang="en-US" sz="1200" dirty="0"/>
          </a:p>
        </p:txBody>
      </p:sp>
      <p:sp>
        <p:nvSpPr>
          <p:cNvPr id="12" name="reject-note"/>
          <p:cNvSpPr/>
          <p:nvPr/>
        </p:nvSpPr>
        <p:spPr>
          <a:xfrm>
            <a:off x="548640" y="5166360"/>
            <a:ext cx="5852160" cy="1051560"/>
          </a:xfrm>
          <a:prstGeom prst="roundRect">
            <a:avLst>
              <a:gd name="adj" fmla="val 8696"/>
            </a:avLst>
          </a:prstGeom>
          <a:solidFill>
            <a:schemeClr val="accent5">
              <a:alpha val="12000"/>
            </a:schemeClr>
          </a:solidFill>
          <a:ln w="12700">
            <a:solidFill>
              <a:schemeClr val="accent5"/>
            </a:solidFill>
            <a:prstDash val="solid"/>
          </a:ln>
        </p:spPr>
      </p:sp>
      <p:sp>
        <p:nvSpPr>
          <p:cNvPr id="13" name="icon-bg-FaLock"/>
          <p:cNvSpPr/>
          <p:nvPr/>
        </p:nvSpPr>
        <p:spPr>
          <a:xfrm>
            <a:off x="731520" y="5440680"/>
            <a:ext cx="502920" cy="502920"/>
          </a:xfrm>
          <a:prstGeom prst="ellipse">
            <a:avLst/>
          </a:prstGeom>
          <a:solidFill>
            <a:schemeClr val="accent5"/>
          </a:solidFill>
          <a:ln/>
        </p:spPr>
      </p:sp>
      <p:pic>
        <p:nvPicPr>
          <p:cNvPr id="14" name="Image 0" descr="Lock icon">    </p:cNvPr>
          <p:cNvPicPr>
            <a:picLocks noChangeAspect="1"/>
          </p:cNvPicPr>
          <p:nvPr/>
        </p:nvPicPr>
        <p:blipFill>
          <a:blip r:embed="rId1"/>
          <a:stretch>
            <a:fillRect/>
          </a:stretch>
        </p:blipFill>
        <p:spPr>
          <a:xfrm>
            <a:off x="857250" y="5566410"/>
            <a:ext cx="251460" cy="251460"/>
          </a:xfrm>
          <a:prstGeom prst="rect">
            <a:avLst/>
          </a:prstGeom>
        </p:spPr>
      </p:pic>
      <p:sp>
        <p:nvSpPr>
          <p:cNvPr id="15" name="Text 11"/>
          <p:cNvSpPr txBox="1"/>
          <p:nvPr/>
        </p:nvSpPr>
        <p:spPr>
          <a:xfrm>
            <a:off x="1417320" y="5166360"/>
            <a:ext cx="4846320" cy="1051560"/>
          </a:xfrm>
          <a:prstGeom prst="rect">
            <a:avLst/>
          </a:prstGeom>
          <a:noFill/>
          <a:ln/>
        </p:spPr>
        <p:txBody>
          <a:bodyPr wrap="square" lIns="0" tIns="0" rIns="0" bIns="0" rtlCol="0" anchor="ctr"/>
          <a:lstStyle/>
          <a:p>
            <a:pPr indent="0" marL="0">
              <a:buNone/>
            </a:pPr>
            <a:r>
              <a:rPr lang="en-US" sz="1400" b="1" dirty="0">
                <a:solidFill>
                  <a:schemeClr val="tx1"/>
                </a:solidFill>
              </a:rPr>
              <a:t>Rejected before execution: </a:t>
            </a:r>
            <a:pPr indent="0" marL="0">
              <a:buNone/>
            </a:pPr>
            <a:r>
              <a:rPr lang="en-US" sz="1400" dirty="0">
                <a:solidFill>
                  <a:schemeClr val="tx1"/>
                </a:solidFill>
              </a:rPr>
              <a:t>DROP, DELETE, UPDATE and stacked statements. Enforced in core/sql_agent.py.</a:t>
            </a:r>
            <a:endParaRPr lang="en-US" sz="1400" dirty="0"/>
          </a:p>
        </p:txBody>
      </p:sp>
      <p:sp>
        <p:nvSpPr>
          <p:cNvPr id="16" name="pipe-1"/>
          <p:cNvSpPr/>
          <p:nvPr/>
        </p:nvSpPr>
        <p:spPr>
          <a:xfrm>
            <a:off x="6949440" y="1508760"/>
            <a:ext cx="4690872" cy="566928"/>
          </a:xfrm>
          <a:prstGeom prst="roundRect">
            <a:avLst>
              <a:gd name="adj" fmla="val 16129"/>
            </a:avLst>
          </a:prstGeom>
          <a:solidFill>
            <a:schemeClr val="accent3">
              <a:alpha val="60000"/>
            </a:schemeClr>
          </a:solidFill>
          <a:ln/>
        </p:spPr>
      </p:sp>
      <p:sp>
        <p:nvSpPr>
          <p:cNvPr id="17" name="Text 13"/>
          <p:cNvSpPr txBox="1"/>
          <p:nvPr/>
        </p:nvSpPr>
        <p:spPr>
          <a:xfrm>
            <a:off x="7178040" y="1508760"/>
            <a:ext cx="4233672" cy="566928"/>
          </a:xfrm>
          <a:prstGeom prst="rect">
            <a:avLst/>
          </a:prstGeom>
          <a:noFill/>
          <a:ln/>
        </p:spPr>
        <p:txBody>
          <a:bodyPr wrap="square" lIns="0" tIns="0" rIns="0" bIns="0" rtlCol="0" anchor="ctr"/>
          <a:lstStyle/>
          <a:p>
            <a:pPr indent="0" marL="0">
              <a:buNone/>
            </a:pPr>
            <a:r>
              <a:rPr lang="en-US" sz="1500" b="1" dirty="0">
                <a:solidFill>
                  <a:schemeClr val="tx2"/>
                </a:solidFill>
              </a:rPr>
              <a:t>1  Natural-language question</a:t>
            </a:r>
            <a:endParaRPr lang="en-US" sz="1500" dirty="0"/>
          </a:p>
        </p:txBody>
      </p:sp>
      <p:sp>
        <p:nvSpPr>
          <p:cNvPr id="18" name="Shape 14"/>
          <p:cNvSpPr/>
          <p:nvPr/>
        </p:nvSpPr>
        <p:spPr>
          <a:xfrm>
            <a:off x="9157716" y="2103120"/>
            <a:ext cx="274320" cy="201168"/>
          </a:xfrm>
          <a:prstGeom prst="downArrow">
            <a:avLst/>
          </a:prstGeom>
          <a:solidFill>
            <a:schemeClr val="accent1"/>
          </a:solidFill>
          <a:ln/>
        </p:spPr>
      </p:sp>
      <p:sp>
        <p:nvSpPr>
          <p:cNvPr id="19" name="pipe-2"/>
          <p:cNvSpPr/>
          <p:nvPr/>
        </p:nvSpPr>
        <p:spPr>
          <a:xfrm>
            <a:off x="6949440" y="2331720"/>
            <a:ext cx="4690872" cy="566928"/>
          </a:xfrm>
          <a:prstGeom prst="roundRect">
            <a:avLst>
              <a:gd name="adj" fmla="val 16129"/>
            </a:avLst>
          </a:prstGeom>
          <a:solidFill>
            <a:schemeClr val="accent3">
              <a:alpha val="60000"/>
            </a:schemeClr>
          </a:solidFill>
          <a:ln/>
        </p:spPr>
      </p:sp>
      <p:sp>
        <p:nvSpPr>
          <p:cNvPr id="20" name="Text 16"/>
          <p:cNvSpPr txBox="1"/>
          <p:nvPr/>
        </p:nvSpPr>
        <p:spPr>
          <a:xfrm>
            <a:off x="7178040" y="2331720"/>
            <a:ext cx="4233672" cy="566928"/>
          </a:xfrm>
          <a:prstGeom prst="rect">
            <a:avLst/>
          </a:prstGeom>
          <a:noFill/>
          <a:ln/>
        </p:spPr>
        <p:txBody>
          <a:bodyPr wrap="square" lIns="0" tIns="0" rIns="0" bIns="0" rtlCol="0" anchor="ctr"/>
          <a:lstStyle/>
          <a:p>
            <a:pPr indent="0" marL="0">
              <a:buNone/>
            </a:pPr>
            <a:r>
              <a:rPr lang="en-US" sz="1500" b="1" dirty="0">
                <a:solidFill>
                  <a:schemeClr val="tx2"/>
                </a:solidFill>
              </a:rPr>
              <a:t>2  LLM drafts a SQL query</a:t>
            </a:r>
            <a:endParaRPr lang="en-US" sz="1500" dirty="0"/>
          </a:p>
        </p:txBody>
      </p:sp>
      <p:sp>
        <p:nvSpPr>
          <p:cNvPr id="21" name="Shape 17"/>
          <p:cNvSpPr/>
          <p:nvPr/>
        </p:nvSpPr>
        <p:spPr>
          <a:xfrm>
            <a:off x="9157716" y="2926080"/>
            <a:ext cx="274320" cy="201168"/>
          </a:xfrm>
          <a:prstGeom prst="downArrow">
            <a:avLst/>
          </a:prstGeom>
          <a:solidFill>
            <a:schemeClr val="accent1"/>
          </a:solidFill>
          <a:ln/>
        </p:spPr>
      </p:sp>
      <p:sp>
        <p:nvSpPr>
          <p:cNvPr id="22" name="pipe-3-validator"/>
          <p:cNvSpPr/>
          <p:nvPr/>
        </p:nvSpPr>
        <p:spPr>
          <a:xfrm>
            <a:off x="6949440" y="3154680"/>
            <a:ext cx="4690872" cy="1234440"/>
          </a:xfrm>
          <a:prstGeom prst="roundRect">
            <a:avLst>
              <a:gd name="adj" fmla="val 7407"/>
            </a:avLst>
          </a:prstGeom>
          <a:solidFill>
            <a:schemeClr val="tx2"/>
          </a:solidFill>
          <a:ln/>
        </p:spPr>
      </p:sp>
      <p:sp>
        <p:nvSpPr>
          <p:cNvPr id="23" name="Text 19"/>
          <p:cNvSpPr txBox="1"/>
          <p:nvPr/>
        </p:nvSpPr>
        <p:spPr>
          <a:xfrm>
            <a:off x="7178040" y="3154680"/>
            <a:ext cx="4233672" cy="1234440"/>
          </a:xfrm>
          <a:prstGeom prst="rect">
            <a:avLst/>
          </a:prstGeom>
          <a:noFill/>
          <a:ln/>
        </p:spPr>
        <p:txBody>
          <a:bodyPr wrap="square" lIns="0" tIns="0" rIns="0" bIns="0" rtlCol="0" anchor="ctr"/>
          <a:lstStyle/>
          <a:p>
            <a:pPr indent="0" marL="0">
              <a:buNone/>
            </a:pPr>
            <a:r>
              <a:rPr lang="en-US" sz="1600" b="1" dirty="0">
                <a:solidFill>
                  <a:schemeClr val="bg1"/>
                </a:solidFill>
              </a:rPr>
              <a:t>3  AST security validator</a:t>
            </a:r>
            <a:endParaRPr lang="en-US" sz="1400" dirty="0"/>
          </a:p>
          <a:p>
            <a:pPr indent="0" marL="0">
              <a:buNone/>
            </a:pPr>
            <a:r>
              <a:rPr lang="en-US" sz="1300" dirty="0">
                <a:solidFill>
                  <a:schemeClr val="bg1"/>
                </a:solidFill>
              </a:rPr>
              <a:t>Single SELECT statement only</a:t>
            </a:r>
            <a:endParaRPr lang="en-US" sz="1400" dirty="0"/>
          </a:p>
          <a:p>
            <a:pPr indent="0" marL="0">
              <a:buNone/>
            </a:pPr>
            <a:r>
              <a:rPr lang="en-US" sz="1300" dirty="0">
                <a:solidFill>
                  <a:schemeClr val="bg1"/>
                </a:solidFill>
              </a:rPr>
              <a:t>Allow-listed tables only</a:t>
            </a:r>
            <a:endParaRPr lang="en-US" sz="1400" dirty="0"/>
          </a:p>
          <a:p>
            <a:pPr indent="0" marL="0">
              <a:buNone/>
            </a:pPr>
            <a:r>
              <a:rPr lang="en-US" sz="1300" dirty="0">
                <a:solidFill>
                  <a:schemeClr val="bg1"/>
                </a:solidFill>
              </a:rPr>
              <a:t>No DDL or DML anywhere in the tree</a:t>
            </a:r>
            <a:endParaRPr lang="en-US" sz="1400" dirty="0"/>
          </a:p>
        </p:txBody>
      </p:sp>
      <p:sp>
        <p:nvSpPr>
          <p:cNvPr id="24" name="Shape 20"/>
          <p:cNvSpPr/>
          <p:nvPr/>
        </p:nvSpPr>
        <p:spPr>
          <a:xfrm>
            <a:off x="9157716" y="4416552"/>
            <a:ext cx="274320" cy="201168"/>
          </a:xfrm>
          <a:prstGeom prst="downArrow">
            <a:avLst/>
          </a:prstGeom>
          <a:solidFill>
            <a:schemeClr val="accent1"/>
          </a:solidFill>
          <a:ln/>
        </p:spPr>
      </p:sp>
      <p:sp>
        <p:nvSpPr>
          <p:cNvPr id="25" name="pipe-4"/>
          <p:cNvSpPr/>
          <p:nvPr/>
        </p:nvSpPr>
        <p:spPr>
          <a:xfrm>
            <a:off x="6949440" y="4645152"/>
            <a:ext cx="4690872" cy="566928"/>
          </a:xfrm>
          <a:prstGeom prst="roundRect">
            <a:avLst>
              <a:gd name="adj" fmla="val 16129"/>
            </a:avLst>
          </a:prstGeom>
          <a:solidFill>
            <a:schemeClr val="accent3">
              <a:alpha val="60000"/>
            </a:schemeClr>
          </a:solidFill>
          <a:ln/>
        </p:spPr>
      </p:sp>
      <p:sp>
        <p:nvSpPr>
          <p:cNvPr id="26" name="Text 22"/>
          <p:cNvSpPr txBox="1"/>
          <p:nvPr/>
        </p:nvSpPr>
        <p:spPr>
          <a:xfrm>
            <a:off x="7178040" y="4645152"/>
            <a:ext cx="4233672" cy="566928"/>
          </a:xfrm>
          <a:prstGeom prst="rect">
            <a:avLst/>
          </a:prstGeom>
          <a:noFill/>
          <a:ln/>
        </p:spPr>
        <p:txBody>
          <a:bodyPr wrap="square" lIns="0" tIns="0" rIns="0" bIns="0" rtlCol="0" anchor="ctr"/>
          <a:lstStyle/>
          <a:p>
            <a:pPr indent="0" marL="0">
              <a:buNone/>
            </a:pPr>
            <a:r>
              <a:rPr lang="en-US" sz="1500" b="1" dirty="0">
                <a:solidFill>
                  <a:schemeClr val="tx2"/>
                </a:solidFill>
              </a:rPr>
              <a:t>4  Execute read-only on farmer_profile.db</a:t>
            </a:r>
            <a:endParaRPr lang="en-US" sz="1500" dirty="0"/>
          </a:p>
        </p:txBody>
      </p:sp>
      <p:sp>
        <p:nvSpPr>
          <p:cNvPr id="27" name="Shape 23"/>
          <p:cNvSpPr/>
          <p:nvPr/>
        </p:nvSpPr>
        <p:spPr>
          <a:xfrm>
            <a:off x="9157716" y="5239512"/>
            <a:ext cx="274320" cy="201168"/>
          </a:xfrm>
          <a:prstGeom prst="downArrow">
            <a:avLst/>
          </a:prstGeom>
          <a:solidFill>
            <a:schemeClr val="accent1"/>
          </a:solidFill>
          <a:ln/>
        </p:spPr>
      </p:sp>
      <p:sp>
        <p:nvSpPr>
          <p:cNvPr id="28" name="pipe-5"/>
          <p:cNvSpPr/>
          <p:nvPr/>
        </p:nvSpPr>
        <p:spPr>
          <a:xfrm>
            <a:off x="6949440" y="5468112"/>
            <a:ext cx="4690872" cy="566928"/>
          </a:xfrm>
          <a:prstGeom prst="roundRect">
            <a:avLst>
              <a:gd name="adj" fmla="val 16129"/>
            </a:avLst>
          </a:prstGeom>
          <a:solidFill>
            <a:schemeClr val="accent2"/>
          </a:solidFill>
          <a:ln/>
        </p:spPr>
      </p:sp>
      <p:sp>
        <p:nvSpPr>
          <p:cNvPr id="29" name="Text 25"/>
          <p:cNvSpPr txBox="1"/>
          <p:nvPr/>
        </p:nvSpPr>
        <p:spPr>
          <a:xfrm>
            <a:off x="7178040" y="5468112"/>
            <a:ext cx="4233672" cy="566928"/>
          </a:xfrm>
          <a:prstGeom prst="rect">
            <a:avLst/>
          </a:prstGeom>
          <a:noFill/>
          <a:ln/>
        </p:spPr>
        <p:txBody>
          <a:bodyPr wrap="square" lIns="0" tIns="0" rIns="0" bIns="0" rtlCol="0" anchor="ctr"/>
          <a:lstStyle/>
          <a:p>
            <a:pPr indent="0" marL="0">
              <a:buNone/>
            </a:pPr>
            <a:r>
              <a:rPr lang="en-US" sz="1500" b="1" dirty="0">
                <a:solidFill>
                  <a:schemeClr val="tx1"/>
                </a:solidFill>
              </a:rPr>
              <a:t>5  Answer with cited rows</a:t>
            </a:r>
            <a:endParaRPr lang="en-US" sz="1500" dirty="0"/>
          </a:p>
        </p:txBody>
      </p:sp>
      <p:sp>
        <p:nvSpPr>
          <p:cNvPr id="25" name="Slide Number Placeholder 0"/>
          <p:cNvSpPr>
            <a:spLocks noGrp="1"/>
          </p:cNvSpPr>
          <p:nvPr>
            <p:ph type="sldNum" sz="quarter" idx="4294967295"/>
          </p:nvPr>
        </p:nvSpPr>
        <p:spPr>
          <a:xfrm>
            <a:off x="10972800" y="642823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40080"/>
          </a:xfrm>
          <a:prstGeom prst="rect">
            <a:avLst/>
          </a:prstGeom>
          <a:noFill/>
          <a:ln/>
        </p:spPr>
        <p:txBody>
          <a:bodyPr wrap="square" lIns="0" tIns="0" rIns="0" bIns="0" rtlCol="0" anchor="ctr"/>
          <a:lstStyle/>
          <a:p>
            <a:pPr algn="l" indent="0" marL="0">
              <a:buNone/>
            </a:pPr>
            <a:r>
              <a:rPr lang="en-US" sz="3400" b="1" dirty="0">
                <a:solidFill>
                  <a:schemeClr val="tx2"/>
                </a:solidFill>
              </a:rPr>
              <a:t>A Print-Ready Advisory Dossier, Even Offline</a:t>
            </a:r>
            <a:endParaRPr lang="en-US" sz="3400" dirty="0"/>
          </a:p>
        </p:txBody>
      </p:sp>
      <p:sp>
        <p:nvSpPr>
          <p:cNvPr id="4" name="Text 1"/>
          <p:cNvSpPr txBox="1"/>
          <p:nvPr/>
        </p:nvSpPr>
        <p:spPr>
          <a:xfrm>
            <a:off x="548640" y="932688"/>
            <a:ext cx="11091672" cy="365760"/>
          </a:xfrm>
          <a:prstGeom prst="rect">
            <a:avLst/>
          </a:prstGeom>
          <a:noFill/>
          <a:ln/>
        </p:spPr>
        <p:txBody>
          <a:bodyPr wrap="square" lIns="0" tIns="0" rIns="0" bIns="0" rtlCol="0" anchor="t"/>
          <a:lstStyle/>
          <a:p>
            <a:pPr indent="0" marL="0">
              <a:buNone/>
            </a:pPr>
            <a:r>
              <a:rPr lang="en-US" sz="1600" i="1" dirty="0">
                <a:solidFill>
                  <a:schemeClr val="accent6"/>
                </a:solidFill>
              </a:rPr>
              <a:t>ReportLab compiles an official-quality, multi-page agronomic report in one tap</a:t>
            </a:r>
            <a:endParaRPr lang="en-US" sz="1600" dirty="0"/>
          </a:p>
        </p:txBody>
      </p:sp>
      <p:sp>
        <p:nvSpPr>
          <p:cNvPr id="5" name="page-5"/>
          <p:cNvSpPr/>
          <p:nvPr/>
        </p:nvSpPr>
        <p:spPr>
          <a:xfrm>
            <a:off x="4023360" y="2130552"/>
            <a:ext cx="2011680" cy="2926080"/>
          </a:xfrm>
          <a:prstGeom prst="roundRect">
            <a:avLst>
              <a:gd name="adj" fmla="val 2727"/>
            </a:avLst>
          </a:prstGeom>
          <a:solidFill>
            <a:schemeClr val="bg1"/>
          </a:solidFill>
          <a:ln w="12700">
            <a:solidFill>
              <a:schemeClr val="accent3"/>
            </a:solidFill>
            <a:prstDash val="solid"/>
          </a:ln>
          <a:effectLst>
            <a:outerShdw sx="100000" sy="100000" kx="0" ky="0" algn="bl" rotWithShape="0" blurRad="76200" dist="25400" dir="5400000">
              <a:srgbClr val="000000">
                <a:alpha val="12000"/>
              </a:srgbClr>
            </a:outerShdw>
          </a:effectLst>
        </p:spPr>
      </p:sp>
      <p:sp>
        <p:nvSpPr>
          <p:cNvPr id="6" name="Text 3"/>
          <p:cNvSpPr txBox="1"/>
          <p:nvPr/>
        </p:nvSpPr>
        <p:spPr>
          <a:xfrm>
            <a:off x="5440680" y="2267712"/>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7" name="page-5-line-0"/>
          <p:cNvSpPr/>
          <p:nvPr/>
        </p:nvSpPr>
        <p:spPr>
          <a:xfrm>
            <a:off x="5303520" y="2907792"/>
            <a:ext cx="594360" cy="64008"/>
          </a:xfrm>
          <a:prstGeom prst="roundRect">
            <a:avLst>
              <a:gd name="adj" fmla="val 28571"/>
            </a:avLst>
          </a:prstGeom>
          <a:solidFill>
            <a:schemeClr val="accent3"/>
          </a:solidFill>
          <a:ln/>
        </p:spPr>
      </p:sp>
      <p:sp>
        <p:nvSpPr>
          <p:cNvPr id="8" name="page-5-line-1"/>
          <p:cNvSpPr/>
          <p:nvPr/>
        </p:nvSpPr>
        <p:spPr>
          <a:xfrm>
            <a:off x="5303520" y="3136392"/>
            <a:ext cx="411480" cy="64008"/>
          </a:xfrm>
          <a:prstGeom prst="roundRect">
            <a:avLst>
              <a:gd name="adj" fmla="val 28571"/>
            </a:avLst>
          </a:prstGeom>
          <a:solidFill>
            <a:schemeClr val="accent3"/>
          </a:solidFill>
          <a:ln/>
        </p:spPr>
      </p:sp>
      <p:sp>
        <p:nvSpPr>
          <p:cNvPr id="9" name="page-5-line-2"/>
          <p:cNvSpPr/>
          <p:nvPr/>
        </p:nvSpPr>
        <p:spPr>
          <a:xfrm>
            <a:off x="5303520" y="3364992"/>
            <a:ext cx="594360" cy="64008"/>
          </a:xfrm>
          <a:prstGeom prst="roundRect">
            <a:avLst>
              <a:gd name="adj" fmla="val 28571"/>
            </a:avLst>
          </a:prstGeom>
          <a:solidFill>
            <a:schemeClr val="accent3"/>
          </a:solidFill>
          <a:ln/>
        </p:spPr>
      </p:sp>
      <p:sp>
        <p:nvSpPr>
          <p:cNvPr id="10" name="page-5-line-3"/>
          <p:cNvSpPr/>
          <p:nvPr/>
        </p:nvSpPr>
        <p:spPr>
          <a:xfrm>
            <a:off x="5303520" y="3593592"/>
            <a:ext cx="411480" cy="64008"/>
          </a:xfrm>
          <a:prstGeom prst="roundRect">
            <a:avLst>
              <a:gd name="adj" fmla="val 28571"/>
            </a:avLst>
          </a:prstGeom>
          <a:solidFill>
            <a:schemeClr val="accent3"/>
          </a:solidFill>
          <a:ln/>
        </p:spPr>
      </p:sp>
      <p:sp>
        <p:nvSpPr>
          <p:cNvPr id="11" name="page-4"/>
          <p:cNvSpPr/>
          <p:nvPr/>
        </p:nvSpPr>
        <p:spPr>
          <a:xfrm>
            <a:off x="3154680" y="2020824"/>
            <a:ext cx="2011680" cy="2926080"/>
          </a:xfrm>
          <a:prstGeom prst="roundRect">
            <a:avLst>
              <a:gd name="adj" fmla="val 2727"/>
            </a:avLst>
          </a:prstGeom>
          <a:solidFill>
            <a:schemeClr val="bg1"/>
          </a:solidFill>
          <a:ln w="12700">
            <a:solidFill>
              <a:schemeClr val="accent3"/>
            </a:solidFill>
            <a:prstDash val="solid"/>
          </a:ln>
          <a:effectLst>
            <a:outerShdw sx="100000" sy="100000" kx="0" ky="0" algn="bl" rotWithShape="0" blurRad="76200" dist="25400" dir="5400000">
              <a:srgbClr val="000000">
                <a:alpha val="12000"/>
              </a:srgbClr>
            </a:outerShdw>
          </a:effectLst>
        </p:spPr>
      </p:sp>
      <p:sp>
        <p:nvSpPr>
          <p:cNvPr id="12" name="Text 9"/>
          <p:cNvSpPr txBox="1"/>
          <p:nvPr/>
        </p:nvSpPr>
        <p:spPr>
          <a:xfrm>
            <a:off x="4572000" y="2157984"/>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3" name="page-4-line-0"/>
          <p:cNvSpPr/>
          <p:nvPr/>
        </p:nvSpPr>
        <p:spPr>
          <a:xfrm>
            <a:off x="4434840" y="2798064"/>
            <a:ext cx="594360" cy="64008"/>
          </a:xfrm>
          <a:prstGeom prst="roundRect">
            <a:avLst>
              <a:gd name="adj" fmla="val 28571"/>
            </a:avLst>
          </a:prstGeom>
          <a:solidFill>
            <a:schemeClr val="accent3"/>
          </a:solidFill>
          <a:ln/>
        </p:spPr>
      </p:sp>
      <p:sp>
        <p:nvSpPr>
          <p:cNvPr id="14" name="page-4-line-1"/>
          <p:cNvSpPr/>
          <p:nvPr/>
        </p:nvSpPr>
        <p:spPr>
          <a:xfrm>
            <a:off x="4434840" y="3026664"/>
            <a:ext cx="411480" cy="64008"/>
          </a:xfrm>
          <a:prstGeom prst="roundRect">
            <a:avLst>
              <a:gd name="adj" fmla="val 28571"/>
            </a:avLst>
          </a:prstGeom>
          <a:solidFill>
            <a:schemeClr val="accent3"/>
          </a:solidFill>
          <a:ln/>
        </p:spPr>
      </p:sp>
      <p:sp>
        <p:nvSpPr>
          <p:cNvPr id="15" name="page-4-line-2"/>
          <p:cNvSpPr/>
          <p:nvPr/>
        </p:nvSpPr>
        <p:spPr>
          <a:xfrm>
            <a:off x="4434840" y="3255264"/>
            <a:ext cx="594360" cy="64008"/>
          </a:xfrm>
          <a:prstGeom prst="roundRect">
            <a:avLst>
              <a:gd name="adj" fmla="val 28571"/>
            </a:avLst>
          </a:prstGeom>
          <a:solidFill>
            <a:schemeClr val="accent3"/>
          </a:solidFill>
          <a:ln/>
        </p:spPr>
      </p:sp>
      <p:sp>
        <p:nvSpPr>
          <p:cNvPr id="16" name="page-4-line-3"/>
          <p:cNvSpPr/>
          <p:nvPr/>
        </p:nvSpPr>
        <p:spPr>
          <a:xfrm>
            <a:off x="4434840" y="3483864"/>
            <a:ext cx="411480" cy="64008"/>
          </a:xfrm>
          <a:prstGeom prst="roundRect">
            <a:avLst>
              <a:gd name="adj" fmla="val 28571"/>
            </a:avLst>
          </a:prstGeom>
          <a:solidFill>
            <a:schemeClr val="accent3"/>
          </a:solidFill>
          <a:ln/>
        </p:spPr>
      </p:sp>
      <p:sp>
        <p:nvSpPr>
          <p:cNvPr id="17" name="page-3"/>
          <p:cNvSpPr/>
          <p:nvPr/>
        </p:nvSpPr>
        <p:spPr>
          <a:xfrm>
            <a:off x="2286000" y="1911096"/>
            <a:ext cx="2011680" cy="2926080"/>
          </a:xfrm>
          <a:prstGeom prst="roundRect">
            <a:avLst>
              <a:gd name="adj" fmla="val 2727"/>
            </a:avLst>
          </a:prstGeom>
          <a:solidFill>
            <a:schemeClr val="bg1"/>
          </a:solidFill>
          <a:ln w="12700">
            <a:solidFill>
              <a:schemeClr val="accent3"/>
            </a:solidFill>
            <a:prstDash val="solid"/>
          </a:ln>
          <a:effectLst>
            <a:outerShdw sx="100000" sy="100000" kx="0" ky="0" algn="bl" rotWithShape="0" blurRad="76200" dist="25400" dir="5400000">
              <a:srgbClr val="000000">
                <a:alpha val="12000"/>
              </a:srgbClr>
            </a:outerShdw>
          </a:effectLst>
        </p:spPr>
      </p:sp>
      <p:sp>
        <p:nvSpPr>
          <p:cNvPr id="18" name="Text 15"/>
          <p:cNvSpPr txBox="1"/>
          <p:nvPr/>
        </p:nvSpPr>
        <p:spPr>
          <a:xfrm>
            <a:off x="3703320" y="2048256"/>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9" name="page-3-line-0"/>
          <p:cNvSpPr/>
          <p:nvPr/>
        </p:nvSpPr>
        <p:spPr>
          <a:xfrm>
            <a:off x="3566160" y="2688336"/>
            <a:ext cx="594360" cy="64008"/>
          </a:xfrm>
          <a:prstGeom prst="roundRect">
            <a:avLst>
              <a:gd name="adj" fmla="val 28571"/>
            </a:avLst>
          </a:prstGeom>
          <a:solidFill>
            <a:schemeClr val="accent3"/>
          </a:solidFill>
          <a:ln/>
        </p:spPr>
      </p:sp>
      <p:sp>
        <p:nvSpPr>
          <p:cNvPr id="20" name="page-3-line-1"/>
          <p:cNvSpPr/>
          <p:nvPr/>
        </p:nvSpPr>
        <p:spPr>
          <a:xfrm>
            <a:off x="3566160" y="2916936"/>
            <a:ext cx="411480" cy="64008"/>
          </a:xfrm>
          <a:prstGeom prst="roundRect">
            <a:avLst>
              <a:gd name="adj" fmla="val 28571"/>
            </a:avLst>
          </a:prstGeom>
          <a:solidFill>
            <a:schemeClr val="accent3"/>
          </a:solidFill>
          <a:ln/>
        </p:spPr>
      </p:sp>
      <p:sp>
        <p:nvSpPr>
          <p:cNvPr id="21" name="page-3-line-2"/>
          <p:cNvSpPr/>
          <p:nvPr/>
        </p:nvSpPr>
        <p:spPr>
          <a:xfrm>
            <a:off x="3566160" y="3145536"/>
            <a:ext cx="594360" cy="64008"/>
          </a:xfrm>
          <a:prstGeom prst="roundRect">
            <a:avLst>
              <a:gd name="adj" fmla="val 28571"/>
            </a:avLst>
          </a:prstGeom>
          <a:solidFill>
            <a:schemeClr val="accent3"/>
          </a:solidFill>
          <a:ln/>
        </p:spPr>
      </p:sp>
      <p:sp>
        <p:nvSpPr>
          <p:cNvPr id="22" name="page-3-line-3"/>
          <p:cNvSpPr/>
          <p:nvPr/>
        </p:nvSpPr>
        <p:spPr>
          <a:xfrm>
            <a:off x="3566160" y="3374136"/>
            <a:ext cx="411480" cy="64008"/>
          </a:xfrm>
          <a:prstGeom prst="roundRect">
            <a:avLst>
              <a:gd name="adj" fmla="val 28571"/>
            </a:avLst>
          </a:prstGeom>
          <a:solidFill>
            <a:schemeClr val="accent3"/>
          </a:solidFill>
          <a:ln/>
        </p:spPr>
      </p:sp>
      <p:sp>
        <p:nvSpPr>
          <p:cNvPr id="23" name="page-2"/>
          <p:cNvSpPr/>
          <p:nvPr/>
        </p:nvSpPr>
        <p:spPr>
          <a:xfrm>
            <a:off x="1417320" y="1801368"/>
            <a:ext cx="2011680" cy="2926080"/>
          </a:xfrm>
          <a:prstGeom prst="roundRect">
            <a:avLst>
              <a:gd name="adj" fmla="val 2727"/>
            </a:avLst>
          </a:prstGeom>
          <a:solidFill>
            <a:schemeClr val="bg1"/>
          </a:solidFill>
          <a:ln w="12700">
            <a:solidFill>
              <a:schemeClr val="accent3"/>
            </a:solidFill>
            <a:prstDash val="solid"/>
          </a:ln>
          <a:effectLst>
            <a:outerShdw sx="100000" sy="100000" kx="0" ky="0" algn="bl" rotWithShape="0" blurRad="76200" dist="25400" dir="5400000">
              <a:srgbClr val="000000">
                <a:alpha val="12000"/>
              </a:srgbClr>
            </a:outerShdw>
          </a:effectLst>
        </p:spPr>
      </p:sp>
      <p:sp>
        <p:nvSpPr>
          <p:cNvPr id="24" name="Text 21"/>
          <p:cNvSpPr txBox="1"/>
          <p:nvPr/>
        </p:nvSpPr>
        <p:spPr>
          <a:xfrm>
            <a:off x="2834640" y="1938528"/>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5" name="page-2-line-0"/>
          <p:cNvSpPr/>
          <p:nvPr/>
        </p:nvSpPr>
        <p:spPr>
          <a:xfrm>
            <a:off x="2697480" y="2578608"/>
            <a:ext cx="594360" cy="64008"/>
          </a:xfrm>
          <a:prstGeom prst="roundRect">
            <a:avLst>
              <a:gd name="adj" fmla="val 28571"/>
            </a:avLst>
          </a:prstGeom>
          <a:solidFill>
            <a:schemeClr val="accent3"/>
          </a:solidFill>
          <a:ln/>
        </p:spPr>
      </p:sp>
      <p:sp>
        <p:nvSpPr>
          <p:cNvPr id="26" name="page-2-line-1"/>
          <p:cNvSpPr/>
          <p:nvPr/>
        </p:nvSpPr>
        <p:spPr>
          <a:xfrm>
            <a:off x="2697480" y="2807208"/>
            <a:ext cx="411480" cy="64008"/>
          </a:xfrm>
          <a:prstGeom prst="roundRect">
            <a:avLst>
              <a:gd name="adj" fmla="val 28571"/>
            </a:avLst>
          </a:prstGeom>
          <a:solidFill>
            <a:schemeClr val="accent3"/>
          </a:solidFill>
          <a:ln/>
        </p:spPr>
      </p:sp>
      <p:sp>
        <p:nvSpPr>
          <p:cNvPr id="27" name="page-2-line-2"/>
          <p:cNvSpPr/>
          <p:nvPr/>
        </p:nvSpPr>
        <p:spPr>
          <a:xfrm>
            <a:off x="2697480" y="3035808"/>
            <a:ext cx="594360" cy="64008"/>
          </a:xfrm>
          <a:prstGeom prst="roundRect">
            <a:avLst>
              <a:gd name="adj" fmla="val 28571"/>
            </a:avLst>
          </a:prstGeom>
          <a:solidFill>
            <a:schemeClr val="accent3"/>
          </a:solidFill>
          <a:ln/>
        </p:spPr>
      </p:sp>
      <p:sp>
        <p:nvSpPr>
          <p:cNvPr id="28" name="page-2-line-3"/>
          <p:cNvSpPr/>
          <p:nvPr/>
        </p:nvSpPr>
        <p:spPr>
          <a:xfrm>
            <a:off x="2697480" y="3264408"/>
            <a:ext cx="411480" cy="64008"/>
          </a:xfrm>
          <a:prstGeom prst="roundRect">
            <a:avLst>
              <a:gd name="adj" fmla="val 28571"/>
            </a:avLst>
          </a:prstGeom>
          <a:solidFill>
            <a:schemeClr val="accent3"/>
          </a:solidFill>
          <a:ln/>
        </p:spPr>
      </p:sp>
      <p:sp>
        <p:nvSpPr>
          <p:cNvPr id="29" name="page-cover"/>
          <p:cNvSpPr/>
          <p:nvPr/>
        </p:nvSpPr>
        <p:spPr>
          <a:xfrm>
            <a:off x="548640" y="1691640"/>
            <a:ext cx="2011680" cy="2926080"/>
          </a:xfrm>
          <a:prstGeom prst="roundRect">
            <a:avLst>
              <a:gd name="adj" fmla="val 2727"/>
            </a:avLst>
          </a:prstGeom>
          <a:solidFill>
            <a:schemeClr val="tx2"/>
          </a:solidFill>
          <a:ln/>
          <a:effectLst>
            <a:outerShdw sx="100000" sy="100000" kx="0" ky="0" algn="bl" rotWithShape="0" blurRad="76200" dist="25400" dir="5400000">
              <a:srgbClr val="000000">
                <a:alpha val="12000"/>
              </a:srgbClr>
            </a:outerShdw>
          </a:effectLst>
        </p:spPr>
      </p:sp>
      <p:sp>
        <p:nvSpPr>
          <p:cNvPr id="30" name="Text 27"/>
          <p:cNvSpPr txBox="1"/>
          <p:nvPr/>
        </p:nvSpPr>
        <p:spPr>
          <a:xfrm>
            <a:off x="731520" y="1965960"/>
            <a:ext cx="1645920" cy="640080"/>
          </a:xfrm>
          <a:prstGeom prst="rect">
            <a:avLst/>
          </a:prstGeom>
          <a:noFill/>
          <a:ln/>
        </p:spPr>
        <p:txBody>
          <a:bodyPr wrap="square" lIns="0" tIns="0" rIns="0" bIns="0" rtlCol="0" anchor="t"/>
          <a:lstStyle/>
          <a:p>
            <a:pPr indent="0" marL="0">
              <a:buNone/>
            </a:pPr>
            <a:r>
              <a:rPr lang="en-US" sz="1500" b="1" dirty="0">
                <a:solidFill>
                  <a:schemeClr val="bg1"/>
                </a:solidFill>
              </a:rPr>
              <a:t>ADVISORY DOSSIER</a:t>
            </a:r>
            <a:endParaRPr lang="en-US" sz="1500" dirty="0"/>
          </a:p>
        </p:txBody>
      </p:sp>
      <p:sp>
        <p:nvSpPr>
          <p:cNvPr id="31" name="Text 28"/>
          <p:cNvSpPr txBox="1"/>
          <p:nvPr/>
        </p:nvSpPr>
        <p:spPr>
          <a:xfrm>
            <a:off x="731520" y="2788920"/>
            <a:ext cx="1645920" cy="914400"/>
          </a:xfrm>
          <a:prstGeom prst="rect">
            <a:avLst/>
          </a:prstGeom>
          <a:noFill/>
          <a:ln/>
        </p:spPr>
        <p:txBody>
          <a:bodyPr wrap="square" lIns="0" tIns="0" rIns="0" bIns="0" rtlCol="0" anchor="t"/>
          <a:lstStyle/>
          <a:p>
            <a:pPr indent="0" marL="0">
              <a:buNone/>
            </a:pPr>
            <a:r>
              <a:rPr lang="en-US" sz="1200" dirty="0">
                <a:solidFill>
                  <a:schemeClr val="accent3"/>
                </a:solidFill>
              </a:rPr>
              <a:t>Crop plan, soil analysis, timetable and treatment guide</a:t>
            </a:r>
            <a:endParaRPr lang="en-US" sz="1200" dirty="0"/>
          </a:p>
        </p:txBody>
      </p:sp>
      <p:sp>
        <p:nvSpPr>
          <p:cNvPr id="32" name="cover-mark"/>
          <p:cNvSpPr/>
          <p:nvPr/>
        </p:nvSpPr>
        <p:spPr>
          <a:xfrm>
            <a:off x="731520" y="3886200"/>
            <a:ext cx="457200" cy="457200"/>
          </a:xfrm>
          <a:prstGeom prst="ellipse">
            <a:avLst/>
          </a:prstGeom>
          <a:solidFill>
            <a:schemeClr val="accent2"/>
          </a:solidFill>
          <a:ln/>
        </p:spPr>
      </p:sp>
      <p:sp>
        <p:nvSpPr>
          <p:cNvPr id="33" name="Text 30"/>
          <p:cNvSpPr txBox="1"/>
          <p:nvPr/>
        </p:nvSpPr>
        <p:spPr>
          <a:xfrm>
            <a:off x="6400800" y="1581912"/>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34" name="Text 31"/>
          <p:cNvSpPr txBox="1"/>
          <p:nvPr/>
        </p:nvSpPr>
        <p:spPr>
          <a:xfrm>
            <a:off x="6995160" y="1508760"/>
            <a:ext cx="4617720" cy="548640"/>
          </a:xfrm>
          <a:prstGeom prst="rect">
            <a:avLst/>
          </a:prstGeom>
          <a:noFill/>
          <a:ln/>
        </p:spPr>
        <p:txBody>
          <a:bodyPr wrap="square" lIns="0" tIns="0" rIns="0" bIns="0" rtlCol="0" anchor="ctr"/>
          <a:lstStyle/>
          <a:p>
            <a:pPr indent="0" marL="0">
              <a:buNone/>
            </a:pPr>
            <a:r>
              <a:rPr lang="en-US" sz="1500" b="1" dirty="0">
                <a:solidFill>
                  <a:schemeClr val="tx2"/>
                </a:solidFill>
              </a:rPr>
              <a:t>Cover &amp; summary</a:t>
            </a:r>
            <a:endParaRPr lang="en-US" sz="1400" dirty="0"/>
          </a:p>
          <a:p>
            <a:pPr indent="0" marL="0">
              <a:buNone/>
            </a:pPr>
            <a:r>
              <a:rPr lang="en-US" sz="1300" dirty="0">
                <a:solidFill>
                  <a:schemeClr val="tx1"/>
                </a:solidFill>
              </a:rPr>
              <a:t>Recommended crop and calibrated confidence</a:t>
            </a:r>
            <a:endParaRPr lang="en-US" sz="1400" dirty="0"/>
          </a:p>
        </p:txBody>
      </p:sp>
      <p:sp>
        <p:nvSpPr>
          <p:cNvPr id="35" name="Text 32"/>
          <p:cNvSpPr txBox="1"/>
          <p:nvPr/>
        </p:nvSpPr>
        <p:spPr>
          <a:xfrm>
            <a:off x="6400800" y="2203704"/>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36" name="Text 33"/>
          <p:cNvSpPr txBox="1"/>
          <p:nvPr/>
        </p:nvSpPr>
        <p:spPr>
          <a:xfrm>
            <a:off x="6995160" y="2130552"/>
            <a:ext cx="4617720" cy="548640"/>
          </a:xfrm>
          <a:prstGeom prst="rect">
            <a:avLst/>
          </a:prstGeom>
          <a:noFill/>
          <a:ln/>
        </p:spPr>
        <p:txBody>
          <a:bodyPr wrap="square" lIns="0" tIns="0" rIns="0" bIns="0" rtlCol="0" anchor="ctr"/>
          <a:lstStyle/>
          <a:p>
            <a:pPr indent="0" marL="0">
              <a:buNone/>
            </a:pPr>
            <a:r>
              <a:rPr lang="en-US" sz="1500" b="1" dirty="0">
                <a:solidFill>
                  <a:schemeClr val="tx2"/>
                </a:solidFill>
              </a:rPr>
              <a:t>Soil analysis</a:t>
            </a:r>
            <a:endParaRPr lang="en-US" sz="1400" dirty="0"/>
          </a:p>
          <a:p>
            <a:pPr indent="0" marL="0">
              <a:buNone/>
            </a:pPr>
            <a:r>
              <a:rPr lang="en-US" sz="1300" dirty="0">
                <a:solidFill>
                  <a:schemeClr val="tx1"/>
                </a:solidFill>
              </a:rPr>
              <a:t>N, P, K and pH in plain words, with corrections</a:t>
            </a:r>
            <a:endParaRPr lang="en-US" sz="1400" dirty="0"/>
          </a:p>
        </p:txBody>
      </p:sp>
      <p:sp>
        <p:nvSpPr>
          <p:cNvPr id="37" name="Text 34"/>
          <p:cNvSpPr txBox="1"/>
          <p:nvPr/>
        </p:nvSpPr>
        <p:spPr>
          <a:xfrm>
            <a:off x="6400800" y="2825496"/>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38" name="Text 35"/>
          <p:cNvSpPr txBox="1"/>
          <p:nvPr/>
        </p:nvSpPr>
        <p:spPr>
          <a:xfrm>
            <a:off x="6995160" y="2752344"/>
            <a:ext cx="4617720" cy="548640"/>
          </a:xfrm>
          <a:prstGeom prst="rect">
            <a:avLst/>
          </a:prstGeom>
          <a:noFill/>
          <a:ln/>
        </p:spPr>
        <p:txBody>
          <a:bodyPr wrap="square" lIns="0" tIns="0" rIns="0" bIns="0" rtlCol="0" anchor="ctr"/>
          <a:lstStyle/>
          <a:p>
            <a:pPr indent="0" marL="0">
              <a:buNone/>
            </a:pPr>
            <a:r>
              <a:rPr lang="en-US" sz="1500" b="1" dirty="0">
                <a:solidFill>
                  <a:schemeClr val="tx2"/>
                </a:solidFill>
              </a:rPr>
              <a:t>Cultivation timetable</a:t>
            </a:r>
            <a:endParaRPr lang="en-US" sz="1400" dirty="0"/>
          </a:p>
          <a:p>
            <a:pPr indent="0" marL="0">
              <a:buNone/>
            </a:pPr>
            <a:r>
              <a:rPr lang="en-US" sz="1300" dirty="0">
                <a:solidFill>
                  <a:schemeClr val="tx1"/>
                </a:solidFill>
              </a:rPr>
              <a:t>Full season plan exported from the calendar</a:t>
            </a:r>
            <a:endParaRPr lang="en-US" sz="1400" dirty="0"/>
          </a:p>
        </p:txBody>
      </p:sp>
      <p:sp>
        <p:nvSpPr>
          <p:cNvPr id="39" name="Text 36"/>
          <p:cNvSpPr txBox="1"/>
          <p:nvPr/>
        </p:nvSpPr>
        <p:spPr>
          <a:xfrm>
            <a:off x="6400800" y="3447288"/>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40" name="Text 37"/>
          <p:cNvSpPr txBox="1"/>
          <p:nvPr/>
        </p:nvSpPr>
        <p:spPr>
          <a:xfrm>
            <a:off x="6995160" y="3374136"/>
            <a:ext cx="4617720" cy="548640"/>
          </a:xfrm>
          <a:prstGeom prst="rect">
            <a:avLst/>
          </a:prstGeom>
          <a:noFill/>
          <a:ln/>
        </p:spPr>
        <p:txBody>
          <a:bodyPr wrap="square" lIns="0" tIns="0" rIns="0" bIns="0" rtlCol="0" anchor="ctr"/>
          <a:lstStyle/>
          <a:p>
            <a:pPr indent="0" marL="0">
              <a:buNone/>
            </a:pPr>
            <a:r>
              <a:rPr lang="en-US" sz="1500" b="1" dirty="0">
                <a:solidFill>
                  <a:schemeClr val="tx2"/>
                </a:solidFill>
              </a:rPr>
              <a:t>Companion planting</a:t>
            </a:r>
            <a:endParaRPr lang="en-US" sz="1400" dirty="0"/>
          </a:p>
          <a:p>
            <a:pPr indent="0" marL="0">
              <a:buNone/>
            </a:pPr>
            <a:r>
              <a:rPr lang="en-US" sz="1300" dirty="0">
                <a:solidFill>
                  <a:schemeClr val="tx1"/>
                </a:solidFill>
              </a:rPr>
              <a:t>Intercrops and border crops that cut pest pressure</a:t>
            </a:r>
            <a:endParaRPr lang="en-US" sz="1400" dirty="0"/>
          </a:p>
        </p:txBody>
      </p:sp>
      <p:sp>
        <p:nvSpPr>
          <p:cNvPr id="41" name="Text 38"/>
          <p:cNvSpPr txBox="1"/>
          <p:nvPr/>
        </p:nvSpPr>
        <p:spPr>
          <a:xfrm>
            <a:off x="6400800" y="406908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42" name="Text 39"/>
          <p:cNvSpPr txBox="1"/>
          <p:nvPr/>
        </p:nvSpPr>
        <p:spPr>
          <a:xfrm>
            <a:off x="6995160" y="3995928"/>
            <a:ext cx="4617720" cy="548640"/>
          </a:xfrm>
          <a:prstGeom prst="rect">
            <a:avLst/>
          </a:prstGeom>
          <a:noFill/>
          <a:ln/>
        </p:spPr>
        <p:txBody>
          <a:bodyPr wrap="square" lIns="0" tIns="0" rIns="0" bIns="0" rtlCol="0" anchor="ctr"/>
          <a:lstStyle/>
          <a:p>
            <a:pPr indent="0" marL="0">
              <a:buNone/>
            </a:pPr>
            <a:r>
              <a:rPr lang="en-US" sz="1500" b="1" dirty="0">
                <a:solidFill>
                  <a:schemeClr val="tx2"/>
                </a:solidFill>
              </a:rPr>
              <a:t>Treatment &amp; credit annex</a:t>
            </a:r>
            <a:endParaRPr lang="en-US" sz="1400" dirty="0"/>
          </a:p>
          <a:p>
            <a:pPr indent="0" marL="0">
              <a:buNone/>
            </a:pPr>
            <a:r>
              <a:rPr lang="en-US" sz="1300" dirty="0">
                <a:solidFill>
                  <a:schemeClr val="tx1"/>
                </a:solidFill>
              </a:rPr>
              <a:t>Remediation guidance and Kisan credit support</a:t>
            </a:r>
            <a:endParaRPr lang="en-US" sz="1400" dirty="0"/>
          </a:p>
        </p:txBody>
      </p:sp>
      <p:sp>
        <p:nvSpPr>
          <p:cNvPr id="43" name="feature-card-1"/>
          <p:cNvSpPr/>
          <p:nvPr/>
        </p:nvSpPr>
        <p:spPr>
          <a:xfrm>
            <a:off x="6400800" y="4754880"/>
            <a:ext cx="1645920" cy="1463040"/>
          </a:xfrm>
          <a:prstGeom prst="roundRect">
            <a:avLst>
              <a:gd name="adj" fmla="val 7500"/>
            </a:avLst>
          </a:prstGeom>
          <a:solidFill>
            <a:schemeClr val="bg1"/>
          </a:solidFill>
          <a:ln w="9525">
            <a:solidFill>
              <a:schemeClr val="accent3"/>
            </a:solidFill>
            <a:prstDash val="solid"/>
          </a:ln>
          <a:effectLst>
            <a:outerShdw sx="100000" sy="100000" kx="0" ky="0" algn="bl" rotWithShape="0" blurRad="76200" dist="25400" dir="5400000">
              <a:srgbClr val="000000">
                <a:alpha val="12000"/>
              </a:srgbClr>
            </a:outerShdw>
          </a:effectLst>
        </p:spPr>
      </p:sp>
      <p:sp>
        <p:nvSpPr>
          <p:cNvPr id="44" name="icon-bg-FaWifi"/>
          <p:cNvSpPr/>
          <p:nvPr/>
        </p:nvSpPr>
        <p:spPr>
          <a:xfrm>
            <a:off x="6995160" y="4846320"/>
            <a:ext cx="457200" cy="457200"/>
          </a:xfrm>
          <a:prstGeom prst="ellipse">
            <a:avLst/>
          </a:prstGeom>
          <a:solidFill>
            <a:schemeClr val="accent1"/>
          </a:solidFill>
          <a:ln/>
        </p:spPr>
      </p:sp>
      <p:pic>
        <p:nvPicPr>
          <p:cNvPr id="45" name="Image 0" descr="Wifi icon">    </p:cNvPr>
          <p:cNvPicPr>
            <a:picLocks noChangeAspect="1"/>
          </p:cNvPicPr>
          <p:nvPr/>
        </p:nvPicPr>
        <p:blipFill>
          <a:blip r:embed="rId1"/>
          <a:stretch>
            <a:fillRect/>
          </a:stretch>
        </p:blipFill>
        <p:spPr>
          <a:xfrm>
            <a:off x="7109460" y="4960620"/>
            <a:ext cx="228600" cy="228600"/>
          </a:xfrm>
          <a:prstGeom prst="rect">
            <a:avLst/>
          </a:prstGeom>
        </p:spPr>
      </p:pic>
      <p:sp>
        <p:nvSpPr>
          <p:cNvPr id="46" name="Text 42"/>
          <p:cNvSpPr txBox="1"/>
          <p:nvPr/>
        </p:nvSpPr>
        <p:spPr>
          <a:xfrm>
            <a:off x="6492240" y="5376672"/>
            <a:ext cx="1463040" cy="274320"/>
          </a:xfrm>
          <a:prstGeom prst="rect">
            <a:avLst/>
          </a:prstGeom>
          <a:noFill/>
          <a:ln/>
        </p:spPr>
        <p:txBody>
          <a:bodyPr wrap="square" lIns="0" tIns="0" rIns="0" bIns="0" rtlCol="0" anchor="t"/>
          <a:lstStyle/>
          <a:p>
            <a:pPr algn="ctr" indent="0" marL="0">
              <a:buNone/>
            </a:pPr>
            <a:r>
              <a:rPr lang="en-US" sz="1300" b="1" dirty="0">
                <a:solidFill>
                  <a:schemeClr val="tx2"/>
                </a:solidFill>
              </a:rPr>
              <a:t>Works offline</a:t>
            </a:r>
            <a:endParaRPr lang="en-US" sz="1300" dirty="0"/>
          </a:p>
        </p:txBody>
      </p:sp>
      <p:sp>
        <p:nvSpPr>
          <p:cNvPr id="47" name="Text 43"/>
          <p:cNvSpPr txBox="1"/>
          <p:nvPr/>
        </p:nvSpPr>
        <p:spPr>
          <a:xfrm>
            <a:off x="6492240" y="5669280"/>
            <a:ext cx="1463040" cy="502920"/>
          </a:xfrm>
          <a:prstGeom prst="rect">
            <a:avLst/>
          </a:prstGeom>
          <a:noFill/>
          <a:ln/>
        </p:spPr>
        <p:txBody>
          <a:bodyPr wrap="square" lIns="0" tIns="0" rIns="0" bIns="0" rtlCol="0" anchor="t"/>
          <a:lstStyle/>
          <a:p>
            <a:pPr algn="ctr" indent="0" marL="0">
              <a:buNone/>
            </a:pPr>
            <a:r>
              <a:rPr lang="en-US" sz="1100" dirty="0">
                <a:solidFill>
                  <a:schemeClr val="tx1"/>
                </a:solidFill>
              </a:rPr>
              <a:t>No internet needed in the field</a:t>
            </a:r>
            <a:endParaRPr lang="en-US" sz="1100" dirty="0"/>
          </a:p>
        </p:txBody>
      </p:sp>
      <p:sp>
        <p:nvSpPr>
          <p:cNvPr id="48" name="feature-card-2"/>
          <p:cNvSpPr/>
          <p:nvPr/>
        </p:nvSpPr>
        <p:spPr>
          <a:xfrm>
            <a:off x="8202168" y="4754880"/>
            <a:ext cx="1645920" cy="1463040"/>
          </a:xfrm>
          <a:prstGeom prst="roundRect">
            <a:avLst>
              <a:gd name="adj" fmla="val 7500"/>
            </a:avLst>
          </a:prstGeom>
          <a:solidFill>
            <a:schemeClr val="bg1"/>
          </a:solidFill>
          <a:ln w="9525">
            <a:solidFill>
              <a:schemeClr val="accent3"/>
            </a:solidFill>
            <a:prstDash val="solid"/>
          </a:ln>
          <a:effectLst>
            <a:outerShdw sx="100000" sy="100000" kx="0" ky="0" algn="bl" rotWithShape="0" blurRad="76200" dist="25400" dir="5400000">
              <a:srgbClr val="000000">
                <a:alpha val="12000"/>
              </a:srgbClr>
            </a:outerShdw>
          </a:effectLst>
        </p:spPr>
      </p:sp>
      <p:sp>
        <p:nvSpPr>
          <p:cNvPr id="49" name="icon-bg-FaPrint"/>
          <p:cNvSpPr/>
          <p:nvPr/>
        </p:nvSpPr>
        <p:spPr>
          <a:xfrm>
            <a:off x="8796528" y="4846320"/>
            <a:ext cx="457200" cy="457200"/>
          </a:xfrm>
          <a:prstGeom prst="ellipse">
            <a:avLst/>
          </a:prstGeom>
          <a:solidFill>
            <a:schemeClr val="accent1"/>
          </a:solidFill>
          <a:ln/>
        </p:spPr>
      </p:sp>
      <p:pic>
        <p:nvPicPr>
          <p:cNvPr id="50" name="Image 1" descr="Print icon">    </p:cNvPr>
          <p:cNvPicPr>
            <a:picLocks noChangeAspect="1"/>
          </p:cNvPicPr>
          <p:nvPr/>
        </p:nvPicPr>
        <p:blipFill>
          <a:blip r:embed="rId2"/>
          <a:stretch>
            <a:fillRect/>
          </a:stretch>
        </p:blipFill>
        <p:spPr>
          <a:xfrm>
            <a:off x="8910828" y="4960620"/>
            <a:ext cx="228600" cy="228600"/>
          </a:xfrm>
          <a:prstGeom prst="rect">
            <a:avLst/>
          </a:prstGeom>
        </p:spPr>
      </p:pic>
      <p:sp>
        <p:nvSpPr>
          <p:cNvPr id="51" name="Text 46"/>
          <p:cNvSpPr txBox="1"/>
          <p:nvPr/>
        </p:nvSpPr>
        <p:spPr>
          <a:xfrm>
            <a:off x="8293608" y="5376672"/>
            <a:ext cx="1463040" cy="274320"/>
          </a:xfrm>
          <a:prstGeom prst="rect">
            <a:avLst/>
          </a:prstGeom>
          <a:noFill/>
          <a:ln/>
        </p:spPr>
        <p:txBody>
          <a:bodyPr wrap="square" lIns="0" tIns="0" rIns="0" bIns="0" rtlCol="0" anchor="t"/>
          <a:lstStyle/>
          <a:p>
            <a:pPr algn="ctr" indent="0" marL="0">
              <a:buNone/>
            </a:pPr>
            <a:r>
              <a:rPr lang="en-US" sz="1300" b="1" dirty="0">
                <a:solidFill>
                  <a:schemeClr val="tx2"/>
                </a:solidFill>
              </a:rPr>
              <a:t>Print-ready</a:t>
            </a:r>
            <a:endParaRPr lang="en-US" sz="1300" dirty="0"/>
          </a:p>
        </p:txBody>
      </p:sp>
      <p:sp>
        <p:nvSpPr>
          <p:cNvPr id="52" name="Text 47"/>
          <p:cNvSpPr txBox="1"/>
          <p:nvPr/>
        </p:nvSpPr>
        <p:spPr>
          <a:xfrm>
            <a:off x="8293608" y="5669280"/>
            <a:ext cx="1463040" cy="502920"/>
          </a:xfrm>
          <a:prstGeom prst="rect">
            <a:avLst/>
          </a:prstGeom>
          <a:noFill/>
          <a:ln/>
        </p:spPr>
        <p:txBody>
          <a:bodyPr wrap="square" lIns="0" tIns="0" rIns="0" bIns="0" rtlCol="0" anchor="t"/>
          <a:lstStyle/>
          <a:p>
            <a:pPr algn="ctr" indent="0" marL="0">
              <a:buNone/>
            </a:pPr>
            <a:r>
              <a:rPr lang="en-US" sz="1100" dirty="0">
                <a:solidFill>
                  <a:schemeClr val="tx1"/>
                </a:solidFill>
              </a:rPr>
              <a:t>Clean A4 layout</a:t>
            </a:r>
            <a:endParaRPr lang="en-US" sz="1100" dirty="0"/>
          </a:p>
        </p:txBody>
      </p:sp>
      <p:sp>
        <p:nvSpPr>
          <p:cNvPr id="53" name="feature-card-3"/>
          <p:cNvSpPr/>
          <p:nvPr/>
        </p:nvSpPr>
        <p:spPr>
          <a:xfrm>
            <a:off x="10003536" y="4754880"/>
            <a:ext cx="1645920" cy="1463040"/>
          </a:xfrm>
          <a:prstGeom prst="roundRect">
            <a:avLst>
              <a:gd name="adj" fmla="val 7500"/>
            </a:avLst>
          </a:prstGeom>
          <a:solidFill>
            <a:schemeClr val="bg1"/>
          </a:solidFill>
          <a:ln w="9525">
            <a:solidFill>
              <a:schemeClr val="accent3"/>
            </a:solidFill>
            <a:prstDash val="solid"/>
          </a:ln>
          <a:effectLst>
            <a:outerShdw sx="100000" sy="100000" kx="0" ky="0" algn="bl" rotWithShape="0" blurRad="76200" dist="25400" dir="5400000">
              <a:srgbClr val="000000">
                <a:alpha val="12000"/>
              </a:srgbClr>
            </a:outerShdw>
          </a:effectLst>
        </p:spPr>
      </p:sp>
      <p:sp>
        <p:nvSpPr>
          <p:cNvPr id="54" name="icon-bg-FaHandHoldingUsd"/>
          <p:cNvSpPr/>
          <p:nvPr/>
        </p:nvSpPr>
        <p:spPr>
          <a:xfrm>
            <a:off x="10597896" y="4846320"/>
            <a:ext cx="457200" cy="457200"/>
          </a:xfrm>
          <a:prstGeom prst="ellipse">
            <a:avLst/>
          </a:prstGeom>
          <a:solidFill>
            <a:schemeClr val="accent1"/>
          </a:solidFill>
          <a:ln/>
        </p:spPr>
      </p:sp>
      <p:pic>
        <p:nvPicPr>
          <p:cNvPr id="55" name="Image 2" descr="HandHoldingUsd icon">    </p:cNvPr>
          <p:cNvPicPr>
            <a:picLocks noChangeAspect="1"/>
          </p:cNvPicPr>
          <p:nvPr/>
        </p:nvPicPr>
        <p:blipFill>
          <a:blip r:embed="rId3"/>
          <a:stretch>
            <a:fillRect/>
          </a:stretch>
        </p:blipFill>
        <p:spPr>
          <a:xfrm>
            <a:off x="10712196" y="4960620"/>
            <a:ext cx="228600" cy="228600"/>
          </a:xfrm>
          <a:prstGeom prst="rect">
            <a:avLst/>
          </a:prstGeom>
        </p:spPr>
      </p:pic>
      <p:sp>
        <p:nvSpPr>
          <p:cNvPr id="56" name="Text 50"/>
          <p:cNvSpPr txBox="1"/>
          <p:nvPr/>
        </p:nvSpPr>
        <p:spPr>
          <a:xfrm>
            <a:off x="10094976" y="5376672"/>
            <a:ext cx="1463040" cy="274320"/>
          </a:xfrm>
          <a:prstGeom prst="rect">
            <a:avLst/>
          </a:prstGeom>
          <a:noFill/>
          <a:ln/>
        </p:spPr>
        <p:txBody>
          <a:bodyPr wrap="square" lIns="0" tIns="0" rIns="0" bIns="0" rtlCol="0" anchor="t"/>
          <a:lstStyle/>
          <a:p>
            <a:pPr algn="ctr" indent="0" marL="0">
              <a:buNone/>
            </a:pPr>
            <a:r>
              <a:rPr lang="en-US" sz="1300" b="1" dirty="0">
                <a:solidFill>
                  <a:schemeClr val="tx2"/>
                </a:solidFill>
              </a:rPr>
              <a:t>Credit-ready</a:t>
            </a:r>
            <a:endParaRPr lang="en-US" sz="1300" dirty="0"/>
          </a:p>
        </p:txBody>
      </p:sp>
      <p:sp>
        <p:nvSpPr>
          <p:cNvPr id="57" name="Text 51"/>
          <p:cNvSpPr txBox="1"/>
          <p:nvPr/>
        </p:nvSpPr>
        <p:spPr>
          <a:xfrm>
            <a:off x="10094976" y="5669280"/>
            <a:ext cx="1463040" cy="502920"/>
          </a:xfrm>
          <a:prstGeom prst="rect">
            <a:avLst/>
          </a:prstGeom>
          <a:noFill/>
          <a:ln/>
        </p:spPr>
        <p:txBody>
          <a:bodyPr wrap="square" lIns="0" tIns="0" rIns="0" bIns="0" rtlCol="0" anchor="t"/>
          <a:lstStyle/>
          <a:p>
            <a:pPr algn="ctr" indent="0" marL="0">
              <a:buNone/>
            </a:pPr>
            <a:r>
              <a:rPr lang="en-US" sz="1100" dirty="0">
                <a:solidFill>
                  <a:schemeClr val="tx1"/>
                </a:solidFill>
              </a:rPr>
              <a:t>Supports Kisan credit files</a:t>
            </a:r>
            <a:endParaRPr lang="en-US" sz="1100" dirty="0"/>
          </a:p>
        </p:txBody>
      </p:sp>
      <p:sp>
        <p:nvSpPr>
          <p:cNvPr id="25" name="Slide Number Placeholder 0"/>
          <p:cNvSpPr>
            <a:spLocks noGrp="1"/>
          </p:cNvSpPr>
          <p:nvPr>
            <p:ph type="sldNum" sz="quarter" idx="4294967295"/>
          </p:nvPr>
        </p:nvSpPr>
        <p:spPr>
          <a:xfrm>
            <a:off x="10972800" y="642823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40080"/>
          </a:xfrm>
          <a:prstGeom prst="rect">
            <a:avLst/>
          </a:prstGeom>
          <a:noFill/>
          <a:ln/>
        </p:spPr>
        <p:txBody>
          <a:bodyPr wrap="square" lIns="0" tIns="0" rIns="0" bIns="0" rtlCol="0" anchor="ctr"/>
          <a:lstStyle/>
          <a:p>
            <a:pPr algn="l" indent="0" marL="0">
              <a:buNone/>
            </a:pPr>
            <a:r>
              <a:rPr lang="en-US" sz="3400" b="1" dirty="0">
                <a:solidFill>
                  <a:schemeClr val="tx2"/>
                </a:solidFill>
              </a:rPr>
              <a:t>The Observability Hub: See Inside the System</a:t>
            </a:r>
            <a:endParaRPr lang="en-US" sz="3400" dirty="0"/>
          </a:p>
        </p:txBody>
      </p:sp>
      <p:sp>
        <p:nvSpPr>
          <p:cNvPr id="4" name="Text 1"/>
          <p:cNvSpPr txBox="1"/>
          <p:nvPr/>
        </p:nvSpPr>
        <p:spPr>
          <a:xfrm>
            <a:off x="548640" y="932688"/>
            <a:ext cx="11091672" cy="365760"/>
          </a:xfrm>
          <a:prstGeom prst="rect">
            <a:avLst/>
          </a:prstGeom>
          <a:noFill/>
          <a:ln/>
        </p:spPr>
        <p:txBody>
          <a:bodyPr wrap="square" lIns="0" tIns="0" rIns="0" bIns="0" rtlCol="0" anchor="t"/>
          <a:lstStyle/>
          <a:p>
            <a:pPr indent="0" marL="0">
              <a:buNone/>
            </a:pPr>
            <a:r>
              <a:rPr lang="en-US" sz="1600" i="1" dirty="0">
                <a:solidFill>
                  <a:schemeClr val="accent6"/>
                </a:solidFill>
              </a:rPr>
              <a:t>Inspect the data, the vectors, the retrieval and the models behind every answer</a:t>
            </a:r>
            <a:endParaRPr lang="en-US" sz="1600" dirty="0"/>
          </a:p>
        </p:txBody>
      </p:sp>
      <p:sp>
        <p:nvSpPr>
          <p:cNvPr id="5" name="hub-window"/>
          <p:cNvSpPr/>
          <p:nvPr/>
        </p:nvSpPr>
        <p:spPr>
          <a:xfrm>
            <a:off x="548640" y="1508760"/>
            <a:ext cx="11091672" cy="4754880"/>
          </a:xfrm>
          <a:prstGeom prst="roundRect">
            <a:avLst>
              <a:gd name="adj" fmla="val 1923"/>
            </a:avLst>
          </a:prstGeom>
          <a:solidFill>
            <a:schemeClr val="bg1"/>
          </a:solidFill>
          <a:ln w="12700">
            <a:solidFill>
              <a:schemeClr val="accent3"/>
            </a:solidFill>
            <a:prstDash val="solid"/>
          </a:ln>
          <a:effectLst>
            <a:outerShdw sx="100000" sy="100000" kx="0" ky="0" algn="bl" rotWithShape="0" blurRad="76200" dist="25400" dir="5400000">
              <a:srgbClr val="000000">
                <a:alpha val="12000"/>
              </a:srgbClr>
            </a:outerShdw>
          </a:effectLst>
        </p:spPr>
      </p:sp>
      <p:sp>
        <p:nvSpPr>
          <p:cNvPr id="6" name="hub-titlebar"/>
          <p:cNvSpPr/>
          <p:nvPr/>
        </p:nvSpPr>
        <p:spPr>
          <a:xfrm>
            <a:off x="548640" y="1508760"/>
            <a:ext cx="11091672" cy="457200"/>
          </a:xfrm>
          <a:prstGeom prst="roundRect">
            <a:avLst>
              <a:gd name="adj" fmla="val 20000"/>
            </a:avLst>
          </a:prstGeom>
          <a:solidFill>
            <a:schemeClr val="tx1"/>
          </a:solidFill>
          <a:ln/>
        </p:spPr>
      </p:sp>
      <p:sp>
        <p:nvSpPr>
          <p:cNvPr id="7" name="window-dot-0"/>
          <p:cNvSpPr/>
          <p:nvPr/>
        </p:nvSpPr>
        <p:spPr>
          <a:xfrm>
            <a:off x="777240" y="1664208"/>
            <a:ext cx="146304" cy="146304"/>
          </a:xfrm>
          <a:prstGeom prst="ellipse">
            <a:avLst/>
          </a:prstGeom>
          <a:solidFill>
            <a:schemeClr val="accent5"/>
          </a:solidFill>
          <a:ln/>
        </p:spPr>
      </p:sp>
      <p:sp>
        <p:nvSpPr>
          <p:cNvPr id="8" name="window-dot-1"/>
          <p:cNvSpPr/>
          <p:nvPr/>
        </p:nvSpPr>
        <p:spPr>
          <a:xfrm>
            <a:off x="1005840" y="1664208"/>
            <a:ext cx="146304" cy="146304"/>
          </a:xfrm>
          <a:prstGeom prst="ellipse">
            <a:avLst/>
          </a:prstGeom>
          <a:solidFill>
            <a:schemeClr val="accent4"/>
          </a:solidFill>
          <a:ln/>
        </p:spPr>
      </p:sp>
      <p:sp>
        <p:nvSpPr>
          <p:cNvPr id="9" name="window-dot-2"/>
          <p:cNvSpPr/>
          <p:nvPr/>
        </p:nvSpPr>
        <p:spPr>
          <a:xfrm>
            <a:off x="1234440" y="1664208"/>
            <a:ext cx="146304" cy="146304"/>
          </a:xfrm>
          <a:prstGeom prst="ellipse">
            <a:avLst/>
          </a:prstGeom>
          <a:solidFill>
            <a:schemeClr val="accent2"/>
          </a:solidFill>
          <a:ln/>
        </p:spPr>
      </p:sp>
      <p:sp>
        <p:nvSpPr>
          <p:cNvPr id="10" name="Text 7"/>
          <p:cNvSpPr txBox="1"/>
          <p:nvPr/>
        </p:nvSpPr>
        <p:spPr>
          <a:xfrm>
            <a:off x="1554480" y="1508760"/>
            <a:ext cx="3657600" cy="457200"/>
          </a:xfrm>
          <a:prstGeom prst="rect">
            <a:avLst/>
          </a:prstGeom>
          <a:noFill/>
          <a:ln/>
        </p:spPr>
        <p:txBody>
          <a:bodyPr wrap="square" lIns="0" tIns="0" rIns="0" bIns="0" rtlCol="0" anchor="ctr"/>
          <a:lstStyle/>
          <a:p>
            <a:pPr indent="0" marL="0">
              <a:buNone/>
            </a:pPr>
            <a:r>
              <a:rPr lang="en-US" sz="1400" b="1" dirty="0">
                <a:solidFill>
                  <a:schemeClr val="bg1"/>
                </a:solidFill>
              </a:rPr>
              <a:t>Observability Hub</a:t>
            </a:r>
            <a:endParaRPr lang="en-US" sz="1400" dirty="0"/>
          </a:p>
        </p:txBody>
      </p:sp>
      <p:sp>
        <p:nvSpPr>
          <p:cNvPr id="11" name="hub-panel-1"/>
          <p:cNvSpPr/>
          <p:nvPr/>
        </p:nvSpPr>
        <p:spPr>
          <a:xfrm>
            <a:off x="777240" y="2194560"/>
            <a:ext cx="5257800" cy="1828800"/>
          </a:xfrm>
          <a:prstGeom prst="roundRect">
            <a:avLst>
              <a:gd name="adj" fmla="val 5000"/>
            </a:avLst>
          </a:prstGeom>
          <a:solidFill>
            <a:schemeClr val="bg2"/>
          </a:solidFill>
          <a:ln w="9525">
            <a:solidFill>
              <a:schemeClr val="accent3"/>
            </a:solidFill>
            <a:prstDash val="solid"/>
          </a:ln>
        </p:spPr>
      </p:sp>
      <p:sp>
        <p:nvSpPr>
          <p:cNvPr id="12" name="icon-bg-FaDatabase"/>
          <p:cNvSpPr/>
          <p:nvPr/>
        </p:nvSpPr>
        <p:spPr>
          <a:xfrm>
            <a:off x="1005840" y="2423160"/>
            <a:ext cx="594360" cy="594360"/>
          </a:xfrm>
          <a:prstGeom prst="ellipse">
            <a:avLst/>
          </a:prstGeom>
          <a:solidFill>
            <a:schemeClr val="accent1"/>
          </a:solidFill>
          <a:ln/>
        </p:spPr>
      </p:sp>
      <p:pic>
        <p:nvPicPr>
          <p:cNvPr id="13" name="Image 0" descr="Database icon">    </p:cNvPr>
          <p:cNvPicPr>
            <a:picLocks noChangeAspect="1"/>
          </p:cNvPicPr>
          <p:nvPr/>
        </p:nvPicPr>
        <p:blipFill>
          <a:blip r:embed="rId1"/>
          <a:stretch>
            <a:fillRect/>
          </a:stretch>
        </p:blipFill>
        <p:spPr>
          <a:xfrm>
            <a:off x="1154430" y="2571750"/>
            <a:ext cx="297180" cy="297180"/>
          </a:xfrm>
          <a:prstGeom prst="rect">
            <a:avLst/>
          </a:prstGeom>
        </p:spPr>
      </p:pic>
      <p:sp>
        <p:nvSpPr>
          <p:cNvPr id="14" name="Text 10"/>
          <p:cNvSpPr txBox="1"/>
          <p:nvPr/>
        </p:nvSpPr>
        <p:spPr>
          <a:xfrm>
            <a:off x="1783080" y="2423160"/>
            <a:ext cx="4023360" cy="365760"/>
          </a:xfrm>
          <a:prstGeom prst="rect">
            <a:avLst/>
          </a:prstGeom>
          <a:noFill/>
          <a:ln/>
        </p:spPr>
        <p:txBody>
          <a:bodyPr wrap="square" lIns="0" tIns="0" rIns="0" bIns="0" rtlCol="0" anchor="t"/>
          <a:lstStyle/>
          <a:p>
            <a:pPr indent="0" marL="0">
              <a:buNone/>
            </a:pPr>
            <a:r>
              <a:rPr lang="en-US" sz="1700" b="1" dirty="0">
                <a:solidFill>
                  <a:schemeClr val="tx2"/>
                </a:solidFill>
              </a:rPr>
              <a:t>SQLite Explorer</a:t>
            </a:r>
            <a:endParaRPr lang="en-US" sz="1700" dirty="0"/>
          </a:p>
        </p:txBody>
      </p:sp>
      <p:sp>
        <p:nvSpPr>
          <p:cNvPr id="15" name="Text 11"/>
          <p:cNvSpPr txBox="1"/>
          <p:nvPr/>
        </p:nvSpPr>
        <p:spPr>
          <a:xfrm>
            <a:off x="1783080" y="2880360"/>
            <a:ext cx="4023360" cy="1005840"/>
          </a:xfrm>
          <a:prstGeom prst="rect">
            <a:avLst/>
          </a:prstGeom>
          <a:noFill/>
          <a:ln/>
        </p:spPr>
        <p:txBody>
          <a:bodyPr wrap="square" lIns="0" tIns="0" rIns="0" bIns="0" rtlCol="0" anchor="t"/>
          <a:lstStyle/>
          <a:p>
            <a:pPr indent="0" marL="0">
              <a:buNone/>
            </a:pPr>
            <a:r>
              <a:rPr lang="en-US" sz="1400" dirty="0">
                <a:solidFill>
                  <a:schemeClr val="tx1"/>
                </a:solidFill>
              </a:rPr>
              <a:t>Browse tables in farmer_profile.db and export CSV through Zero-JS tables with sticky headers.</a:t>
            </a:r>
            <a:endParaRPr lang="en-US" sz="1400" dirty="0"/>
          </a:p>
        </p:txBody>
      </p:sp>
      <p:sp>
        <p:nvSpPr>
          <p:cNvPr id="16" name="hub-panel-2"/>
          <p:cNvSpPr/>
          <p:nvPr/>
        </p:nvSpPr>
        <p:spPr>
          <a:xfrm>
            <a:off x="6263640" y="2194560"/>
            <a:ext cx="5257800" cy="1828800"/>
          </a:xfrm>
          <a:prstGeom prst="roundRect">
            <a:avLst>
              <a:gd name="adj" fmla="val 5000"/>
            </a:avLst>
          </a:prstGeom>
          <a:solidFill>
            <a:schemeClr val="bg2"/>
          </a:solidFill>
          <a:ln w="9525">
            <a:solidFill>
              <a:schemeClr val="accent3"/>
            </a:solidFill>
            <a:prstDash val="solid"/>
          </a:ln>
        </p:spPr>
      </p:sp>
      <p:sp>
        <p:nvSpPr>
          <p:cNvPr id="17" name="icon-bg-FaCubes"/>
          <p:cNvSpPr/>
          <p:nvPr/>
        </p:nvSpPr>
        <p:spPr>
          <a:xfrm>
            <a:off x="6492240" y="2423160"/>
            <a:ext cx="594360" cy="594360"/>
          </a:xfrm>
          <a:prstGeom prst="ellipse">
            <a:avLst/>
          </a:prstGeom>
          <a:solidFill>
            <a:schemeClr val="accent1"/>
          </a:solidFill>
          <a:ln/>
        </p:spPr>
      </p:sp>
      <p:pic>
        <p:nvPicPr>
          <p:cNvPr id="18" name="Image 1" descr="Cubes icon">    </p:cNvPr>
          <p:cNvPicPr>
            <a:picLocks noChangeAspect="1"/>
          </p:cNvPicPr>
          <p:nvPr/>
        </p:nvPicPr>
        <p:blipFill>
          <a:blip r:embed="rId2"/>
          <a:stretch>
            <a:fillRect/>
          </a:stretch>
        </p:blipFill>
        <p:spPr>
          <a:xfrm>
            <a:off x="6640830" y="2571750"/>
            <a:ext cx="297180" cy="297180"/>
          </a:xfrm>
          <a:prstGeom prst="rect">
            <a:avLst/>
          </a:prstGeom>
        </p:spPr>
      </p:pic>
      <p:sp>
        <p:nvSpPr>
          <p:cNvPr id="19" name="Text 14"/>
          <p:cNvSpPr txBox="1"/>
          <p:nvPr/>
        </p:nvSpPr>
        <p:spPr>
          <a:xfrm>
            <a:off x="7269480" y="2423160"/>
            <a:ext cx="4023360" cy="365760"/>
          </a:xfrm>
          <a:prstGeom prst="rect">
            <a:avLst/>
          </a:prstGeom>
          <a:noFill/>
          <a:ln/>
        </p:spPr>
        <p:txBody>
          <a:bodyPr wrap="square" lIns="0" tIns="0" rIns="0" bIns="0" rtlCol="0" anchor="t"/>
          <a:lstStyle/>
          <a:p>
            <a:pPr indent="0" marL="0">
              <a:buNone/>
            </a:pPr>
            <a:r>
              <a:rPr lang="en-US" sz="1700" b="1" dirty="0">
                <a:solidFill>
                  <a:schemeClr val="tx2"/>
                </a:solidFill>
              </a:rPr>
              <a:t>Vectorstore Chunk Inspector</a:t>
            </a:r>
            <a:endParaRPr lang="en-US" sz="1700" dirty="0"/>
          </a:p>
        </p:txBody>
      </p:sp>
      <p:sp>
        <p:nvSpPr>
          <p:cNvPr id="20" name="Text 15"/>
          <p:cNvSpPr txBox="1"/>
          <p:nvPr/>
        </p:nvSpPr>
        <p:spPr>
          <a:xfrm>
            <a:off x="7269480" y="2880360"/>
            <a:ext cx="4023360" cy="1005840"/>
          </a:xfrm>
          <a:prstGeom prst="rect">
            <a:avLst/>
          </a:prstGeom>
          <a:noFill/>
          <a:ln/>
        </p:spPr>
        <p:txBody>
          <a:bodyPr wrap="square" lIns="0" tIns="0" rIns="0" bIns="0" rtlCol="0" anchor="t"/>
          <a:lstStyle/>
          <a:p>
            <a:pPr indent="0" marL="0">
              <a:buNone/>
            </a:pPr>
            <a:r>
              <a:rPr lang="en-US" sz="1400" dirty="0">
                <a:solidFill>
                  <a:schemeClr val="tx1"/>
                </a:solidFill>
              </a:rPr>
              <a:t>Open any of the 2,892 chunks to see its text, source manual and metadata.</a:t>
            </a:r>
            <a:endParaRPr lang="en-US" sz="1400" dirty="0"/>
          </a:p>
        </p:txBody>
      </p:sp>
      <p:sp>
        <p:nvSpPr>
          <p:cNvPr id="21" name="hub-panel-3"/>
          <p:cNvSpPr/>
          <p:nvPr/>
        </p:nvSpPr>
        <p:spPr>
          <a:xfrm>
            <a:off x="777240" y="4206240"/>
            <a:ext cx="5257800" cy="1828800"/>
          </a:xfrm>
          <a:prstGeom prst="roundRect">
            <a:avLst>
              <a:gd name="adj" fmla="val 5000"/>
            </a:avLst>
          </a:prstGeom>
          <a:solidFill>
            <a:schemeClr val="bg2"/>
          </a:solidFill>
          <a:ln w="9525">
            <a:solidFill>
              <a:schemeClr val="accent3"/>
            </a:solidFill>
            <a:prstDash val="solid"/>
          </a:ln>
        </p:spPr>
      </p:sp>
      <p:sp>
        <p:nvSpPr>
          <p:cNvPr id="22" name="icon-bg-FaSearch"/>
          <p:cNvSpPr/>
          <p:nvPr/>
        </p:nvSpPr>
        <p:spPr>
          <a:xfrm>
            <a:off x="1005840" y="4434840"/>
            <a:ext cx="594360" cy="594360"/>
          </a:xfrm>
          <a:prstGeom prst="ellipse">
            <a:avLst/>
          </a:prstGeom>
          <a:solidFill>
            <a:schemeClr val="accent1"/>
          </a:solidFill>
          <a:ln/>
        </p:spPr>
      </p:sp>
      <p:pic>
        <p:nvPicPr>
          <p:cNvPr id="23" name="Image 2" descr="Search icon">    </p:cNvPr>
          <p:cNvPicPr>
            <a:picLocks noChangeAspect="1"/>
          </p:cNvPicPr>
          <p:nvPr/>
        </p:nvPicPr>
        <p:blipFill>
          <a:blip r:embed="rId3"/>
          <a:stretch>
            <a:fillRect/>
          </a:stretch>
        </p:blipFill>
        <p:spPr>
          <a:xfrm>
            <a:off x="1154430" y="4583430"/>
            <a:ext cx="297180" cy="297180"/>
          </a:xfrm>
          <a:prstGeom prst="rect">
            <a:avLst/>
          </a:prstGeom>
        </p:spPr>
      </p:pic>
      <p:sp>
        <p:nvSpPr>
          <p:cNvPr id="24" name="Text 18"/>
          <p:cNvSpPr txBox="1"/>
          <p:nvPr/>
        </p:nvSpPr>
        <p:spPr>
          <a:xfrm>
            <a:off x="1783080" y="4434840"/>
            <a:ext cx="4023360" cy="365760"/>
          </a:xfrm>
          <a:prstGeom prst="rect">
            <a:avLst/>
          </a:prstGeom>
          <a:noFill/>
          <a:ln/>
        </p:spPr>
        <p:txBody>
          <a:bodyPr wrap="square" lIns="0" tIns="0" rIns="0" bIns="0" rtlCol="0" anchor="t"/>
          <a:lstStyle/>
          <a:p>
            <a:pPr indent="0" marL="0">
              <a:buNone/>
            </a:pPr>
            <a:r>
              <a:rPr lang="en-US" sz="1700" b="1" dirty="0">
                <a:solidFill>
                  <a:schemeClr val="tx2"/>
                </a:solidFill>
              </a:rPr>
              <a:t>RAG Retrieval Sandbox</a:t>
            </a:r>
            <a:endParaRPr lang="en-US" sz="1700" dirty="0"/>
          </a:p>
        </p:txBody>
      </p:sp>
      <p:sp>
        <p:nvSpPr>
          <p:cNvPr id="25" name="Text 19"/>
          <p:cNvSpPr txBox="1"/>
          <p:nvPr/>
        </p:nvSpPr>
        <p:spPr>
          <a:xfrm>
            <a:off x="1783080" y="4892040"/>
            <a:ext cx="4023360" cy="1005840"/>
          </a:xfrm>
          <a:prstGeom prst="rect">
            <a:avLst/>
          </a:prstGeom>
          <a:noFill/>
          <a:ln/>
        </p:spPr>
        <p:txBody>
          <a:bodyPr wrap="square" lIns="0" tIns="0" rIns="0" bIns="0" rtlCol="0" anchor="t"/>
          <a:lstStyle/>
          <a:p>
            <a:pPr indent="0" marL="0">
              <a:buNone/>
            </a:pPr>
            <a:r>
              <a:rPr lang="en-US" sz="1400" dirty="0">
                <a:solidFill>
                  <a:schemeClr val="tx1"/>
                </a:solidFill>
              </a:rPr>
              <a:t>Compare dense, BM25 and fused RRF results side by side to tune retrieval.</a:t>
            </a:r>
            <a:endParaRPr lang="en-US" sz="1400" dirty="0"/>
          </a:p>
        </p:txBody>
      </p:sp>
      <p:sp>
        <p:nvSpPr>
          <p:cNvPr id="26" name="hub-panel-4"/>
          <p:cNvSpPr/>
          <p:nvPr/>
        </p:nvSpPr>
        <p:spPr>
          <a:xfrm>
            <a:off x="6263640" y="4206240"/>
            <a:ext cx="5257800" cy="1828800"/>
          </a:xfrm>
          <a:prstGeom prst="roundRect">
            <a:avLst>
              <a:gd name="adj" fmla="val 5000"/>
            </a:avLst>
          </a:prstGeom>
          <a:solidFill>
            <a:schemeClr val="bg2"/>
          </a:solidFill>
          <a:ln w="9525">
            <a:solidFill>
              <a:schemeClr val="accent3"/>
            </a:solidFill>
            <a:prstDash val="solid"/>
          </a:ln>
        </p:spPr>
      </p:sp>
      <p:sp>
        <p:nvSpPr>
          <p:cNvPr id="27" name="icon-bg-FaTachometerAlt"/>
          <p:cNvSpPr/>
          <p:nvPr/>
        </p:nvSpPr>
        <p:spPr>
          <a:xfrm>
            <a:off x="6492240" y="4434840"/>
            <a:ext cx="594360" cy="594360"/>
          </a:xfrm>
          <a:prstGeom prst="ellipse">
            <a:avLst/>
          </a:prstGeom>
          <a:solidFill>
            <a:schemeClr val="accent1"/>
          </a:solidFill>
          <a:ln/>
        </p:spPr>
      </p:sp>
      <p:pic>
        <p:nvPicPr>
          <p:cNvPr id="28" name="Image 3" descr="TachometerAlt icon">    </p:cNvPr>
          <p:cNvPicPr>
            <a:picLocks noChangeAspect="1"/>
          </p:cNvPicPr>
          <p:nvPr/>
        </p:nvPicPr>
        <p:blipFill>
          <a:blip r:embed="rId4"/>
          <a:stretch>
            <a:fillRect/>
          </a:stretch>
        </p:blipFill>
        <p:spPr>
          <a:xfrm>
            <a:off x="6640830" y="4583430"/>
            <a:ext cx="297180" cy="297180"/>
          </a:xfrm>
          <a:prstGeom prst="rect">
            <a:avLst/>
          </a:prstGeom>
        </p:spPr>
      </p:pic>
      <p:sp>
        <p:nvSpPr>
          <p:cNvPr id="29" name="Text 22"/>
          <p:cNvSpPr txBox="1"/>
          <p:nvPr/>
        </p:nvSpPr>
        <p:spPr>
          <a:xfrm>
            <a:off x="7269480" y="4434840"/>
            <a:ext cx="4023360" cy="365760"/>
          </a:xfrm>
          <a:prstGeom prst="rect">
            <a:avLst/>
          </a:prstGeom>
          <a:noFill/>
          <a:ln/>
        </p:spPr>
        <p:txBody>
          <a:bodyPr wrap="square" lIns="0" tIns="0" rIns="0" bIns="0" rtlCol="0" anchor="t"/>
          <a:lstStyle/>
          <a:p>
            <a:pPr indent="0" marL="0">
              <a:buNone/>
            </a:pPr>
            <a:r>
              <a:rPr lang="en-US" sz="1700" b="1" dirty="0">
                <a:solidFill>
                  <a:schemeClr val="tx2"/>
                </a:solidFill>
              </a:rPr>
              <a:t>ML Model Telemetry</a:t>
            </a:r>
            <a:endParaRPr lang="en-US" sz="1700" dirty="0"/>
          </a:p>
        </p:txBody>
      </p:sp>
      <p:sp>
        <p:nvSpPr>
          <p:cNvPr id="30" name="Text 23"/>
          <p:cNvSpPr txBox="1"/>
          <p:nvPr/>
        </p:nvSpPr>
        <p:spPr>
          <a:xfrm>
            <a:off x="7269480" y="4892040"/>
            <a:ext cx="4023360" cy="1005840"/>
          </a:xfrm>
          <a:prstGeom prst="rect">
            <a:avLst/>
          </a:prstGeom>
          <a:noFill/>
          <a:ln/>
        </p:spPr>
        <p:txBody>
          <a:bodyPr wrap="square" lIns="0" tIns="0" rIns="0" bIns="0" rtlCol="0" anchor="t"/>
          <a:lstStyle/>
          <a:p>
            <a:pPr indent="0" marL="0">
              <a:buNone/>
            </a:pPr>
            <a:r>
              <a:rPr lang="en-US" sz="1400" dirty="0">
                <a:solidFill>
                  <a:schemeClr val="tx1"/>
                </a:solidFill>
              </a:rPr>
              <a:t>Track model version, inference latency and prediction distribution to catch drift early.</a:t>
            </a:r>
            <a:endParaRPr lang="en-US" sz="1400" dirty="0"/>
          </a:p>
        </p:txBody>
      </p:sp>
      <p:sp>
        <p:nvSpPr>
          <p:cNvPr id="25" name="Slide Number Placeholder 0"/>
          <p:cNvSpPr>
            <a:spLocks noGrp="1"/>
          </p:cNvSpPr>
          <p:nvPr>
            <p:ph type="sldNum" sz="quarter" idx="4294967295"/>
          </p:nvPr>
        </p:nvSpPr>
        <p:spPr>
          <a:xfrm>
            <a:off x="10972800" y="642823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40080"/>
          </a:xfrm>
          <a:prstGeom prst="rect">
            <a:avLst/>
          </a:prstGeom>
          <a:noFill/>
          <a:ln/>
        </p:spPr>
        <p:txBody>
          <a:bodyPr wrap="square" lIns="0" tIns="0" rIns="0" bIns="0" rtlCol="0" anchor="ctr"/>
          <a:lstStyle/>
          <a:p>
            <a:pPr algn="l" indent="0" marL="0">
              <a:buNone/>
            </a:pPr>
            <a:r>
              <a:rPr lang="en-US" sz="3400" b="1" dirty="0">
                <a:solidFill>
                  <a:schemeClr val="tx2"/>
                </a:solidFill>
              </a:rPr>
              <a:t>Quality Gates: Safety Must Pass at 100%</a:t>
            </a:r>
            <a:endParaRPr lang="en-US" sz="3400" dirty="0"/>
          </a:p>
        </p:txBody>
      </p:sp>
      <p:sp>
        <p:nvSpPr>
          <p:cNvPr id="4" name="Text 1"/>
          <p:cNvSpPr txBox="1"/>
          <p:nvPr/>
        </p:nvSpPr>
        <p:spPr>
          <a:xfrm>
            <a:off x="548640" y="932688"/>
            <a:ext cx="11091672" cy="365760"/>
          </a:xfrm>
          <a:prstGeom prst="rect">
            <a:avLst/>
          </a:prstGeom>
          <a:noFill/>
          <a:ln/>
        </p:spPr>
        <p:txBody>
          <a:bodyPr wrap="square" lIns="0" tIns="0" rIns="0" bIns="0" rtlCol="0" anchor="t"/>
          <a:lstStyle/>
          <a:p>
            <a:pPr indent="0" marL="0">
              <a:buNone/>
            </a:pPr>
            <a:r>
              <a:rPr lang="en-US" sz="1600" i="1" dirty="0">
                <a:solidFill>
                  <a:schemeClr val="accent6"/>
                </a:solidFill>
              </a:rPr>
              <a:t>Evaluation built on DeepEval and Ragas principles runs as a release gate</a:t>
            </a:r>
            <a:endParaRPr lang="en-US" sz="1600" dirty="0"/>
          </a:p>
        </p:txBody>
      </p:sp>
      <p:sp>
        <p:nvSpPr>
          <p:cNvPr id="5" name="safety-stat-card"/>
          <p:cNvSpPr/>
          <p:nvPr/>
        </p:nvSpPr>
        <p:spPr>
          <a:xfrm>
            <a:off x="548640" y="1508760"/>
            <a:ext cx="3566160" cy="4754880"/>
          </a:xfrm>
          <a:prstGeom prst="roundRect">
            <a:avLst>
              <a:gd name="adj" fmla="val 3077"/>
            </a:avLst>
          </a:prstGeom>
          <a:solidFill>
            <a:schemeClr val="tx2"/>
          </a:solidFill>
          <a:ln/>
        </p:spPr>
      </p:sp>
      <p:sp>
        <p:nvSpPr>
          <p:cNvPr id="6" name="icon-bg-FaShieldAlt"/>
          <p:cNvSpPr/>
          <p:nvPr/>
        </p:nvSpPr>
        <p:spPr>
          <a:xfrm>
            <a:off x="1920240" y="1874520"/>
            <a:ext cx="822960" cy="822960"/>
          </a:xfrm>
          <a:prstGeom prst="ellipse">
            <a:avLst/>
          </a:prstGeom>
          <a:solidFill>
            <a:schemeClr val="accent2"/>
          </a:solidFill>
          <a:ln/>
        </p:spPr>
      </p:sp>
      <p:pic>
        <p:nvPicPr>
          <p:cNvPr id="7" name="Image 0" descr="ShieldAlt icon">    </p:cNvPr>
          <p:cNvPicPr>
            <a:picLocks noChangeAspect="1"/>
          </p:cNvPicPr>
          <p:nvPr/>
        </p:nvPicPr>
        <p:blipFill>
          <a:blip r:embed="rId1"/>
          <a:stretch>
            <a:fillRect/>
          </a:stretch>
        </p:blipFill>
        <p:spPr>
          <a:xfrm>
            <a:off x="2125980" y="2080260"/>
            <a:ext cx="411480" cy="411480"/>
          </a:xfrm>
          <a:prstGeom prst="rect">
            <a:avLst/>
          </a:prstGeom>
        </p:spPr>
      </p:pic>
      <p:sp>
        <p:nvSpPr>
          <p:cNvPr id="8" name="Text 4"/>
          <p:cNvSpPr txBox="1"/>
          <p:nvPr/>
        </p:nvSpPr>
        <p:spPr>
          <a:xfrm>
            <a:off x="548640" y="2880360"/>
            <a:ext cx="3566160" cy="1097280"/>
          </a:xfrm>
          <a:prstGeom prst="rect">
            <a:avLst/>
          </a:prstGeom>
          <a:noFill/>
          <a:ln/>
        </p:spPr>
        <p:txBody>
          <a:bodyPr wrap="square" lIns="0" tIns="0" rIns="0" bIns="0" rtlCol="0" anchor="t"/>
          <a:lstStyle/>
          <a:p>
            <a:pPr algn="ctr" indent="0" marL="0">
              <a:buNone/>
            </a:pPr>
            <a:r>
              <a:rPr lang="en-US" sz="7200" b="1" dirty="0">
                <a:solidFill>
                  <a:schemeClr val="bg1"/>
                </a:solidFill>
              </a:rPr>
              <a:t>100%</a:t>
            </a:r>
            <a:endParaRPr lang="en-US" sz="7200" dirty="0"/>
          </a:p>
        </p:txBody>
      </p:sp>
      <p:sp>
        <p:nvSpPr>
          <p:cNvPr id="9" name="Text 5"/>
          <p:cNvSpPr txBox="1"/>
          <p:nvPr/>
        </p:nvSpPr>
        <p:spPr>
          <a:xfrm>
            <a:off x="548640" y="3977640"/>
            <a:ext cx="3566160" cy="365760"/>
          </a:xfrm>
          <a:prstGeom prst="rect">
            <a:avLst/>
          </a:prstGeom>
          <a:noFill/>
          <a:ln/>
        </p:spPr>
        <p:txBody>
          <a:bodyPr wrap="square" lIns="0" tIns="0" rIns="0" bIns="0" rtlCol="0" anchor="t"/>
          <a:lstStyle/>
          <a:p>
            <a:pPr algn="ctr" indent="0" marL="0">
              <a:buNone/>
            </a:pPr>
            <a:r>
              <a:rPr lang="en-US" sz="1600" dirty="0">
                <a:solidFill>
                  <a:schemeClr val="accent3"/>
                </a:solidFill>
              </a:rPr>
              <a:t>agronomic safety pass rate</a:t>
            </a:r>
            <a:endParaRPr lang="en-US" sz="1600" dirty="0"/>
          </a:p>
        </p:txBody>
      </p:sp>
      <p:sp>
        <p:nvSpPr>
          <p:cNvPr id="10" name="Text 6"/>
          <p:cNvSpPr txBox="1"/>
          <p:nvPr/>
        </p:nvSpPr>
        <p:spPr>
          <a:xfrm>
            <a:off x="548640" y="4617720"/>
            <a:ext cx="3566160" cy="731520"/>
          </a:xfrm>
          <a:prstGeom prst="rect">
            <a:avLst/>
          </a:prstGeom>
          <a:noFill/>
          <a:ln/>
        </p:spPr>
        <p:txBody>
          <a:bodyPr wrap="square" lIns="0" tIns="0" rIns="0" bIns="0" rtlCol="0" anchor="t"/>
          <a:lstStyle/>
          <a:p>
            <a:pPr algn="ctr" indent="0" marL="0">
              <a:buNone/>
            </a:pPr>
            <a:r>
              <a:rPr lang="en-US" sz="4400" b="1" dirty="0">
                <a:solidFill>
                  <a:schemeClr val="accent2"/>
                </a:solidFill>
              </a:rPr>
              <a:t>24</a:t>
            </a:r>
            <a:endParaRPr lang="en-US" sz="4400" dirty="0"/>
          </a:p>
        </p:txBody>
      </p:sp>
      <p:sp>
        <p:nvSpPr>
          <p:cNvPr id="11" name="Text 7"/>
          <p:cNvSpPr txBox="1"/>
          <p:nvPr/>
        </p:nvSpPr>
        <p:spPr>
          <a:xfrm>
            <a:off x="548640" y="5349240"/>
            <a:ext cx="3566160" cy="365760"/>
          </a:xfrm>
          <a:prstGeom prst="rect">
            <a:avLst/>
          </a:prstGeom>
          <a:noFill/>
          <a:ln/>
        </p:spPr>
        <p:txBody>
          <a:bodyPr wrap="square" lIns="0" tIns="0" rIns="0" bIns="0" rtlCol="0" anchor="t"/>
          <a:lstStyle/>
          <a:p>
            <a:pPr algn="ctr" indent="0" marL="0">
              <a:buNone/>
            </a:pPr>
            <a:r>
              <a:rPr lang="en-US" sz="1600" dirty="0">
                <a:solidFill>
                  <a:schemeClr val="accent3"/>
                </a:solidFill>
              </a:rPr>
              <a:t>golden benchmark test cases</a:t>
            </a:r>
            <a:endParaRPr lang="en-US" sz="1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434840" y="1508760"/>
          <a:ext cx="7205472" cy="914400"/>
        </p:xfrm>
        <a:graphic>
          <a:graphicData uri="http://schemas.openxmlformats.org/drawingml/2006/table">
            <a:tbl>
              <a:tblPr/>
              <a:tblGrid>
                <a:gridCol w="1920240"/>
                <a:gridCol w="4005072"/>
                <a:gridCol w="1280160"/>
              </a:tblGrid>
              <a:tr h="548640">
                <a:tc>
                  <a:txBody>
                    <a:bodyPr/>
                    <a:lstStyle/>
                    <a:p>
                      <a:pPr indent="0" marL="0">
                        <a:buNone/>
                      </a:pPr>
                      <a:r>
                        <a:rPr lang="en-US" sz="1400" b="1" dirty="0">
                          <a:solidFill>
                            <a:srgbClr val="FFFFFF"/>
                          </a:solidFill>
                        </a:rPr>
                        <a:t>Metric</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1B4D3E"/>
                    </a:solidFill>
                  </a:tcPr>
                </a:tc>
                <a:tc>
                  <a:txBody>
                    <a:bodyPr/>
                    <a:lstStyle/>
                    <a:p>
                      <a:pPr indent="0" marL="0">
                        <a:buNone/>
                      </a:pPr>
                      <a:r>
                        <a:rPr lang="en-US" sz="1400" b="1" dirty="0">
                          <a:solidFill>
                            <a:srgbClr val="FFFFFF"/>
                          </a:solidFill>
                        </a:rPr>
                        <a:t>What it verifies</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1B4D3E"/>
                    </a:solidFill>
                  </a:tcPr>
                </a:tc>
                <a:tc>
                  <a:txBody>
                    <a:bodyPr/>
                    <a:lstStyle/>
                    <a:p>
                      <a:pPr indent="0" marL="0">
                        <a:buNone/>
                      </a:pPr>
                      <a:r>
                        <a:rPr lang="en-US" sz="1400" b="1" dirty="0">
                          <a:solidFill>
                            <a:srgbClr val="FFFFFF"/>
                          </a:solidFill>
                        </a:rPr>
                        <a:t>Gate</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1B4D3E"/>
                    </a:solidFill>
                  </a:tcPr>
                </a:tc>
              </a:tr>
              <a:tr h="694944">
                <a:tc>
                  <a:txBody>
                    <a:bodyPr/>
                    <a:lstStyle/>
                    <a:p>
                      <a:pPr indent="0" marL="0">
                        <a:buNone/>
                      </a:pPr>
                      <a:r>
                        <a:rPr lang="en-US" sz="1400" b="1" dirty="0">
                          <a:solidFill>
                            <a:srgbClr val="1B4D3E"/>
                          </a:solidFill>
                        </a:rPr>
                        <a:t>Agronomic Safety</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B7E4C7"/>
                    </a:solidFill>
                  </a:tcPr>
                </a:tc>
                <a:tc>
                  <a:txBody>
                    <a:bodyPr/>
                    <a:lstStyle/>
                    <a:p>
                      <a:pPr indent="0" marL="0">
                        <a:buNone/>
                      </a:pPr>
                      <a:r>
                        <a:rPr lang="en-US" sz="1400" dirty="0">
                          <a:solidFill>
                            <a:srgbClr val="1E293B"/>
                          </a:solidFill>
                        </a:rPr>
                        <a:t>No dangerous doses, banned chemicals or unsafe mixes</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B7E4C7"/>
                    </a:solidFill>
                  </a:tcPr>
                </a:tc>
                <a:tc>
                  <a:txBody>
                    <a:bodyPr/>
                    <a:lstStyle/>
                    <a:p>
                      <a:pPr indent="0" marL="0">
                        <a:buNone/>
                      </a:pPr>
                      <a:r>
                        <a:rPr lang="en-US" sz="1400" b="1" dirty="0">
                          <a:solidFill>
                            <a:srgbClr val="1B4D3E"/>
                          </a:solidFill>
                        </a:rPr>
                        <a:t>Hard gate</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B7E4C7"/>
                    </a:solidFill>
                  </a:tcPr>
                </a:tc>
              </a:tr>
              <a:tr h="694944">
                <a:tc>
                  <a:txBody>
                    <a:bodyPr/>
                    <a:lstStyle/>
                    <a:p>
                      <a:pPr indent="0" marL="0">
                        <a:buNone/>
                      </a:pPr>
                      <a:r>
                        <a:rPr lang="en-US" sz="1400" b="1" dirty="0">
                          <a:solidFill>
                            <a:srgbClr val="1E293B"/>
                          </a:solidFill>
                        </a:rPr>
                        <a:t>Faithfulness</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rPr>
                        <a:t>Every claim is supported by retrieved ICAR/MANAGE passages</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FFFFFF"/>
                    </a:solidFill>
                  </a:tcPr>
                </a:tc>
                <a:tc>
                  <a:txBody>
                    <a:bodyPr/>
                    <a:lstStyle/>
                    <a:p>
                      <a:pPr indent="0" marL="0">
                        <a:buNone/>
                      </a:pPr>
                      <a:r>
                        <a:rPr lang="en-US" sz="1400" dirty="0">
                          <a:solidFill>
                            <a:srgbClr val="64748B"/>
                          </a:solidFill>
                        </a:rPr>
                        <a:t>Scored</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FFFFFF"/>
                    </a:solidFill>
                  </a:tcPr>
                </a:tc>
              </a:tr>
              <a:tr h="694944">
                <a:tc>
                  <a:txBody>
                    <a:bodyPr/>
                    <a:lstStyle/>
                    <a:p>
                      <a:pPr indent="0" marL="0">
                        <a:buNone/>
                      </a:pPr>
                      <a:r>
                        <a:rPr lang="en-US" sz="1400" b="1" dirty="0">
                          <a:solidFill>
                            <a:srgbClr val="1E293B"/>
                          </a:solidFill>
                        </a:rPr>
                        <a:t>Relevance</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rPr>
                        <a:t>The answer addresses the question that was asked</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FFFFFF"/>
                    </a:solidFill>
                  </a:tcPr>
                </a:tc>
                <a:tc>
                  <a:txBody>
                    <a:bodyPr/>
                    <a:lstStyle/>
                    <a:p>
                      <a:pPr indent="0" marL="0">
                        <a:buNone/>
                      </a:pPr>
                      <a:r>
                        <a:rPr lang="en-US" sz="1400" dirty="0">
                          <a:solidFill>
                            <a:srgbClr val="64748B"/>
                          </a:solidFill>
                        </a:rPr>
                        <a:t>Scored</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FFFFFF"/>
                    </a:solidFill>
                  </a:tcPr>
                </a:tc>
              </a:tr>
              <a:tr h="694944">
                <a:tc>
                  <a:txBody>
                    <a:bodyPr/>
                    <a:lstStyle/>
                    <a:p>
                      <a:pPr indent="0" marL="0">
                        <a:buNone/>
                      </a:pPr>
                      <a:r>
                        <a:rPr lang="en-US" sz="1400" b="1" dirty="0">
                          <a:solidFill>
                            <a:srgbClr val="1E293B"/>
                          </a:solidFill>
                        </a:rPr>
                        <a:t>SQL Grounding</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rPr>
                        <a:t>Quoted yields and profits match database rows</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FFFFFF"/>
                    </a:solidFill>
                  </a:tcPr>
                </a:tc>
                <a:tc>
                  <a:txBody>
                    <a:bodyPr/>
                    <a:lstStyle/>
                    <a:p>
                      <a:pPr indent="0" marL="0">
                        <a:buNone/>
                      </a:pPr>
                      <a:r>
                        <a:rPr lang="en-US" sz="1400" dirty="0">
                          <a:solidFill>
                            <a:srgbClr val="64748B"/>
                          </a:solidFill>
                        </a:rPr>
                        <a:t>Scored</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FFFFFF"/>
                    </a:solidFill>
                  </a:tcPr>
                </a:tc>
              </a:tr>
              <a:tr h="694944">
                <a:tc>
                  <a:txBody>
                    <a:bodyPr/>
                    <a:lstStyle/>
                    <a:p>
                      <a:pPr indent="0" marL="0">
                        <a:buNone/>
                      </a:pPr>
                      <a:r>
                        <a:rPr lang="en-US" sz="1400" b="1" dirty="0">
                          <a:solidFill>
                            <a:srgbClr val="1E293B"/>
                          </a:solidFill>
                        </a:rPr>
                        <a:t>Farmer Readability</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rPr>
                        <a:t>Brevity of 100–180 words for field use</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FFFFFF"/>
                    </a:solidFill>
                  </a:tcPr>
                </a:tc>
                <a:tc>
                  <a:txBody>
                    <a:bodyPr/>
                    <a:lstStyle/>
                    <a:p>
                      <a:pPr indent="0" marL="0">
                        <a:buNone/>
                      </a:pPr>
                      <a:r>
                        <a:rPr lang="en-US" sz="1400" dirty="0">
                          <a:solidFill>
                            <a:srgbClr val="64748B"/>
                          </a:solidFill>
                        </a:rPr>
                        <a:t>Scored</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FFFFFF"/>
                    </a:solidFill>
                  </a:tcPr>
                </a:tc>
              </a:tr>
              <a:tr h="694944">
                <a:tc>
                  <a:txBody>
                    <a:bodyPr/>
                    <a:lstStyle/>
                    <a:p>
                      <a:pPr indent="0" marL="0">
                        <a:buNone/>
                      </a:pPr>
                      <a:r>
                        <a:rPr lang="en-US" sz="1400" b="1" dirty="0">
                          <a:solidFill>
                            <a:srgbClr val="1E293B"/>
                          </a:solidFill>
                        </a:rPr>
                        <a:t>Context Precision</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rPr>
                        <a:t>Retrieval surfaces and ranks the right passages</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FFFFFF"/>
                    </a:solidFill>
                  </a:tcPr>
                </a:tc>
                <a:tc>
                  <a:txBody>
                    <a:bodyPr/>
                    <a:lstStyle/>
                    <a:p>
                      <a:pPr indent="0" marL="0">
                        <a:buNone/>
                      </a:pPr>
                      <a:r>
                        <a:rPr lang="en-US" sz="1400" dirty="0">
                          <a:solidFill>
                            <a:srgbClr val="64748B"/>
                          </a:solidFill>
                        </a:rPr>
                        <a:t>Scored</a:t>
                      </a:r>
                      <a:endParaRPr lang="en-US" sz="1400" dirty="0"/>
                    </a:p>
                  </a:txBody>
                  <a:tcPr marL="109728" marR="109728" marT="45720" marB="45720" anchor="ctr">
                    <a:lnL w="9525" cap="flat" cmpd="sng" algn="ctr">
                      <a:solidFill>
                        <a:srgbClr val="B7E4C7"/>
                      </a:solidFill>
                      <a:prstDash val="solid"/>
                      <a:round/>
                      <a:headEnd type="none" w="med" len="med"/>
                      <a:tailEnd type="none" w="med" len="med"/>
                    </a:lnL>
                    <a:lnR w="9525" cap="flat" cmpd="sng" algn="ctr">
                      <a:solidFill>
                        <a:srgbClr val="B7E4C7"/>
                      </a:solidFill>
                      <a:prstDash val="solid"/>
                      <a:round/>
                      <a:headEnd type="none" w="med" len="med"/>
                      <a:tailEnd type="none" w="med" len="med"/>
                    </a:lnR>
                    <a:lnT w="9525" cap="flat" cmpd="sng" algn="ctr">
                      <a:solidFill>
                        <a:srgbClr val="B7E4C7"/>
                      </a:solidFill>
                      <a:prstDash val="solid"/>
                      <a:round/>
                      <a:headEnd type="none" w="med" len="med"/>
                      <a:tailEnd type="none" w="med" len="med"/>
                    </a:lnT>
                    <a:lnB w="9525" cap="flat" cmpd="sng" algn="ctr">
                      <a:solidFill>
                        <a:srgbClr val="B7E4C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72800" y="642823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40080"/>
          </a:xfrm>
          <a:prstGeom prst="rect">
            <a:avLst/>
          </a:prstGeom>
          <a:noFill/>
          <a:ln/>
        </p:spPr>
        <p:txBody>
          <a:bodyPr wrap="square" lIns="0" tIns="0" rIns="0" bIns="0" rtlCol="0" anchor="ctr"/>
          <a:lstStyle/>
          <a:p>
            <a:pPr algn="l" indent="0" marL="0">
              <a:buNone/>
            </a:pPr>
            <a:r>
              <a:rPr lang="en-US" sz="3400" b="1" dirty="0">
                <a:solidFill>
                  <a:schemeClr val="tx2"/>
                </a:solidFill>
              </a:rPr>
              <a:t>Impact: More Yield, Lower Input Costs</a:t>
            </a:r>
            <a:endParaRPr lang="en-US" sz="3400" dirty="0"/>
          </a:p>
        </p:txBody>
      </p:sp>
      <p:sp>
        <p:nvSpPr>
          <p:cNvPr id="4" name="Text 1"/>
          <p:cNvSpPr txBox="1"/>
          <p:nvPr/>
        </p:nvSpPr>
        <p:spPr>
          <a:xfrm>
            <a:off x="548640" y="932688"/>
            <a:ext cx="11091672" cy="365760"/>
          </a:xfrm>
          <a:prstGeom prst="rect">
            <a:avLst/>
          </a:prstGeom>
          <a:noFill/>
          <a:ln/>
        </p:spPr>
        <p:txBody>
          <a:bodyPr wrap="square" lIns="0" tIns="0" rIns="0" bIns="0" rtlCol="0" anchor="t"/>
          <a:lstStyle/>
          <a:p>
            <a:pPr indent="0" marL="0">
              <a:buNone/>
            </a:pPr>
            <a:r>
              <a:rPr lang="en-US" sz="1600" i="1" dirty="0">
                <a:solidFill>
                  <a:schemeClr val="accent6"/>
                </a:solidFill>
              </a:rPr>
              <a:t>Better matching, earlier treatment and on-time operations compound across a season</a:t>
            </a:r>
            <a:endParaRPr lang="en-US" sz="1600" dirty="0"/>
          </a:p>
        </p:txBody>
      </p:sp>
      <p:sp>
        <p:nvSpPr>
          <p:cNvPr id="5" name="stat-card-1"/>
          <p:cNvSpPr/>
          <p:nvPr/>
        </p:nvSpPr>
        <p:spPr>
          <a:xfrm>
            <a:off x="548640" y="1508760"/>
            <a:ext cx="3520440" cy="2377440"/>
          </a:xfrm>
          <a:prstGeom prst="roundRect">
            <a:avLst>
              <a:gd name="adj" fmla="val 4615"/>
            </a:avLst>
          </a:prstGeom>
          <a:solidFill>
            <a:schemeClr val="tx2"/>
          </a:solidFill>
          <a:ln/>
        </p:spPr>
      </p:sp>
      <p:sp>
        <p:nvSpPr>
          <p:cNvPr id="6" name="Text 3"/>
          <p:cNvSpPr txBox="1"/>
          <p:nvPr/>
        </p:nvSpPr>
        <p:spPr>
          <a:xfrm>
            <a:off x="548640" y="1828800"/>
            <a:ext cx="3520440" cy="1097280"/>
          </a:xfrm>
          <a:prstGeom prst="rect">
            <a:avLst/>
          </a:prstGeom>
          <a:noFill/>
          <a:ln/>
        </p:spPr>
        <p:txBody>
          <a:bodyPr wrap="square" lIns="0" tIns="0" rIns="0" bIns="0" rtlCol="0" anchor="ctr"/>
          <a:lstStyle/>
          <a:p>
            <a:pPr algn="ctr" indent="0" marL="0">
              <a:buNone/>
            </a:pPr>
            <a:r>
              <a:rPr lang="en-US" sz="6600" b="1" dirty="0">
                <a:solidFill>
                  <a:schemeClr val="bg1"/>
                </a:solidFill>
              </a:rPr>
              <a:t>+22%</a:t>
            </a:r>
            <a:endParaRPr lang="en-US" sz="6600" dirty="0"/>
          </a:p>
        </p:txBody>
      </p:sp>
      <p:sp>
        <p:nvSpPr>
          <p:cNvPr id="7" name="Text 4"/>
          <p:cNvSpPr txBox="1"/>
          <p:nvPr/>
        </p:nvSpPr>
        <p:spPr>
          <a:xfrm>
            <a:off x="822960" y="3017520"/>
            <a:ext cx="2971800" cy="640080"/>
          </a:xfrm>
          <a:prstGeom prst="rect">
            <a:avLst/>
          </a:prstGeom>
          <a:noFill/>
          <a:ln/>
        </p:spPr>
        <p:txBody>
          <a:bodyPr wrap="square" lIns="0" tIns="0" rIns="0" bIns="0" rtlCol="0" anchor="t"/>
          <a:lstStyle/>
          <a:p>
            <a:pPr algn="ctr" indent="0" marL="0">
              <a:buNone/>
            </a:pPr>
            <a:r>
              <a:rPr lang="en-US" sz="1500" dirty="0">
                <a:solidFill>
                  <a:schemeClr val="accent3"/>
                </a:solidFill>
              </a:rPr>
              <a:t>average yield increase</a:t>
            </a:r>
            <a:endParaRPr lang="en-US" sz="1500" dirty="0"/>
          </a:p>
        </p:txBody>
      </p:sp>
      <p:sp>
        <p:nvSpPr>
          <p:cNvPr id="8" name="stat-card-2"/>
          <p:cNvSpPr/>
          <p:nvPr/>
        </p:nvSpPr>
        <p:spPr>
          <a:xfrm>
            <a:off x="4334256" y="1508760"/>
            <a:ext cx="3520440" cy="2377440"/>
          </a:xfrm>
          <a:prstGeom prst="roundRect">
            <a:avLst>
              <a:gd name="adj" fmla="val 4615"/>
            </a:avLst>
          </a:prstGeom>
          <a:solidFill>
            <a:schemeClr val="accent1"/>
          </a:solidFill>
          <a:ln/>
        </p:spPr>
      </p:sp>
      <p:sp>
        <p:nvSpPr>
          <p:cNvPr id="9" name="Text 6"/>
          <p:cNvSpPr txBox="1"/>
          <p:nvPr/>
        </p:nvSpPr>
        <p:spPr>
          <a:xfrm>
            <a:off x="4334256" y="1828800"/>
            <a:ext cx="3520440" cy="1097280"/>
          </a:xfrm>
          <a:prstGeom prst="rect">
            <a:avLst/>
          </a:prstGeom>
          <a:noFill/>
          <a:ln/>
        </p:spPr>
        <p:txBody>
          <a:bodyPr wrap="square" lIns="0" tIns="0" rIns="0" bIns="0" rtlCol="0" anchor="ctr"/>
          <a:lstStyle/>
          <a:p>
            <a:pPr algn="ctr" indent="0" marL="0">
              <a:buNone/>
            </a:pPr>
            <a:r>
              <a:rPr lang="en-US" sz="6600" b="1" dirty="0">
                <a:solidFill>
                  <a:schemeClr val="bg1"/>
                </a:solidFill>
              </a:rPr>
              <a:t>−35%</a:t>
            </a:r>
            <a:endParaRPr lang="en-US" sz="6600" dirty="0"/>
          </a:p>
        </p:txBody>
      </p:sp>
      <p:sp>
        <p:nvSpPr>
          <p:cNvPr id="10" name="Text 7"/>
          <p:cNvSpPr txBox="1"/>
          <p:nvPr/>
        </p:nvSpPr>
        <p:spPr>
          <a:xfrm>
            <a:off x="4608576" y="3017520"/>
            <a:ext cx="2971800" cy="640080"/>
          </a:xfrm>
          <a:prstGeom prst="rect">
            <a:avLst/>
          </a:prstGeom>
          <a:noFill/>
          <a:ln/>
        </p:spPr>
        <p:txBody>
          <a:bodyPr wrap="square" lIns="0" tIns="0" rIns="0" bIns="0" rtlCol="0" anchor="t"/>
          <a:lstStyle/>
          <a:p>
            <a:pPr algn="ctr" indent="0" marL="0">
              <a:buNone/>
            </a:pPr>
            <a:r>
              <a:rPr lang="en-US" sz="1500" dirty="0">
                <a:solidFill>
                  <a:schemeClr val="accent3"/>
                </a:solidFill>
              </a:rPr>
              <a:t>unnecessary chemical fertilizer spend</a:t>
            </a:r>
            <a:endParaRPr lang="en-US" sz="1500" dirty="0"/>
          </a:p>
        </p:txBody>
      </p:sp>
      <p:sp>
        <p:nvSpPr>
          <p:cNvPr id="11" name="stat-card-3"/>
          <p:cNvSpPr/>
          <p:nvPr/>
        </p:nvSpPr>
        <p:spPr>
          <a:xfrm>
            <a:off x="8119872" y="1508760"/>
            <a:ext cx="3520440" cy="2377440"/>
          </a:xfrm>
          <a:prstGeom prst="roundRect">
            <a:avLst>
              <a:gd name="adj" fmla="val 4615"/>
            </a:avLst>
          </a:prstGeom>
          <a:solidFill>
            <a:schemeClr val="bg1"/>
          </a:solidFill>
          <a:ln w="12700">
            <a:solidFill>
              <a:schemeClr val="accent3"/>
            </a:solidFill>
            <a:prstDash val="solid"/>
          </a:ln>
          <a:effectLst>
            <a:outerShdw sx="100000" sy="100000" kx="0" ky="0" algn="bl" rotWithShape="0" blurRad="76200" dist="25400" dir="5400000">
              <a:srgbClr val="000000">
                <a:alpha val="12000"/>
              </a:srgbClr>
            </a:outerShdw>
          </a:effectLst>
        </p:spPr>
      </p:sp>
      <p:sp>
        <p:nvSpPr>
          <p:cNvPr id="12" name="Text 9"/>
          <p:cNvSpPr txBox="1"/>
          <p:nvPr/>
        </p:nvSpPr>
        <p:spPr>
          <a:xfrm>
            <a:off x="8119872" y="1828800"/>
            <a:ext cx="3520440" cy="1097280"/>
          </a:xfrm>
          <a:prstGeom prst="rect">
            <a:avLst/>
          </a:prstGeom>
          <a:noFill/>
          <a:ln/>
        </p:spPr>
        <p:txBody>
          <a:bodyPr wrap="square" lIns="0" tIns="0" rIns="0" bIns="0" rtlCol="0" anchor="ctr"/>
          <a:lstStyle/>
          <a:p>
            <a:pPr algn="ctr" indent="0" marL="0">
              <a:buNone/>
            </a:pPr>
            <a:r>
              <a:rPr lang="en-US" sz="4400" b="1" dirty="0">
                <a:solidFill>
                  <a:schemeClr val="tx2"/>
                </a:solidFill>
              </a:rPr>
              <a:t>Resilient</a:t>
            </a:r>
            <a:endParaRPr lang="en-US" sz="4400" dirty="0"/>
          </a:p>
        </p:txBody>
      </p:sp>
      <p:sp>
        <p:nvSpPr>
          <p:cNvPr id="13" name="Text 10"/>
          <p:cNvSpPr txBox="1"/>
          <p:nvPr/>
        </p:nvSpPr>
        <p:spPr>
          <a:xfrm>
            <a:off x="8394192" y="3017520"/>
            <a:ext cx="2971800" cy="640080"/>
          </a:xfrm>
          <a:prstGeom prst="rect">
            <a:avLst/>
          </a:prstGeom>
          <a:noFill/>
          <a:ln/>
        </p:spPr>
        <p:txBody>
          <a:bodyPr wrap="square" lIns="0" tIns="0" rIns="0" bIns="0" rtlCol="0" anchor="t"/>
          <a:lstStyle/>
          <a:p>
            <a:pPr algn="ctr" indent="0" marL="0">
              <a:buNone/>
            </a:pPr>
            <a:r>
              <a:rPr lang="en-US" sz="1500" dirty="0">
                <a:solidFill>
                  <a:schemeClr val="accent6"/>
                </a:solidFill>
              </a:rPr>
              <a:t>climate adaptation through What-If planning</a:t>
            </a:r>
            <a:endParaRPr lang="en-US" sz="1500" dirty="0"/>
          </a:p>
        </p:txBody>
      </p:sp>
      <p:sp>
        <p:nvSpPr>
          <p:cNvPr id="14" name="Text 11"/>
          <p:cNvSpPr txBox="1"/>
          <p:nvPr/>
        </p:nvSpPr>
        <p:spPr>
          <a:xfrm>
            <a:off x="548640" y="4114800"/>
            <a:ext cx="5486400" cy="365760"/>
          </a:xfrm>
          <a:prstGeom prst="rect">
            <a:avLst/>
          </a:prstGeom>
          <a:noFill/>
          <a:ln/>
        </p:spPr>
        <p:txBody>
          <a:bodyPr wrap="square" lIns="0" tIns="0" rIns="0" bIns="0" rtlCol="0" anchor="t"/>
          <a:lstStyle/>
          <a:p>
            <a:pPr indent="0" marL="0">
              <a:buNone/>
            </a:pPr>
            <a:r>
              <a:rPr lang="en-US" sz="2000" b="1" dirty="0">
                <a:solidFill>
                  <a:schemeClr val="tx2"/>
                </a:solidFill>
              </a:rPr>
              <a:t>Beyond the farm gate</a:t>
            </a:r>
            <a:endParaRPr lang="en-US" sz="2000" dirty="0"/>
          </a:p>
        </p:txBody>
      </p:sp>
      <p:sp>
        <p:nvSpPr>
          <p:cNvPr id="15" name="icon-bg-FaWater"/>
          <p:cNvSpPr/>
          <p:nvPr/>
        </p:nvSpPr>
        <p:spPr>
          <a:xfrm>
            <a:off x="548640" y="4617720"/>
            <a:ext cx="548640" cy="548640"/>
          </a:xfrm>
          <a:prstGeom prst="ellipse">
            <a:avLst/>
          </a:prstGeom>
          <a:solidFill>
            <a:schemeClr val="accent1"/>
          </a:solidFill>
          <a:ln/>
        </p:spPr>
      </p:sp>
      <p:pic>
        <p:nvPicPr>
          <p:cNvPr id="16" name="Image 0" descr="Water icon">    </p:cNvPr>
          <p:cNvPicPr>
            <a:picLocks noChangeAspect="1"/>
          </p:cNvPicPr>
          <p:nvPr/>
        </p:nvPicPr>
        <p:blipFill>
          <a:blip r:embed="rId1"/>
          <a:stretch>
            <a:fillRect/>
          </a:stretch>
        </p:blipFill>
        <p:spPr>
          <a:xfrm>
            <a:off x="685800" y="4754880"/>
            <a:ext cx="274320" cy="274320"/>
          </a:xfrm>
          <a:prstGeom prst="rect">
            <a:avLst/>
          </a:prstGeom>
        </p:spPr>
      </p:pic>
      <p:sp>
        <p:nvSpPr>
          <p:cNvPr id="17" name="Text 13"/>
          <p:cNvSpPr txBox="1"/>
          <p:nvPr/>
        </p:nvSpPr>
        <p:spPr>
          <a:xfrm>
            <a:off x="1234440" y="4617720"/>
            <a:ext cx="1920240" cy="274320"/>
          </a:xfrm>
          <a:prstGeom prst="rect">
            <a:avLst/>
          </a:prstGeom>
          <a:noFill/>
          <a:ln/>
        </p:spPr>
        <p:txBody>
          <a:bodyPr wrap="square" lIns="0" tIns="0" rIns="0" bIns="0" rtlCol="0" anchor="t"/>
          <a:lstStyle/>
          <a:p>
            <a:pPr indent="0" marL="0">
              <a:buNone/>
            </a:pPr>
            <a:r>
              <a:rPr lang="en-US" sz="1500" b="1" dirty="0">
                <a:solidFill>
                  <a:schemeClr val="tx2"/>
                </a:solidFill>
              </a:rPr>
              <a:t>Cleaner rivers</a:t>
            </a:r>
            <a:endParaRPr lang="en-US" sz="1500" dirty="0"/>
          </a:p>
        </p:txBody>
      </p:sp>
      <p:sp>
        <p:nvSpPr>
          <p:cNvPr id="18" name="Text 14"/>
          <p:cNvSpPr txBox="1"/>
          <p:nvPr/>
        </p:nvSpPr>
        <p:spPr>
          <a:xfrm>
            <a:off x="1234440" y="4919472"/>
            <a:ext cx="1920240" cy="822960"/>
          </a:xfrm>
          <a:prstGeom prst="rect">
            <a:avLst/>
          </a:prstGeom>
          <a:noFill/>
          <a:ln/>
        </p:spPr>
        <p:txBody>
          <a:bodyPr wrap="square" lIns="0" tIns="0" rIns="0" bIns="0" rtlCol="0" anchor="t"/>
          <a:lstStyle/>
          <a:p>
            <a:pPr indent="0" marL="0">
              <a:buNone/>
            </a:pPr>
            <a:r>
              <a:rPr lang="en-US" sz="1300" dirty="0">
                <a:solidFill>
                  <a:schemeClr val="tx1"/>
                </a:solidFill>
              </a:rPr>
              <a:t>Less nitrogen runoff</a:t>
            </a:r>
            <a:endParaRPr lang="en-US" sz="1300" dirty="0"/>
          </a:p>
        </p:txBody>
      </p:sp>
      <p:sp>
        <p:nvSpPr>
          <p:cNvPr id="19" name="icon-bg-FaLeaf"/>
          <p:cNvSpPr/>
          <p:nvPr/>
        </p:nvSpPr>
        <p:spPr>
          <a:xfrm>
            <a:off x="3346704" y="4617720"/>
            <a:ext cx="548640" cy="548640"/>
          </a:xfrm>
          <a:prstGeom prst="ellipse">
            <a:avLst/>
          </a:prstGeom>
          <a:solidFill>
            <a:schemeClr val="accent1"/>
          </a:solidFill>
          <a:ln/>
        </p:spPr>
      </p:sp>
      <p:pic>
        <p:nvPicPr>
          <p:cNvPr id="20" name="Image 1" descr="Leaf icon">    </p:cNvPr>
          <p:cNvPicPr>
            <a:picLocks noChangeAspect="1"/>
          </p:cNvPicPr>
          <p:nvPr/>
        </p:nvPicPr>
        <p:blipFill>
          <a:blip r:embed="rId2"/>
          <a:stretch>
            <a:fillRect/>
          </a:stretch>
        </p:blipFill>
        <p:spPr>
          <a:xfrm>
            <a:off x="3483864" y="4754880"/>
            <a:ext cx="274320" cy="274320"/>
          </a:xfrm>
          <a:prstGeom prst="rect">
            <a:avLst/>
          </a:prstGeom>
        </p:spPr>
      </p:pic>
      <p:sp>
        <p:nvSpPr>
          <p:cNvPr id="21" name="Text 16"/>
          <p:cNvSpPr txBox="1"/>
          <p:nvPr/>
        </p:nvSpPr>
        <p:spPr>
          <a:xfrm>
            <a:off x="4032504" y="4617720"/>
            <a:ext cx="1920240" cy="274320"/>
          </a:xfrm>
          <a:prstGeom prst="rect">
            <a:avLst/>
          </a:prstGeom>
          <a:noFill/>
          <a:ln/>
        </p:spPr>
        <p:txBody>
          <a:bodyPr wrap="square" lIns="0" tIns="0" rIns="0" bIns="0" rtlCol="0" anchor="t"/>
          <a:lstStyle/>
          <a:p>
            <a:pPr indent="0" marL="0">
              <a:buNone/>
            </a:pPr>
            <a:r>
              <a:rPr lang="en-US" sz="1500" b="1" dirty="0">
                <a:solidFill>
                  <a:schemeClr val="tx2"/>
                </a:solidFill>
              </a:rPr>
              <a:t>Healthier soil</a:t>
            </a:r>
            <a:endParaRPr lang="en-US" sz="1500" dirty="0"/>
          </a:p>
        </p:txBody>
      </p:sp>
      <p:sp>
        <p:nvSpPr>
          <p:cNvPr id="22" name="Text 17"/>
          <p:cNvSpPr txBox="1"/>
          <p:nvPr/>
        </p:nvSpPr>
        <p:spPr>
          <a:xfrm>
            <a:off x="4032504" y="4919472"/>
            <a:ext cx="1920240" cy="822960"/>
          </a:xfrm>
          <a:prstGeom prst="rect">
            <a:avLst/>
          </a:prstGeom>
          <a:noFill/>
          <a:ln/>
        </p:spPr>
        <p:txBody>
          <a:bodyPr wrap="square" lIns="0" tIns="0" rIns="0" bIns="0" rtlCol="0" anchor="t"/>
          <a:lstStyle/>
          <a:p>
            <a:pPr indent="0" marL="0">
              <a:buNone/>
            </a:pPr>
            <a:r>
              <a:rPr lang="en-US" sz="1300" dirty="0">
                <a:solidFill>
                  <a:schemeClr val="tx1"/>
                </a:solidFill>
              </a:rPr>
              <a:t>Less acidification, lower Blast pressure</a:t>
            </a:r>
            <a:endParaRPr lang="en-US" sz="1300" dirty="0"/>
          </a:p>
        </p:txBody>
      </p:sp>
      <p:sp>
        <p:nvSpPr>
          <p:cNvPr id="23" name="icon-bg-FaCoins"/>
          <p:cNvSpPr/>
          <p:nvPr/>
        </p:nvSpPr>
        <p:spPr>
          <a:xfrm>
            <a:off x="6144768" y="4617720"/>
            <a:ext cx="548640" cy="548640"/>
          </a:xfrm>
          <a:prstGeom prst="ellipse">
            <a:avLst/>
          </a:prstGeom>
          <a:solidFill>
            <a:schemeClr val="accent1"/>
          </a:solidFill>
          <a:ln/>
        </p:spPr>
      </p:sp>
      <p:pic>
        <p:nvPicPr>
          <p:cNvPr id="24" name="Image 2" descr="Coins icon">    </p:cNvPr>
          <p:cNvPicPr>
            <a:picLocks noChangeAspect="1"/>
          </p:cNvPicPr>
          <p:nvPr/>
        </p:nvPicPr>
        <p:blipFill>
          <a:blip r:embed="rId3"/>
          <a:stretch>
            <a:fillRect/>
          </a:stretch>
        </p:blipFill>
        <p:spPr>
          <a:xfrm>
            <a:off x="6281928" y="4754880"/>
            <a:ext cx="274320" cy="274320"/>
          </a:xfrm>
          <a:prstGeom prst="rect">
            <a:avLst/>
          </a:prstGeom>
        </p:spPr>
      </p:pic>
      <p:sp>
        <p:nvSpPr>
          <p:cNvPr id="25" name="Text 19"/>
          <p:cNvSpPr txBox="1"/>
          <p:nvPr/>
        </p:nvSpPr>
        <p:spPr>
          <a:xfrm>
            <a:off x="6830568" y="4617720"/>
            <a:ext cx="1920240" cy="274320"/>
          </a:xfrm>
          <a:prstGeom prst="rect">
            <a:avLst/>
          </a:prstGeom>
          <a:noFill/>
          <a:ln/>
        </p:spPr>
        <p:txBody>
          <a:bodyPr wrap="square" lIns="0" tIns="0" rIns="0" bIns="0" rtlCol="0" anchor="t"/>
          <a:lstStyle/>
          <a:p>
            <a:pPr indent="0" marL="0">
              <a:buNone/>
            </a:pPr>
            <a:r>
              <a:rPr lang="en-US" sz="1500" b="1" dirty="0">
                <a:solidFill>
                  <a:schemeClr val="tx2"/>
                </a:solidFill>
              </a:rPr>
              <a:t>Credit access</a:t>
            </a:r>
            <a:endParaRPr lang="en-US" sz="1500" dirty="0"/>
          </a:p>
        </p:txBody>
      </p:sp>
      <p:sp>
        <p:nvSpPr>
          <p:cNvPr id="26" name="Text 20"/>
          <p:cNvSpPr txBox="1"/>
          <p:nvPr/>
        </p:nvSpPr>
        <p:spPr>
          <a:xfrm>
            <a:off x="6830568" y="4919472"/>
            <a:ext cx="1920240" cy="822960"/>
          </a:xfrm>
          <a:prstGeom prst="rect">
            <a:avLst/>
          </a:prstGeom>
          <a:noFill/>
          <a:ln/>
        </p:spPr>
        <p:txBody>
          <a:bodyPr wrap="square" lIns="0" tIns="0" rIns="0" bIns="0" rtlCol="0" anchor="t"/>
          <a:lstStyle/>
          <a:p>
            <a:pPr indent="0" marL="0">
              <a:buNone/>
            </a:pPr>
            <a:r>
              <a:rPr lang="en-US" sz="1300" dirty="0">
                <a:solidFill>
                  <a:schemeClr val="tx1"/>
                </a:solidFill>
              </a:rPr>
              <a:t>Records and dossier support Kisan credit</a:t>
            </a:r>
            <a:endParaRPr lang="en-US" sz="1300" dirty="0"/>
          </a:p>
        </p:txBody>
      </p:sp>
      <p:sp>
        <p:nvSpPr>
          <p:cNvPr id="27" name="icon-bg-FaUsers"/>
          <p:cNvSpPr/>
          <p:nvPr/>
        </p:nvSpPr>
        <p:spPr>
          <a:xfrm>
            <a:off x="8942832" y="4617720"/>
            <a:ext cx="548640" cy="548640"/>
          </a:xfrm>
          <a:prstGeom prst="ellipse">
            <a:avLst/>
          </a:prstGeom>
          <a:solidFill>
            <a:schemeClr val="accent1"/>
          </a:solidFill>
          <a:ln/>
        </p:spPr>
      </p:sp>
      <p:pic>
        <p:nvPicPr>
          <p:cNvPr id="28" name="Image 3" descr="Users icon">    </p:cNvPr>
          <p:cNvPicPr>
            <a:picLocks noChangeAspect="1"/>
          </p:cNvPicPr>
          <p:nvPr/>
        </p:nvPicPr>
        <p:blipFill>
          <a:blip r:embed="rId4"/>
          <a:stretch>
            <a:fillRect/>
          </a:stretch>
        </p:blipFill>
        <p:spPr>
          <a:xfrm>
            <a:off x="9079992" y="4754880"/>
            <a:ext cx="274320" cy="274320"/>
          </a:xfrm>
          <a:prstGeom prst="rect">
            <a:avLst/>
          </a:prstGeom>
        </p:spPr>
      </p:pic>
      <p:sp>
        <p:nvSpPr>
          <p:cNvPr id="29" name="Text 22"/>
          <p:cNvSpPr txBox="1"/>
          <p:nvPr/>
        </p:nvSpPr>
        <p:spPr>
          <a:xfrm>
            <a:off x="9628632" y="4617720"/>
            <a:ext cx="1920240" cy="274320"/>
          </a:xfrm>
          <a:prstGeom prst="rect">
            <a:avLst/>
          </a:prstGeom>
          <a:noFill/>
          <a:ln/>
        </p:spPr>
        <p:txBody>
          <a:bodyPr wrap="square" lIns="0" tIns="0" rIns="0" bIns="0" rtlCol="0" anchor="t"/>
          <a:lstStyle/>
          <a:p>
            <a:pPr indent="0" marL="0">
              <a:buNone/>
            </a:pPr>
            <a:r>
              <a:rPr lang="en-US" sz="1500" b="1" dirty="0">
                <a:solidFill>
                  <a:schemeClr val="tx2"/>
                </a:solidFill>
              </a:rPr>
              <a:t>Extension reach</a:t>
            </a:r>
            <a:endParaRPr lang="en-US" sz="1500" dirty="0"/>
          </a:p>
        </p:txBody>
      </p:sp>
      <p:sp>
        <p:nvSpPr>
          <p:cNvPr id="30" name="Text 23"/>
          <p:cNvSpPr txBox="1"/>
          <p:nvPr/>
        </p:nvSpPr>
        <p:spPr>
          <a:xfrm>
            <a:off x="9628632" y="4919472"/>
            <a:ext cx="1920240" cy="822960"/>
          </a:xfrm>
          <a:prstGeom prst="rect">
            <a:avLst/>
          </a:prstGeom>
          <a:noFill/>
          <a:ln/>
        </p:spPr>
        <p:txBody>
          <a:bodyPr wrap="square" lIns="0" tIns="0" rIns="0" bIns="0" rtlCol="0" anchor="t"/>
          <a:lstStyle/>
          <a:p>
            <a:pPr indent="0" marL="0">
              <a:buNone/>
            </a:pPr>
            <a:r>
              <a:rPr lang="en-US" sz="1300" dirty="0">
                <a:solidFill>
                  <a:schemeClr val="tx1"/>
                </a:solidFill>
              </a:rPr>
              <a:t>Officers cover more villages</a:t>
            </a:r>
            <a:endParaRPr lang="en-US" sz="1300" dirty="0"/>
          </a:p>
        </p:txBody>
      </p:sp>
      <p:sp>
        <p:nvSpPr>
          <p:cNvPr id="31" name="Text 24"/>
          <p:cNvSpPr txBox="1"/>
          <p:nvPr/>
        </p:nvSpPr>
        <p:spPr>
          <a:xfrm>
            <a:off x="548640" y="5989320"/>
            <a:ext cx="11091672" cy="274320"/>
          </a:xfrm>
          <a:prstGeom prst="rect">
            <a:avLst/>
          </a:prstGeom>
          <a:noFill/>
          <a:ln/>
        </p:spPr>
        <p:txBody>
          <a:bodyPr wrap="square" lIns="0" tIns="0" rIns="0" bIns="0" rtlCol="0" anchor="t"/>
          <a:lstStyle/>
          <a:p>
            <a:pPr indent="0" marL="0">
              <a:buNone/>
            </a:pPr>
            <a:r>
              <a:rPr lang="en-US" sz="1200" i="1" dirty="0">
                <a:solidFill>
                  <a:schemeClr val="accent6"/>
                </a:solidFill>
              </a:rPr>
              <a:t>Impact figures are pilot and projection targets, to be validated through field trials.</a:t>
            </a:r>
            <a:endParaRPr lang="en-US" sz="1200" dirty="0"/>
          </a:p>
        </p:txBody>
      </p:sp>
      <p:sp>
        <p:nvSpPr>
          <p:cNvPr id="25" name="Slide Number Placeholder 0"/>
          <p:cNvSpPr>
            <a:spLocks noGrp="1"/>
          </p:cNvSpPr>
          <p:nvPr>
            <p:ph type="sldNum" sz="quarter" idx="4294967295"/>
          </p:nvPr>
        </p:nvSpPr>
        <p:spPr>
          <a:xfrm>
            <a:off x="10972800" y="642823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40080"/>
          </a:xfrm>
          <a:prstGeom prst="rect">
            <a:avLst/>
          </a:prstGeom>
          <a:noFill/>
          <a:ln/>
        </p:spPr>
        <p:txBody>
          <a:bodyPr wrap="square" lIns="0" tIns="0" rIns="0" bIns="0" rtlCol="0" anchor="ctr"/>
          <a:lstStyle/>
          <a:p>
            <a:pPr algn="l" indent="0" marL="0">
              <a:buNone/>
            </a:pPr>
            <a:r>
              <a:rPr lang="en-US" sz="3400" b="1" dirty="0">
                <a:solidFill>
                  <a:schemeClr val="bg1"/>
                </a:solidFill>
              </a:rPr>
              <a:t>From District Pilot to Nationwide Rollout</a:t>
            </a:r>
            <a:endParaRPr lang="en-US" sz="3400" dirty="0"/>
          </a:p>
        </p:txBody>
      </p:sp>
      <p:sp>
        <p:nvSpPr>
          <p:cNvPr id="4" name="Shape 1"/>
          <p:cNvSpPr/>
          <p:nvPr/>
        </p:nvSpPr>
        <p:spPr>
          <a:xfrm>
            <a:off x="2308860" y="1508760"/>
            <a:ext cx="7571232" cy="0"/>
          </a:xfrm>
          <a:prstGeom prst="line">
            <a:avLst/>
          </a:prstGeom>
          <a:noFill/>
          <a:ln w="31750">
            <a:solidFill>
              <a:srgbClr val="52B788"/>
            </a:solidFill>
            <a:prstDash val="solid"/>
          </a:ln>
        </p:spPr>
      </p:sp>
      <p:sp>
        <p:nvSpPr>
          <p:cNvPr id="5" name="Text 2"/>
          <p:cNvSpPr txBox="1"/>
          <p:nvPr/>
        </p:nvSpPr>
        <p:spPr>
          <a:xfrm>
            <a:off x="2034540" y="1234440"/>
            <a:ext cx="548640" cy="548640"/>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tx2"/>
                </a:solidFill>
              </a:rPr>
              <a:t>1</a:t>
            </a:r>
            <a:endParaRPr lang="en-US" sz="2000" dirty="0"/>
          </a:p>
        </p:txBody>
      </p:sp>
      <p:sp>
        <p:nvSpPr>
          <p:cNvPr id="6" name="phase-card-1"/>
          <p:cNvSpPr/>
          <p:nvPr/>
        </p:nvSpPr>
        <p:spPr>
          <a:xfrm>
            <a:off x="548640" y="2011680"/>
            <a:ext cx="3520440" cy="2103120"/>
          </a:xfrm>
          <a:prstGeom prst="roundRect">
            <a:avLst>
              <a:gd name="adj" fmla="val 5217"/>
            </a:avLst>
          </a:prstGeom>
          <a:solidFill>
            <a:schemeClr val="bg1">
              <a:alpha val="10000"/>
            </a:schemeClr>
          </a:solidFill>
          <a:ln w="12700">
            <a:solidFill>
              <a:schemeClr val="accent2"/>
            </a:solidFill>
            <a:prstDash val="solid"/>
          </a:ln>
        </p:spPr>
      </p:sp>
      <p:sp>
        <p:nvSpPr>
          <p:cNvPr id="7" name="Text 4"/>
          <p:cNvSpPr txBox="1"/>
          <p:nvPr/>
        </p:nvSpPr>
        <p:spPr>
          <a:xfrm>
            <a:off x="822960" y="2194560"/>
            <a:ext cx="3017520" cy="365760"/>
          </a:xfrm>
          <a:prstGeom prst="rect">
            <a:avLst/>
          </a:prstGeom>
          <a:noFill/>
          <a:ln/>
        </p:spPr>
        <p:txBody>
          <a:bodyPr wrap="square" lIns="0" tIns="0" rIns="0" bIns="0" rtlCol="0" anchor="t"/>
          <a:lstStyle/>
          <a:p>
            <a:pPr indent="0" marL="0">
              <a:buNone/>
            </a:pPr>
            <a:r>
              <a:rPr lang="en-US" sz="1800" b="1" dirty="0">
                <a:solidFill>
                  <a:schemeClr val="accent2"/>
                </a:solidFill>
              </a:rPr>
              <a:t>Phase 1 · Pilot &amp; validate</a:t>
            </a:r>
            <a:endParaRPr lang="en-US" sz="1800" dirty="0"/>
          </a:p>
        </p:txBody>
      </p:sp>
      <p:sp>
        <p:nvSpPr>
          <p:cNvPr id="8" name="Text 5"/>
          <p:cNvSpPr txBox="1"/>
          <p:nvPr/>
        </p:nvSpPr>
        <p:spPr>
          <a:xfrm>
            <a:off x="822960" y="2697480"/>
            <a:ext cx="3017520" cy="1280160"/>
          </a:xfrm>
          <a:prstGeom prst="rect">
            <a:avLst/>
          </a:prstGeom>
          <a:noFill/>
          <a:ln/>
        </p:spPr>
        <p:txBody>
          <a:bodyPr wrap="square" lIns="0" tIns="0" rIns="0" bIns="0" rtlCol="0" anchor="t"/>
          <a:lstStyle/>
          <a:p>
            <a:pPr indent="0" marL="0">
              <a:buNone/>
            </a:pPr>
            <a:r>
              <a:rPr lang="en-US" sz="1500" dirty="0">
                <a:solidFill>
                  <a:schemeClr val="bg1"/>
                </a:solidFill>
              </a:rPr>
              <a:t>District pilots with extension officers. Measure yield, input savings and adoption.</a:t>
            </a:r>
            <a:endParaRPr lang="en-US" sz="1500" dirty="0"/>
          </a:p>
        </p:txBody>
      </p:sp>
      <p:sp>
        <p:nvSpPr>
          <p:cNvPr id="9" name="Text 6"/>
          <p:cNvSpPr txBox="1"/>
          <p:nvPr/>
        </p:nvSpPr>
        <p:spPr>
          <a:xfrm>
            <a:off x="5820156" y="1234440"/>
            <a:ext cx="548640" cy="548640"/>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tx2"/>
                </a:solidFill>
              </a:rPr>
              <a:t>2</a:t>
            </a:r>
            <a:endParaRPr lang="en-US" sz="2000" dirty="0"/>
          </a:p>
        </p:txBody>
      </p:sp>
      <p:sp>
        <p:nvSpPr>
          <p:cNvPr id="10" name="phase-card-2"/>
          <p:cNvSpPr/>
          <p:nvPr/>
        </p:nvSpPr>
        <p:spPr>
          <a:xfrm>
            <a:off x="4334256" y="2011680"/>
            <a:ext cx="3520440" cy="2103120"/>
          </a:xfrm>
          <a:prstGeom prst="roundRect">
            <a:avLst>
              <a:gd name="adj" fmla="val 5217"/>
            </a:avLst>
          </a:prstGeom>
          <a:solidFill>
            <a:schemeClr val="bg1">
              <a:alpha val="10000"/>
            </a:schemeClr>
          </a:solidFill>
          <a:ln w="12700">
            <a:solidFill>
              <a:schemeClr val="accent2"/>
            </a:solidFill>
            <a:prstDash val="solid"/>
          </a:ln>
        </p:spPr>
      </p:sp>
      <p:sp>
        <p:nvSpPr>
          <p:cNvPr id="11" name="Text 8"/>
          <p:cNvSpPr txBox="1"/>
          <p:nvPr/>
        </p:nvSpPr>
        <p:spPr>
          <a:xfrm>
            <a:off x="4608576" y="2194560"/>
            <a:ext cx="3017520" cy="365760"/>
          </a:xfrm>
          <a:prstGeom prst="rect">
            <a:avLst/>
          </a:prstGeom>
          <a:noFill/>
          <a:ln/>
        </p:spPr>
        <p:txBody>
          <a:bodyPr wrap="square" lIns="0" tIns="0" rIns="0" bIns="0" rtlCol="0" anchor="t"/>
          <a:lstStyle/>
          <a:p>
            <a:pPr indent="0" marL="0">
              <a:buNone/>
            </a:pPr>
            <a:r>
              <a:rPr lang="en-US" sz="1800" b="1" dirty="0">
                <a:solidFill>
                  <a:schemeClr val="accent2"/>
                </a:solidFill>
              </a:rPr>
              <a:t>Phase 2 · Scale &amp; integrate</a:t>
            </a:r>
            <a:endParaRPr lang="en-US" sz="1800" dirty="0"/>
          </a:p>
        </p:txBody>
      </p:sp>
      <p:sp>
        <p:nvSpPr>
          <p:cNvPr id="12" name="Text 9"/>
          <p:cNvSpPr txBox="1"/>
          <p:nvPr/>
        </p:nvSpPr>
        <p:spPr>
          <a:xfrm>
            <a:off x="4608576" y="2697480"/>
            <a:ext cx="3017520" cy="1280160"/>
          </a:xfrm>
          <a:prstGeom prst="rect">
            <a:avLst/>
          </a:prstGeom>
          <a:noFill/>
          <a:ln/>
        </p:spPr>
        <p:txBody>
          <a:bodyPr wrap="square" lIns="0" tIns="0" rIns="0" bIns="0" rtlCol="0" anchor="t"/>
          <a:lstStyle/>
          <a:p>
            <a:pPr indent="0" marL="0">
              <a:buNone/>
            </a:pPr>
            <a:r>
              <a:rPr lang="en-US" sz="1500" dirty="0">
                <a:solidFill>
                  <a:schemeClr val="bg1"/>
                </a:solidFill>
              </a:rPr>
              <a:t>IoT soil-sensor telemetry replaces manual entry. Multi-lingual, voice-first interface.</a:t>
            </a:r>
            <a:endParaRPr lang="en-US" sz="1500" dirty="0"/>
          </a:p>
        </p:txBody>
      </p:sp>
      <p:sp>
        <p:nvSpPr>
          <p:cNvPr id="13" name="Text 10"/>
          <p:cNvSpPr txBox="1"/>
          <p:nvPr/>
        </p:nvSpPr>
        <p:spPr>
          <a:xfrm>
            <a:off x="9605772" y="1234440"/>
            <a:ext cx="548640" cy="548640"/>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tx2"/>
                </a:solidFill>
              </a:rPr>
              <a:t>3</a:t>
            </a:r>
            <a:endParaRPr lang="en-US" sz="2000" dirty="0"/>
          </a:p>
        </p:txBody>
      </p:sp>
      <p:sp>
        <p:nvSpPr>
          <p:cNvPr id="14" name="phase-card-3"/>
          <p:cNvSpPr/>
          <p:nvPr/>
        </p:nvSpPr>
        <p:spPr>
          <a:xfrm>
            <a:off x="8119872" y="2011680"/>
            <a:ext cx="3520440" cy="2103120"/>
          </a:xfrm>
          <a:prstGeom prst="roundRect">
            <a:avLst>
              <a:gd name="adj" fmla="val 5217"/>
            </a:avLst>
          </a:prstGeom>
          <a:solidFill>
            <a:schemeClr val="bg1">
              <a:alpha val="10000"/>
            </a:schemeClr>
          </a:solidFill>
          <a:ln w="12700">
            <a:solidFill>
              <a:schemeClr val="accent2"/>
            </a:solidFill>
            <a:prstDash val="solid"/>
          </a:ln>
        </p:spPr>
      </p:sp>
      <p:sp>
        <p:nvSpPr>
          <p:cNvPr id="15" name="Text 12"/>
          <p:cNvSpPr txBox="1"/>
          <p:nvPr/>
        </p:nvSpPr>
        <p:spPr>
          <a:xfrm>
            <a:off x="8394192" y="2194560"/>
            <a:ext cx="3017520" cy="365760"/>
          </a:xfrm>
          <a:prstGeom prst="rect">
            <a:avLst/>
          </a:prstGeom>
          <a:noFill/>
          <a:ln/>
        </p:spPr>
        <p:txBody>
          <a:bodyPr wrap="square" lIns="0" tIns="0" rIns="0" bIns="0" rtlCol="0" anchor="t"/>
          <a:lstStyle/>
          <a:p>
            <a:pPr indent="0" marL="0">
              <a:buNone/>
            </a:pPr>
            <a:r>
              <a:rPr lang="en-US" sz="1800" b="1" dirty="0">
                <a:solidFill>
                  <a:schemeClr val="accent2"/>
                </a:solidFill>
              </a:rPr>
              <a:t>Phase 3 · Nationwide &amp; edge</a:t>
            </a:r>
            <a:endParaRPr lang="en-US" sz="1800" dirty="0"/>
          </a:p>
        </p:txBody>
      </p:sp>
      <p:sp>
        <p:nvSpPr>
          <p:cNvPr id="16" name="Text 13"/>
          <p:cNvSpPr txBox="1"/>
          <p:nvPr/>
        </p:nvSpPr>
        <p:spPr>
          <a:xfrm>
            <a:off x="8394192" y="2697480"/>
            <a:ext cx="3017520" cy="1280160"/>
          </a:xfrm>
          <a:prstGeom prst="rect">
            <a:avLst/>
          </a:prstGeom>
          <a:noFill/>
          <a:ln/>
        </p:spPr>
        <p:txBody>
          <a:bodyPr wrap="square" lIns="0" tIns="0" rIns="0" bIns="0" rtlCol="0" anchor="t"/>
          <a:lstStyle/>
          <a:p>
            <a:pPr indent="0" marL="0">
              <a:buNone/>
            </a:pPr>
            <a:r>
              <a:rPr lang="en-US" sz="1500" dirty="0">
                <a:solidFill>
                  <a:schemeClr val="bg1"/>
                </a:solidFill>
              </a:rPr>
              <a:t>Nationwide rollout with offline edge deployment across agro-climatic zones.</a:t>
            </a:r>
            <a:endParaRPr lang="en-US" sz="1500" dirty="0"/>
          </a:p>
        </p:txBody>
      </p:sp>
      <p:sp>
        <p:nvSpPr>
          <p:cNvPr id="17" name="Text 14"/>
          <p:cNvSpPr txBox="1"/>
          <p:nvPr/>
        </p:nvSpPr>
        <p:spPr>
          <a:xfrm>
            <a:off x="548640" y="4389120"/>
            <a:ext cx="5486400" cy="365760"/>
          </a:xfrm>
          <a:prstGeom prst="rect">
            <a:avLst/>
          </a:prstGeom>
          <a:noFill/>
          <a:ln/>
        </p:spPr>
        <p:txBody>
          <a:bodyPr wrap="square" lIns="0" tIns="0" rIns="0" bIns="0" rtlCol="0" anchor="t"/>
          <a:lstStyle/>
          <a:p>
            <a:pPr indent="0" marL="0">
              <a:buNone/>
            </a:pPr>
            <a:r>
              <a:rPr lang="en-US" sz="2000" b="1" dirty="0">
                <a:solidFill>
                  <a:schemeClr val="bg1"/>
                </a:solidFill>
              </a:rPr>
              <a:t>Where we need you</a:t>
            </a:r>
            <a:endParaRPr lang="en-US" sz="2000" dirty="0"/>
          </a:p>
        </p:txBody>
      </p:sp>
      <p:sp>
        <p:nvSpPr>
          <p:cNvPr id="18" name="ask-card-1"/>
          <p:cNvSpPr/>
          <p:nvPr/>
        </p:nvSpPr>
        <p:spPr>
          <a:xfrm>
            <a:off x="548640" y="4846320"/>
            <a:ext cx="3520440" cy="1280160"/>
          </a:xfrm>
          <a:prstGeom prst="roundRect">
            <a:avLst>
              <a:gd name="adj" fmla="val 8571"/>
            </a:avLst>
          </a:prstGeom>
          <a:solidFill>
            <a:schemeClr val="accent2"/>
          </a:solidFill>
          <a:ln/>
        </p:spPr>
      </p:sp>
      <p:sp>
        <p:nvSpPr>
          <p:cNvPr id="19" name="Text 16"/>
          <p:cNvSpPr txBox="1"/>
          <p:nvPr/>
        </p:nvSpPr>
        <p:spPr>
          <a:xfrm>
            <a:off x="822960" y="4846320"/>
            <a:ext cx="3017520" cy="1280160"/>
          </a:xfrm>
          <a:prstGeom prst="rect">
            <a:avLst/>
          </a:prstGeom>
          <a:noFill/>
          <a:ln/>
        </p:spPr>
        <p:txBody>
          <a:bodyPr wrap="square" lIns="0" tIns="0" rIns="0" bIns="0" rtlCol="0" anchor="ctr"/>
          <a:lstStyle/>
          <a:p>
            <a:pPr indent="0" marL="0">
              <a:buNone/>
            </a:pPr>
            <a:r>
              <a:rPr lang="en-US" sz="2000" b="1" dirty="0">
                <a:solidFill>
                  <a:schemeClr val="tx1"/>
                </a:solidFill>
              </a:rPr>
              <a:t>Government</a:t>
            </a:r>
            <a:endParaRPr lang="en-US" sz="1400" dirty="0"/>
          </a:p>
          <a:p>
            <a:pPr indent="0" marL="0">
              <a:buNone/>
            </a:pPr>
            <a:r>
              <a:rPr lang="en-US" sz="1500" dirty="0">
                <a:solidFill>
                  <a:schemeClr val="tx1"/>
                </a:solidFill>
              </a:rPr>
              <a:t>Partner on district pilots</a:t>
            </a:r>
            <a:endParaRPr lang="en-US" sz="1400" dirty="0"/>
          </a:p>
        </p:txBody>
      </p:sp>
      <p:sp>
        <p:nvSpPr>
          <p:cNvPr id="20" name="ask-card-2"/>
          <p:cNvSpPr/>
          <p:nvPr/>
        </p:nvSpPr>
        <p:spPr>
          <a:xfrm>
            <a:off x="4334256" y="4846320"/>
            <a:ext cx="3520440" cy="1280160"/>
          </a:xfrm>
          <a:prstGeom prst="roundRect">
            <a:avLst>
              <a:gd name="adj" fmla="val 8571"/>
            </a:avLst>
          </a:prstGeom>
          <a:solidFill>
            <a:schemeClr val="accent2"/>
          </a:solidFill>
          <a:ln/>
        </p:spPr>
      </p:sp>
      <p:sp>
        <p:nvSpPr>
          <p:cNvPr id="21" name="Text 18"/>
          <p:cNvSpPr txBox="1"/>
          <p:nvPr/>
        </p:nvSpPr>
        <p:spPr>
          <a:xfrm>
            <a:off x="4608576" y="4846320"/>
            <a:ext cx="3017520" cy="1280160"/>
          </a:xfrm>
          <a:prstGeom prst="rect">
            <a:avLst/>
          </a:prstGeom>
          <a:noFill/>
          <a:ln/>
        </p:spPr>
        <p:txBody>
          <a:bodyPr wrap="square" lIns="0" tIns="0" rIns="0" bIns="0" rtlCol="0" anchor="ctr"/>
          <a:lstStyle/>
          <a:p>
            <a:pPr indent="0" marL="0">
              <a:buNone/>
            </a:pPr>
            <a:r>
              <a:rPr lang="en-US" sz="2000" b="1" dirty="0">
                <a:solidFill>
                  <a:schemeClr val="tx1"/>
                </a:solidFill>
              </a:rPr>
              <a:t>Investors</a:t>
            </a:r>
            <a:endParaRPr lang="en-US" sz="1400" dirty="0"/>
          </a:p>
          <a:p>
            <a:pPr indent="0" marL="0">
              <a:buNone/>
            </a:pPr>
            <a:r>
              <a:rPr lang="en-US" sz="1500" dirty="0">
                <a:solidFill>
                  <a:schemeClr val="tx1"/>
                </a:solidFill>
              </a:rPr>
              <a:t>Fund the scale-up</a:t>
            </a:r>
            <a:endParaRPr lang="en-US" sz="1400" dirty="0"/>
          </a:p>
        </p:txBody>
      </p:sp>
      <p:sp>
        <p:nvSpPr>
          <p:cNvPr id="22" name="ask-card-3"/>
          <p:cNvSpPr/>
          <p:nvPr/>
        </p:nvSpPr>
        <p:spPr>
          <a:xfrm>
            <a:off x="8119872" y="4846320"/>
            <a:ext cx="3520440" cy="1280160"/>
          </a:xfrm>
          <a:prstGeom prst="roundRect">
            <a:avLst>
              <a:gd name="adj" fmla="val 8571"/>
            </a:avLst>
          </a:prstGeom>
          <a:solidFill>
            <a:schemeClr val="accent2"/>
          </a:solidFill>
          <a:ln/>
        </p:spPr>
      </p:sp>
      <p:sp>
        <p:nvSpPr>
          <p:cNvPr id="23" name="Text 20"/>
          <p:cNvSpPr txBox="1"/>
          <p:nvPr/>
        </p:nvSpPr>
        <p:spPr>
          <a:xfrm>
            <a:off x="8394192" y="4846320"/>
            <a:ext cx="3017520" cy="1280160"/>
          </a:xfrm>
          <a:prstGeom prst="rect">
            <a:avLst/>
          </a:prstGeom>
          <a:noFill/>
          <a:ln/>
        </p:spPr>
        <p:txBody>
          <a:bodyPr wrap="square" lIns="0" tIns="0" rIns="0" bIns="0" rtlCol="0" anchor="ctr"/>
          <a:lstStyle/>
          <a:p>
            <a:pPr indent="0" marL="0">
              <a:buNone/>
            </a:pPr>
            <a:r>
              <a:rPr lang="en-US" sz="2000" b="1" dirty="0">
                <a:solidFill>
                  <a:schemeClr val="tx1"/>
                </a:solidFill>
              </a:rPr>
              <a:t>Researchers</a:t>
            </a:r>
            <a:endParaRPr lang="en-US" sz="1400" dirty="0"/>
          </a:p>
          <a:p>
            <a:pPr indent="0" marL="0">
              <a:buNone/>
            </a:pPr>
            <a:r>
              <a:rPr lang="en-US" sz="1500" dirty="0">
                <a:solidFill>
                  <a:schemeClr val="tx1"/>
                </a:solidFill>
              </a:rPr>
              <a:t>Co-validate and extend the benchmark</a:t>
            </a:r>
            <a:endParaRPr lang="en-US" sz="1400" dirty="0"/>
          </a:p>
        </p:txBody>
      </p:sp>
      <p:sp>
        <p:nvSpPr>
          <p:cNvPr id="25" name="Slide Number Placeholder 0"/>
          <p:cNvSpPr>
            <a:spLocks noGrp="1"/>
          </p:cNvSpPr>
          <p:nvPr>
            <p:ph type="sldNum" sz="quarter" idx="4294967295"/>
          </p:nvPr>
        </p:nvSpPr>
        <p:spPr>
          <a:xfrm>
            <a:off x="10972800" y="642823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7E4C7"/>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Crop Advisory">
  <a:themeElements>
    <a:clrScheme name="Crop Advisory">
      <a:dk1>
        <a:srgbClr val="1E293B"/>
      </a:dk1>
      <a:lt1>
        <a:srgbClr val="FFFFFF"/>
      </a:lt1>
      <a:dk2>
        <a:srgbClr val="1B4D3E"/>
      </a:dk2>
      <a:lt2>
        <a:srgbClr val="F8FAF8"/>
      </a:lt2>
      <a:accent1>
        <a:srgbClr val="2D6A4F"/>
      </a:accent1>
      <a:accent2>
        <a:srgbClr val="52B788"/>
      </a:accent2>
      <a:accent3>
        <a:srgbClr val="B7E4C7"/>
      </a:accent3>
      <a:accent4>
        <a:srgbClr val="E9A23B"/>
      </a:accent4>
      <a:accent5>
        <a:srgbClr val="C0392B"/>
      </a:accent5>
      <a:accent6>
        <a:srgbClr val="64748B"/>
      </a:accent6>
      <a:hlink>
        <a:srgbClr val="2D6A4F"/>
      </a:hlink>
      <a:folHlink>
        <a:srgbClr val="64748B"/>
      </a:folHlink>
    </a:clrScheme>
    <a:fontScheme name="Crop Advis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Crop Advisory AI Platform: Executive &amp; Technical Keynote</dc:title>
  <dc:subject>PptxGenJS Presentation</dc:subject>
  <dc:creator>Crop Advisory AI</dc:creator>
  <cp:lastModifiedBy>Crop Advisory AI</cp:lastModifiedBy>
  <cp:revision>1</cp:revision>
  <dcterms:created xsi:type="dcterms:W3CDTF">2026-10-11T06:21:39Z</dcterms:created>
  <dcterms:modified xsi:type="dcterms:W3CDTF">2026-10-11T06:21:39Z</dcterms:modified>
</cp:coreProperties>
</file>